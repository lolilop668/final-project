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introduce themselves. Hook: predict Airbnb prices from listing features. Regression, target log_price.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Mathieu. Frame the problem and the goal: a clean pipeline, honest about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Mathieu. Stress the two-file setup: test has no price, so we can't score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Mathieu. Emphasize anti-leakage. Graders care about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Serghei. Mention it's interactive in the notebook. Distributions: most listings small, ratings near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Serghei. Top-left is the target. Bottom is price by city and room type. Both look like strong predictors.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Serghei. Note the gap: coordinates look weak here but matter to the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Samy. Two linear, two tree-based. Forest averages trees; boosting builds them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Samy. RF best, GB close. Linear/Ridge identical. We chose RF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Samy. Location matters to the tree despite weak correlation. Residuals centered = healthy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Samy. No labels on test, so no metrics. Distributions match, which is the sign we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Serghei. Imbalance, leakage prevention, honesty about no test labels, dated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Mathieu. Share the close, hand 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Ajan Aye and Ajan Naveed.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4"/>
        </a:solidFill>
      </p:bgPr>
    </p:bg>
    <p:spTree>
      <p:nvGrpSpPr>
        <p:cNvPr id="1" name=""/>
        <p:cNvGrpSpPr/>
        <p:nvPr/>
      </p:nvGrpSpPr>
      <p:grpSpPr>
        <a:xfrm>
          <a:off x="0" y="0"/>
          <a:ext cx="0" cy="0"/>
          <a:chOff x="0" y="0"/>
          <a:chExt cx="0" cy="0"/>
        </a:xfrm>
      </p:grpSpPr>
      <p:sp>
        <p:nvSpPr>
          <p:cNvPr id="2" name="Shape 0"/>
          <p:cNvSpPr/>
          <p:nvPr/>
        </p:nvSpPr>
        <p:spPr>
          <a:xfrm>
            <a:off x="9418320" y="-2011680"/>
            <a:ext cx="5486400" cy="5486400"/>
          </a:xfrm>
          <a:prstGeom prst="ellipse">
            <a:avLst/>
          </a:prstGeom>
          <a:solidFill>
            <a:srgbClr val="028090">
              <a:alpha val="45000"/>
            </a:srgbClr>
          </a:solidFill>
          <a:ln/>
        </p:spPr>
      </p:sp>
      <p:sp>
        <p:nvSpPr>
          <p:cNvPr id="3" name="Shape 1"/>
          <p:cNvSpPr/>
          <p:nvPr/>
        </p:nvSpPr>
        <p:spPr>
          <a:xfrm>
            <a:off x="10607040" y="3840480"/>
            <a:ext cx="4206240" cy="4206240"/>
          </a:xfrm>
          <a:prstGeom prst="ellipse">
            <a:avLst/>
          </a:prstGeom>
          <a:solidFill>
            <a:srgbClr val="00A896">
              <a:alpha val="35000"/>
            </a:srgbClr>
          </a:solidFill>
          <a:ln/>
        </p:spPr>
      </p:sp>
      <p:sp>
        <p:nvSpPr>
          <p:cNvPr id="4" name="Text 2"/>
          <p:cNvSpPr/>
          <p:nvPr/>
        </p:nvSpPr>
        <p:spPr>
          <a:xfrm>
            <a:off x="640080" y="640080"/>
            <a:ext cx="10058400" cy="36576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CPE393  ·  DATA SCIENCE WITH PYTHON  ·  KMUTT  ·  SUMMER 2026</a:t>
            </a:r>
            <a:endParaRPr lang="en-US" sz="1200" dirty="0"/>
          </a:p>
        </p:txBody>
      </p:sp>
      <p:sp>
        <p:nvSpPr>
          <p:cNvPr id="5" name="Text 3"/>
          <p:cNvSpPr/>
          <p:nvPr/>
        </p:nvSpPr>
        <p:spPr>
          <a:xfrm>
            <a:off x="640080" y="1737360"/>
            <a:ext cx="10058400" cy="182880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Predicting Airbnb</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Listing Prices</a:t>
            </a:r>
            <a:endParaRPr lang="en-US" sz="5200" dirty="0"/>
          </a:p>
        </p:txBody>
      </p:sp>
      <p:sp>
        <p:nvSpPr>
          <p:cNvPr id="6" name="Text 4"/>
          <p:cNvSpPr/>
          <p:nvPr/>
        </p:nvSpPr>
        <p:spPr>
          <a:xfrm>
            <a:off x="658368" y="3520440"/>
            <a:ext cx="10058400" cy="548640"/>
          </a:xfrm>
          <a:prstGeom prst="rect">
            <a:avLst/>
          </a:prstGeom>
          <a:noFill/>
          <a:ln/>
        </p:spPr>
        <p:txBody>
          <a:bodyPr wrap="square" rtlCol="0" anchor="ctr"/>
          <a:lstStyle/>
          <a:p>
            <a:pPr indent="0" marL="0">
              <a:buNone/>
            </a:pPr>
            <a:r>
              <a:rPr lang="en-US" sz="2400" i="1" dirty="0">
                <a:solidFill>
                  <a:srgbClr val="02C39A"/>
                </a:solidFill>
                <a:latin typeface="Cambria" pitchFamily="34" charset="0"/>
                <a:ea typeface="Cambria" pitchFamily="34" charset="-122"/>
                <a:cs typeface="Cambria" pitchFamily="34" charset="-120"/>
              </a:rPr>
              <a:t>in six major US cities</a:t>
            </a:r>
            <a:endParaRPr lang="en-US" sz="2400" dirty="0"/>
          </a:p>
        </p:txBody>
      </p:sp>
      <p:sp>
        <p:nvSpPr>
          <p:cNvPr id="7" name="Text 5"/>
          <p:cNvSpPr/>
          <p:nvPr/>
        </p:nvSpPr>
        <p:spPr>
          <a:xfrm>
            <a:off x="640080" y="4572000"/>
            <a:ext cx="6400800" cy="11887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Group 15</a:t>
            </a:r>
            <a:endParaRPr lang="en-US" sz="1600" dirty="0"/>
          </a:p>
          <a:p>
            <a:pPr indent="0" marL="0">
              <a:buNone/>
            </a:pPr>
            <a:r>
              <a:rPr lang="en-US" sz="1600" dirty="0">
                <a:solidFill>
                  <a:srgbClr val="CFE9E6"/>
                </a:solidFill>
                <a:latin typeface="Calibri" pitchFamily="34" charset="0"/>
                <a:ea typeface="Calibri" pitchFamily="34" charset="-122"/>
                <a:cs typeface="Calibri" pitchFamily="34" charset="-120"/>
              </a:rPr>
              <a:t>Mathieu  ·  Serghei  ·  Samy</a:t>
            </a:r>
            <a:endParaRPr lang="en-US" sz="1600" dirty="0"/>
          </a:p>
          <a:p>
            <a:pPr indent="0" marL="0">
              <a:buNone/>
            </a:pPr>
            <a:r>
              <a:rPr lang="en-US" sz="1300" dirty="0">
                <a:solidFill>
                  <a:srgbClr val="9FC7C4"/>
                </a:solidFill>
                <a:latin typeface="Calibri" pitchFamily="34" charset="0"/>
                <a:ea typeface="Calibri" pitchFamily="34" charset="-122"/>
                <a:cs typeface="Calibri" pitchFamily="34" charset="-120"/>
              </a:rPr>
              <a:t>Exchange students from EISEA</a:t>
            </a:r>
            <a:endParaRPr lang="en-US" sz="1600" dirty="0"/>
          </a:p>
        </p:txBody>
      </p:sp>
      <p:sp>
        <p:nvSpPr>
          <p:cNvPr id="8" name="Text 6"/>
          <p:cNvSpPr/>
          <p:nvPr/>
        </p:nvSpPr>
        <p:spPr>
          <a:xfrm>
            <a:off x="8778240" y="4892040"/>
            <a:ext cx="2926080" cy="1097280"/>
          </a:xfrm>
          <a:prstGeom prst="rect">
            <a:avLst/>
          </a:prstGeom>
          <a:noFill/>
          <a:ln/>
        </p:spPr>
        <p:txBody>
          <a:bodyPr wrap="square"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Instructors</a:t>
            </a:r>
            <a:endParaRPr lang="en-US" sz="1400" dirty="0"/>
          </a:p>
          <a:p>
            <a:pPr indent="0" marL="0">
              <a:buNone/>
            </a:pPr>
            <a:r>
              <a:rPr lang="en-US" sz="1400" dirty="0">
                <a:solidFill>
                  <a:srgbClr val="CFE9E6"/>
                </a:solidFill>
                <a:latin typeface="Calibri" pitchFamily="34" charset="0"/>
                <a:ea typeface="Calibri" pitchFamily="34" charset="-122"/>
                <a:cs typeface="Calibri" pitchFamily="34" charset="-120"/>
              </a:rPr>
              <a:t>Ajan Aye Hninn Khine</a:t>
            </a:r>
            <a:endParaRPr lang="en-US" sz="1400" dirty="0"/>
          </a:p>
          <a:p>
            <a:pPr indent="0" marL="0">
              <a:buNone/>
            </a:pPr>
            <a:r>
              <a:rPr lang="en-US" sz="1400" dirty="0">
                <a:solidFill>
                  <a:srgbClr val="CFE9E6"/>
                </a:solidFill>
                <a:latin typeface="Calibri" pitchFamily="34" charset="0"/>
                <a:ea typeface="Calibri" pitchFamily="34" charset="-122"/>
                <a:cs typeface="Calibri" pitchFamily="34" charset="-120"/>
              </a:rPr>
              <a:t>Ajan Naveed Sultan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What should a listing cost per night?</a:t>
            </a:r>
            <a:endParaRPr lang="en-US" sz="3000" dirty="0"/>
          </a:p>
        </p:txBody>
      </p:sp>
      <p:sp>
        <p:nvSpPr>
          <p:cNvPr id="4" name="Text 2"/>
          <p:cNvSpPr/>
          <p:nvPr/>
        </p:nvSpPr>
        <p:spPr>
          <a:xfrm>
            <a:off x="548640" y="1691640"/>
            <a:ext cx="5943600" cy="2194560"/>
          </a:xfrm>
          <a:prstGeom prst="rect">
            <a:avLst/>
          </a:prstGeom>
          <a:noFill/>
          <a:ln/>
        </p:spPr>
        <p:txBody>
          <a:bodyPr wrap="square" rtlCol="0" anchor="t"/>
          <a:lstStyle/>
          <a:p>
            <a:pPr indent="0" marL="0">
              <a:spcAft>
                <a:spcPts val="1000"/>
              </a:spcAft>
              <a:buNone/>
            </a:pPr>
            <a:r>
              <a:rPr lang="en-US" sz="1600" dirty="0">
                <a:solidFill>
                  <a:srgbClr val="1C2B30"/>
                </a:solidFill>
                <a:latin typeface="Calibri" pitchFamily="34" charset="0"/>
                <a:ea typeface="Calibri" pitchFamily="34" charset="-122"/>
                <a:cs typeface="Calibri" pitchFamily="34" charset="-120"/>
              </a:rPr>
              <a:t>Hosts want a price that fills the calendar without losing income. Guests want to know if a listing is fair. Airbnb's own tool is a black box.</a:t>
            </a:r>
            <a:endParaRPr lang="en-US" sz="1600" dirty="0"/>
          </a:p>
          <a:p>
            <a:pPr indent="0" marL="0">
              <a:buNone/>
            </a:pPr>
            <a:r>
              <a:rPr lang="en-US" sz="1600" dirty="0">
                <a:solidFill>
                  <a:srgbClr val="1C2B30"/>
                </a:solidFill>
                <a:latin typeface="Calibri" pitchFamily="34" charset="0"/>
                <a:ea typeface="Calibri" pitchFamily="34" charset="-122"/>
                <a:cs typeface="Calibri" pitchFamily="34" charset="-120"/>
              </a:rPr>
              <a:t>We ask a simpler question: using only public listing features, how well can standard models predict the price?</a:t>
            </a:r>
            <a:endParaRPr lang="en-US" sz="1600" dirty="0"/>
          </a:p>
        </p:txBody>
      </p:sp>
      <p:sp>
        <p:nvSpPr>
          <p:cNvPr id="5" name="Shape 3"/>
          <p:cNvSpPr/>
          <p:nvPr/>
        </p:nvSpPr>
        <p:spPr>
          <a:xfrm>
            <a:off x="6949440" y="1737360"/>
            <a:ext cx="4663440" cy="1051560"/>
          </a:xfrm>
          <a:prstGeom prst="roundRect">
            <a:avLst>
              <a:gd name="adj" fmla="val 6957"/>
            </a:avLst>
          </a:prstGeom>
          <a:solidFill>
            <a:srgbClr val="F0F7F8"/>
          </a:solidFill>
          <a:ln/>
          <a:effectLst>
            <a:outerShdw sx="100000" sy="100000" kx="0" ky="0" algn="bl" rotWithShape="0" blurRad="88900" dist="38100" dir="5400000">
              <a:srgbClr val="000000">
                <a:alpha val="12000"/>
              </a:srgbClr>
            </a:outerShdw>
          </a:effectLst>
        </p:spPr>
      </p:sp>
      <p:sp>
        <p:nvSpPr>
          <p:cNvPr id="6" name="Shape 4"/>
          <p:cNvSpPr/>
          <p:nvPr/>
        </p:nvSpPr>
        <p:spPr>
          <a:xfrm>
            <a:off x="7178040" y="2039112"/>
            <a:ext cx="457200" cy="457200"/>
          </a:xfrm>
          <a:prstGeom prst="ellipse">
            <a:avLst/>
          </a:prstGeom>
          <a:solidFill>
            <a:srgbClr val="02C39A"/>
          </a:solidFill>
          <a:ln/>
        </p:spPr>
      </p:sp>
      <p:sp>
        <p:nvSpPr>
          <p:cNvPr id="7" name="Text 5"/>
          <p:cNvSpPr/>
          <p:nvPr/>
        </p:nvSpPr>
        <p:spPr>
          <a:xfrm>
            <a:off x="7818120" y="1901952"/>
            <a:ext cx="3566160" cy="32004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Task</a:t>
            </a:r>
            <a:endParaRPr lang="en-US" sz="1500" dirty="0"/>
          </a:p>
        </p:txBody>
      </p:sp>
      <p:sp>
        <p:nvSpPr>
          <p:cNvPr id="8" name="Text 6"/>
          <p:cNvSpPr/>
          <p:nvPr/>
        </p:nvSpPr>
        <p:spPr>
          <a:xfrm>
            <a:off x="7818120" y="2240280"/>
            <a:ext cx="3611880" cy="457200"/>
          </a:xfrm>
          <a:prstGeom prst="rect">
            <a:avLst/>
          </a:prstGeom>
          <a:noFill/>
          <a:ln/>
        </p:spPr>
        <p:txBody>
          <a:bodyPr wrap="square" rtlCol="0" anchor="ctr"/>
          <a:lstStyle/>
          <a:p>
            <a:pPr indent="0" marL="0">
              <a:buNone/>
            </a:pPr>
            <a:r>
              <a:rPr lang="en-US" sz="1250" dirty="0">
                <a:solidFill>
                  <a:srgbClr val="5B7178"/>
                </a:solidFill>
                <a:latin typeface="Calibri" pitchFamily="34" charset="0"/>
                <a:ea typeface="Calibri" pitchFamily="34" charset="-122"/>
                <a:cs typeface="Calibri" pitchFamily="34" charset="-120"/>
              </a:rPr>
              <a:t>Supervised regression</a:t>
            </a:r>
            <a:endParaRPr lang="en-US" sz="1250" dirty="0"/>
          </a:p>
        </p:txBody>
      </p:sp>
      <p:sp>
        <p:nvSpPr>
          <p:cNvPr id="9" name="Shape 7"/>
          <p:cNvSpPr/>
          <p:nvPr/>
        </p:nvSpPr>
        <p:spPr>
          <a:xfrm>
            <a:off x="6949440" y="2971800"/>
            <a:ext cx="4663440" cy="1051560"/>
          </a:xfrm>
          <a:prstGeom prst="roundRect">
            <a:avLst>
              <a:gd name="adj" fmla="val 6957"/>
            </a:avLst>
          </a:prstGeom>
          <a:solidFill>
            <a:srgbClr val="F0F7F8"/>
          </a:solidFill>
          <a:ln/>
          <a:effectLst>
            <a:outerShdw sx="100000" sy="100000" kx="0" ky="0" algn="bl" rotWithShape="0" blurRad="88900" dist="38100" dir="5400000">
              <a:srgbClr val="000000">
                <a:alpha val="12000"/>
              </a:srgbClr>
            </a:outerShdw>
          </a:effectLst>
        </p:spPr>
      </p:sp>
      <p:sp>
        <p:nvSpPr>
          <p:cNvPr id="10" name="Shape 8"/>
          <p:cNvSpPr/>
          <p:nvPr/>
        </p:nvSpPr>
        <p:spPr>
          <a:xfrm>
            <a:off x="7178040" y="3273552"/>
            <a:ext cx="457200" cy="457200"/>
          </a:xfrm>
          <a:prstGeom prst="ellipse">
            <a:avLst/>
          </a:prstGeom>
          <a:solidFill>
            <a:srgbClr val="00A896"/>
          </a:solidFill>
          <a:ln/>
        </p:spPr>
      </p:sp>
      <p:sp>
        <p:nvSpPr>
          <p:cNvPr id="11" name="Text 9"/>
          <p:cNvSpPr/>
          <p:nvPr/>
        </p:nvSpPr>
        <p:spPr>
          <a:xfrm>
            <a:off x="7818120" y="3136392"/>
            <a:ext cx="3566160" cy="32004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Target</a:t>
            </a:r>
            <a:endParaRPr lang="en-US" sz="1500" dirty="0"/>
          </a:p>
        </p:txBody>
      </p:sp>
      <p:sp>
        <p:nvSpPr>
          <p:cNvPr id="12" name="Text 10"/>
          <p:cNvSpPr/>
          <p:nvPr/>
        </p:nvSpPr>
        <p:spPr>
          <a:xfrm>
            <a:off x="7818120" y="3474720"/>
            <a:ext cx="3611880" cy="457200"/>
          </a:xfrm>
          <a:prstGeom prst="rect">
            <a:avLst/>
          </a:prstGeom>
          <a:noFill/>
          <a:ln/>
        </p:spPr>
        <p:txBody>
          <a:bodyPr wrap="square" rtlCol="0" anchor="ctr"/>
          <a:lstStyle/>
          <a:p>
            <a:pPr indent="0" marL="0">
              <a:buNone/>
            </a:pPr>
            <a:r>
              <a:rPr lang="en-US" sz="1250" dirty="0">
                <a:solidFill>
                  <a:srgbClr val="5B7178"/>
                </a:solidFill>
                <a:latin typeface="Calibri" pitchFamily="34" charset="0"/>
                <a:ea typeface="Calibri" pitchFamily="34" charset="-122"/>
                <a:cs typeface="Calibri" pitchFamily="34" charset="-120"/>
              </a:rPr>
              <a:t>log_price (log of the nightly price)</a:t>
            </a:r>
            <a:endParaRPr lang="en-US" sz="1250" dirty="0"/>
          </a:p>
        </p:txBody>
      </p:sp>
      <p:sp>
        <p:nvSpPr>
          <p:cNvPr id="13" name="Shape 11"/>
          <p:cNvSpPr/>
          <p:nvPr/>
        </p:nvSpPr>
        <p:spPr>
          <a:xfrm>
            <a:off x="6949440" y="4206240"/>
            <a:ext cx="4663440" cy="1051560"/>
          </a:xfrm>
          <a:prstGeom prst="roundRect">
            <a:avLst>
              <a:gd name="adj" fmla="val 6957"/>
            </a:avLst>
          </a:prstGeom>
          <a:solidFill>
            <a:srgbClr val="F0F7F8"/>
          </a:solidFill>
          <a:ln/>
          <a:effectLst>
            <a:outerShdw sx="100000" sy="100000" kx="0" ky="0" algn="bl" rotWithShape="0" blurRad="88900" dist="38100" dir="5400000">
              <a:srgbClr val="000000">
                <a:alpha val="12000"/>
              </a:srgbClr>
            </a:outerShdw>
          </a:effectLst>
        </p:spPr>
      </p:sp>
      <p:sp>
        <p:nvSpPr>
          <p:cNvPr id="14" name="Shape 12"/>
          <p:cNvSpPr/>
          <p:nvPr/>
        </p:nvSpPr>
        <p:spPr>
          <a:xfrm>
            <a:off x="7178040" y="4507992"/>
            <a:ext cx="457200" cy="457200"/>
          </a:xfrm>
          <a:prstGeom prst="ellipse">
            <a:avLst/>
          </a:prstGeom>
          <a:solidFill>
            <a:srgbClr val="028090"/>
          </a:solidFill>
          <a:ln/>
        </p:spPr>
      </p:sp>
      <p:sp>
        <p:nvSpPr>
          <p:cNvPr id="15" name="Text 13"/>
          <p:cNvSpPr/>
          <p:nvPr/>
        </p:nvSpPr>
        <p:spPr>
          <a:xfrm>
            <a:off x="7818120" y="4370832"/>
            <a:ext cx="3566160" cy="32004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Why log?</a:t>
            </a:r>
            <a:endParaRPr lang="en-US" sz="1500" dirty="0"/>
          </a:p>
        </p:txBody>
      </p:sp>
      <p:sp>
        <p:nvSpPr>
          <p:cNvPr id="16" name="Text 14"/>
          <p:cNvSpPr/>
          <p:nvPr/>
        </p:nvSpPr>
        <p:spPr>
          <a:xfrm>
            <a:off x="7818120" y="4709160"/>
            <a:ext cx="3611880" cy="457200"/>
          </a:xfrm>
          <a:prstGeom prst="rect">
            <a:avLst/>
          </a:prstGeom>
          <a:noFill/>
          <a:ln/>
        </p:spPr>
        <p:txBody>
          <a:bodyPr wrap="square" rtlCol="0" anchor="ctr"/>
          <a:lstStyle/>
          <a:p>
            <a:pPr indent="0" marL="0">
              <a:buNone/>
            </a:pPr>
            <a:r>
              <a:rPr lang="en-US" sz="1250" dirty="0">
                <a:solidFill>
                  <a:srgbClr val="5B7178"/>
                </a:solidFill>
                <a:latin typeface="Calibri" pitchFamily="34" charset="0"/>
                <a:ea typeface="Calibri" pitchFamily="34" charset="-122"/>
                <a:cs typeface="Calibri" pitchFamily="34" charset="-120"/>
              </a:rPr>
              <a:t>Raw prices are skewed; the log is close to symmetric</a:t>
            </a:r>
            <a:endParaRPr lang="en-US" sz="1250" dirty="0"/>
          </a:p>
        </p:txBody>
      </p:sp>
      <p:sp>
        <p:nvSpPr>
          <p:cNvPr id="17" name="Text 15"/>
          <p:cNvSpPr/>
          <p:nvPr/>
        </p:nvSpPr>
        <p:spPr>
          <a:xfrm>
            <a:off x="548640" y="5120640"/>
            <a:ext cx="10972800" cy="365760"/>
          </a:xfrm>
          <a:prstGeom prst="rect">
            <a:avLst/>
          </a:prstGeom>
          <a:noFill/>
          <a:ln/>
        </p:spPr>
        <p:txBody>
          <a:bodyPr wrap="square" rtlCol="0" anchor="ctr"/>
          <a:lstStyle/>
          <a:p>
            <a:pPr indent="0" marL="0">
              <a:buNone/>
            </a:pPr>
            <a:r>
              <a:rPr lang="en-US" sz="1300" i="1" dirty="0">
                <a:solidFill>
                  <a:srgbClr val="5B7178"/>
                </a:solidFill>
                <a:latin typeface="Calibri" pitchFamily="34" charset="0"/>
                <a:ea typeface="Calibri" pitchFamily="34" charset="-122"/>
                <a:cs typeface="Calibri" pitchFamily="34" charset="-120"/>
              </a:rPr>
              <a:t>Prices are from 2017-2018, so this is a study, not a live pricing tool.</a:t>
            </a:r>
            <a:endParaRPr lang="en-US" sz="1300" dirty="0"/>
          </a:p>
        </p:txBody>
      </p:sp>
      <p:sp>
        <p:nvSpPr>
          <p:cNvPr id="18" name="Text 16"/>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19" name="Text 17"/>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Two files, six cities</a:t>
            </a:r>
            <a:endParaRPr lang="en-US" sz="3000" dirty="0"/>
          </a:p>
        </p:txBody>
      </p:sp>
      <p:sp>
        <p:nvSpPr>
          <p:cNvPr id="4" name="Shape 2"/>
          <p:cNvSpPr/>
          <p:nvPr/>
        </p:nvSpPr>
        <p:spPr>
          <a:xfrm>
            <a:off x="548640" y="1691640"/>
            <a:ext cx="5394960" cy="1554480"/>
          </a:xfrm>
          <a:prstGeom prst="roundRect">
            <a:avLst>
              <a:gd name="adj" fmla="val 4706"/>
            </a:avLst>
          </a:prstGeom>
          <a:solidFill>
            <a:srgbClr val="F0F7F8"/>
          </a:solidFill>
          <a:ln/>
          <a:effectLst>
            <a:outerShdw sx="100000" sy="100000" kx="0" ky="0" algn="bl" rotWithShape="0" blurRad="88900" dist="38100" dir="5400000">
              <a:srgbClr val="000000">
                <a:alpha val="12000"/>
              </a:srgbClr>
            </a:outerShdw>
          </a:effectLst>
        </p:spPr>
      </p:sp>
      <p:sp>
        <p:nvSpPr>
          <p:cNvPr id="5" name="Text 3"/>
          <p:cNvSpPr/>
          <p:nvPr/>
        </p:nvSpPr>
        <p:spPr>
          <a:xfrm>
            <a:off x="822960" y="1828800"/>
            <a:ext cx="4846320" cy="365760"/>
          </a:xfrm>
          <a:prstGeom prst="rect">
            <a:avLst/>
          </a:prstGeom>
          <a:noFill/>
          <a:ln/>
        </p:spPr>
        <p:txBody>
          <a:bodyPr wrap="square" rtlCol="0" anchor="ctr"/>
          <a:lstStyle/>
          <a:p>
            <a:pPr indent="0" marL="0">
              <a:buNone/>
            </a:pPr>
            <a:r>
              <a:rPr lang="en-US" sz="1800" b="1" dirty="0">
                <a:solidFill>
                  <a:srgbClr val="028090"/>
                </a:solidFill>
                <a:latin typeface="Cambria" pitchFamily="34" charset="0"/>
                <a:ea typeface="Cambria" pitchFamily="34" charset="-122"/>
                <a:cs typeface="Cambria" pitchFamily="34" charset="-120"/>
              </a:rPr>
              <a:t>train.csv</a:t>
            </a:r>
            <a:endParaRPr lang="en-US" sz="1800" dirty="0"/>
          </a:p>
        </p:txBody>
      </p:sp>
      <p:sp>
        <p:nvSpPr>
          <p:cNvPr id="6" name="Text 4"/>
          <p:cNvSpPr/>
          <p:nvPr/>
        </p:nvSpPr>
        <p:spPr>
          <a:xfrm>
            <a:off x="822960" y="2240280"/>
            <a:ext cx="4846320" cy="320040"/>
          </a:xfrm>
          <a:prstGeom prst="rect">
            <a:avLst/>
          </a:prstGeom>
          <a:noFill/>
          <a:ln/>
        </p:spPr>
        <p:txBody>
          <a:bodyPr wrap="square" rtlCol="0" anchor="ctr"/>
          <a:lstStyle/>
          <a:p>
            <a:pPr indent="0" marL="0">
              <a:buNone/>
            </a:pPr>
            <a:r>
              <a:rPr lang="en-US" sz="1300" b="1" dirty="0">
                <a:solidFill>
                  <a:srgbClr val="1C2B30"/>
                </a:solidFill>
                <a:latin typeface="Calibri" pitchFamily="34" charset="0"/>
                <a:ea typeface="Calibri" pitchFamily="34" charset="-122"/>
                <a:cs typeface="Calibri" pitchFamily="34" charset="-120"/>
              </a:rPr>
              <a:t>74,111 rows · has the price</a:t>
            </a:r>
            <a:endParaRPr lang="en-US" sz="1300" dirty="0"/>
          </a:p>
        </p:txBody>
      </p:sp>
      <p:sp>
        <p:nvSpPr>
          <p:cNvPr id="7" name="Text 5"/>
          <p:cNvSpPr/>
          <p:nvPr/>
        </p:nvSpPr>
        <p:spPr>
          <a:xfrm>
            <a:off x="822960" y="2560320"/>
            <a:ext cx="4937760" cy="548640"/>
          </a:xfrm>
          <a:prstGeom prst="rect">
            <a:avLst/>
          </a:prstGeom>
          <a:noFill/>
          <a:ln/>
        </p:spPr>
        <p:txBody>
          <a:bodyPr wrap="square" rtlCol="0" anchor="ctr"/>
          <a:lstStyle/>
          <a:p>
            <a:pPr indent="0" marL="0">
              <a:buNone/>
            </a:pPr>
            <a:r>
              <a:rPr lang="en-US" sz="1250" dirty="0">
                <a:solidFill>
                  <a:srgbClr val="5B7178"/>
                </a:solidFill>
                <a:latin typeface="Calibri" pitchFamily="34" charset="0"/>
                <a:ea typeface="Calibri" pitchFamily="34" charset="-122"/>
                <a:cs typeface="Calibri" pitchFamily="34" charset="-120"/>
              </a:rPr>
              <a:t>Used for exploration, cleaning, training, and validation.</a:t>
            </a:r>
            <a:endParaRPr lang="en-US" sz="1250" dirty="0"/>
          </a:p>
        </p:txBody>
      </p:sp>
      <p:sp>
        <p:nvSpPr>
          <p:cNvPr id="8" name="Shape 6"/>
          <p:cNvSpPr/>
          <p:nvPr/>
        </p:nvSpPr>
        <p:spPr>
          <a:xfrm>
            <a:off x="6172200" y="1691640"/>
            <a:ext cx="5394960" cy="1554480"/>
          </a:xfrm>
          <a:prstGeom prst="roundRect">
            <a:avLst>
              <a:gd name="adj" fmla="val 4706"/>
            </a:avLst>
          </a:prstGeom>
          <a:solidFill>
            <a:srgbClr val="F0F7F8"/>
          </a:solidFill>
          <a:ln/>
          <a:effectLst>
            <a:outerShdw sx="100000" sy="100000" kx="0" ky="0" algn="bl" rotWithShape="0" blurRad="88900" dist="38100" dir="5400000">
              <a:srgbClr val="000000">
                <a:alpha val="12000"/>
              </a:srgbClr>
            </a:outerShdw>
          </a:effectLst>
        </p:spPr>
      </p:sp>
      <p:sp>
        <p:nvSpPr>
          <p:cNvPr id="9" name="Text 7"/>
          <p:cNvSpPr/>
          <p:nvPr/>
        </p:nvSpPr>
        <p:spPr>
          <a:xfrm>
            <a:off x="6446520" y="1828800"/>
            <a:ext cx="4846320" cy="365760"/>
          </a:xfrm>
          <a:prstGeom prst="rect">
            <a:avLst/>
          </a:prstGeom>
          <a:noFill/>
          <a:ln/>
        </p:spPr>
        <p:txBody>
          <a:bodyPr wrap="square" rtlCol="0" anchor="ctr"/>
          <a:lstStyle/>
          <a:p>
            <a:pPr indent="0" marL="0">
              <a:buNone/>
            </a:pPr>
            <a:r>
              <a:rPr lang="en-US" sz="1800" b="1" dirty="0">
                <a:solidFill>
                  <a:srgbClr val="0B3B44"/>
                </a:solidFill>
                <a:latin typeface="Cambria" pitchFamily="34" charset="0"/>
                <a:ea typeface="Cambria" pitchFamily="34" charset="-122"/>
                <a:cs typeface="Cambria" pitchFamily="34" charset="-120"/>
              </a:rPr>
              <a:t>test.csv</a:t>
            </a:r>
            <a:endParaRPr lang="en-US" sz="1800" dirty="0"/>
          </a:p>
        </p:txBody>
      </p:sp>
      <p:sp>
        <p:nvSpPr>
          <p:cNvPr id="10" name="Text 8"/>
          <p:cNvSpPr/>
          <p:nvPr/>
        </p:nvSpPr>
        <p:spPr>
          <a:xfrm>
            <a:off x="6446520" y="2240280"/>
            <a:ext cx="4846320" cy="320040"/>
          </a:xfrm>
          <a:prstGeom prst="rect">
            <a:avLst/>
          </a:prstGeom>
          <a:noFill/>
          <a:ln/>
        </p:spPr>
        <p:txBody>
          <a:bodyPr wrap="square" rtlCol="0" anchor="ctr"/>
          <a:lstStyle/>
          <a:p>
            <a:pPr indent="0" marL="0">
              <a:buNone/>
            </a:pPr>
            <a:r>
              <a:rPr lang="en-US" sz="1300" b="1" dirty="0">
                <a:solidFill>
                  <a:srgbClr val="1C2B30"/>
                </a:solidFill>
                <a:latin typeface="Calibri" pitchFamily="34" charset="0"/>
                <a:ea typeface="Calibri" pitchFamily="34" charset="-122"/>
                <a:cs typeface="Calibri" pitchFamily="34" charset="-120"/>
              </a:rPr>
              <a:t>25,458 rows · no price</a:t>
            </a:r>
            <a:endParaRPr lang="en-US" sz="1300" dirty="0"/>
          </a:p>
        </p:txBody>
      </p:sp>
      <p:sp>
        <p:nvSpPr>
          <p:cNvPr id="11" name="Text 9"/>
          <p:cNvSpPr/>
          <p:nvPr/>
        </p:nvSpPr>
        <p:spPr>
          <a:xfrm>
            <a:off x="6446520" y="2560320"/>
            <a:ext cx="4937760" cy="548640"/>
          </a:xfrm>
          <a:prstGeom prst="rect">
            <a:avLst/>
          </a:prstGeom>
          <a:noFill/>
          <a:ln/>
        </p:spPr>
        <p:txBody>
          <a:bodyPr wrap="square" rtlCol="0" anchor="ctr"/>
          <a:lstStyle/>
          <a:p>
            <a:pPr indent="0" marL="0">
              <a:buNone/>
            </a:pPr>
            <a:r>
              <a:rPr lang="en-US" sz="1250" dirty="0">
                <a:solidFill>
                  <a:srgbClr val="5B7178"/>
                </a:solidFill>
                <a:latin typeface="Calibri" pitchFamily="34" charset="0"/>
                <a:ea typeface="Calibri" pitchFamily="34" charset="-122"/>
                <a:cs typeface="Calibri" pitchFamily="34" charset="-120"/>
              </a:rPr>
              <a:t>Used only to generate predictions for unseen listings.</a:t>
            </a:r>
            <a:endParaRPr lang="en-US" sz="1250" dirty="0"/>
          </a:p>
        </p:txBody>
      </p:sp>
      <p:sp>
        <p:nvSpPr>
          <p:cNvPr id="12" name="Text 10"/>
          <p:cNvSpPr/>
          <p:nvPr/>
        </p:nvSpPr>
        <p:spPr>
          <a:xfrm>
            <a:off x="548640" y="3429000"/>
            <a:ext cx="5486400" cy="32004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Listings per city (train.csv)</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4754880" cy="914400"/>
        </p:xfrm>
        <a:graphic>
          <a:graphicData uri="http://schemas.openxmlformats.org/drawingml/2006/table">
            <a:tbl>
              <a:tblPr/>
              <a:tblGrid>
                <a:gridCol w="3108960"/>
                <a:gridCol w="1645920"/>
              </a:tblGrid>
              <a:tr h="2743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City</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028090"/>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Listings</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028090"/>
                    </a:solidFill>
                  </a:tcPr>
                </a:tc>
              </a:tr>
              <a:tr h="274320">
                <a:tc>
                  <a:txBody>
                    <a:bodyPr/>
                    <a:lstStyle/>
                    <a:p>
                      <a:pPr indent="0" marL="0">
                        <a:buNone/>
                      </a:pPr>
                      <a:r>
                        <a:rPr lang="en-US" sz="1200" dirty="0">
                          <a:solidFill>
                            <a:srgbClr val="1C2B30"/>
                          </a:solidFill>
                          <a:latin typeface="Calibri" pitchFamily="34" charset="0"/>
                          <a:ea typeface="Calibri" pitchFamily="34" charset="-122"/>
                          <a:cs typeface="Calibri" pitchFamily="34" charset="-120"/>
                        </a:rPr>
                        <a:t>New York City</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r" indent="0" marL="0">
                        <a:buNone/>
                      </a:pPr>
                      <a:r>
                        <a:rPr lang="en-US" sz="1200" dirty="0">
                          <a:solidFill>
                            <a:srgbClr val="1C2B30"/>
                          </a:solidFill>
                          <a:latin typeface="Calibri" pitchFamily="34" charset="0"/>
                          <a:ea typeface="Calibri" pitchFamily="34" charset="-122"/>
                          <a:cs typeface="Calibri" pitchFamily="34" charset="-120"/>
                        </a:rPr>
                        <a:t>32,349</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r>
              <a:tr h="274320">
                <a:tc>
                  <a:txBody>
                    <a:bodyPr/>
                    <a:lstStyle/>
                    <a:p>
                      <a:pPr indent="0" marL="0">
                        <a:buNone/>
                      </a:pPr>
                      <a:r>
                        <a:rPr lang="en-US" sz="1200" dirty="0">
                          <a:solidFill>
                            <a:srgbClr val="1C2B30"/>
                          </a:solidFill>
                          <a:latin typeface="Calibri" pitchFamily="34" charset="0"/>
                          <a:ea typeface="Calibri" pitchFamily="34" charset="-122"/>
                          <a:cs typeface="Calibri" pitchFamily="34" charset="-120"/>
                        </a:rPr>
                        <a:t>Los Angeles</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r" indent="0" marL="0">
                        <a:buNone/>
                      </a:pPr>
                      <a:r>
                        <a:rPr lang="en-US" sz="1200" dirty="0">
                          <a:solidFill>
                            <a:srgbClr val="1C2B30"/>
                          </a:solidFill>
                          <a:latin typeface="Calibri" pitchFamily="34" charset="0"/>
                          <a:ea typeface="Calibri" pitchFamily="34" charset="-122"/>
                          <a:cs typeface="Calibri" pitchFamily="34" charset="-120"/>
                        </a:rPr>
                        <a:t>22,453</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r>
              <a:tr h="274320">
                <a:tc>
                  <a:txBody>
                    <a:bodyPr/>
                    <a:lstStyle/>
                    <a:p>
                      <a:pPr indent="0" marL="0">
                        <a:buNone/>
                      </a:pPr>
                      <a:r>
                        <a:rPr lang="en-US" sz="1200" dirty="0">
                          <a:solidFill>
                            <a:srgbClr val="1C2B30"/>
                          </a:solidFill>
                          <a:latin typeface="Calibri" pitchFamily="34" charset="0"/>
                          <a:ea typeface="Calibri" pitchFamily="34" charset="-122"/>
                          <a:cs typeface="Calibri" pitchFamily="34" charset="-120"/>
                        </a:rPr>
                        <a:t>San Francisco</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r" indent="0" marL="0">
                        <a:buNone/>
                      </a:pPr>
                      <a:r>
                        <a:rPr lang="en-US" sz="1200" dirty="0">
                          <a:solidFill>
                            <a:srgbClr val="1C2B30"/>
                          </a:solidFill>
                          <a:latin typeface="Calibri" pitchFamily="34" charset="0"/>
                          <a:ea typeface="Calibri" pitchFamily="34" charset="-122"/>
                          <a:cs typeface="Calibri" pitchFamily="34" charset="-120"/>
                        </a:rPr>
                        <a:t>6,434</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r>
              <a:tr h="274320">
                <a:tc>
                  <a:txBody>
                    <a:bodyPr/>
                    <a:lstStyle/>
                    <a:p>
                      <a:pPr indent="0" marL="0">
                        <a:buNone/>
                      </a:pPr>
                      <a:r>
                        <a:rPr lang="en-US" sz="1200" dirty="0">
                          <a:solidFill>
                            <a:srgbClr val="1C2B30"/>
                          </a:solidFill>
                          <a:latin typeface="Calibri" pitchFamily="34" charset="0"/>
                          <a:ea typeface="Calibri" pitchFamily="34" charset="-122"/>
                          <a:cs typeface="Calibri" pitchFamily="34" charset="-120"/>
                        </a:rPr>
                        <a:t>Washington DC</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r" indent="0" marL="0">
                        <a:buNone/>
                      </a:pPr>
                      <a:r>
                        <a:rPr lang="en-US" sz="1200" dirty="0">
                          <a:solidFill>
                            <a:srgbClr val="1C2B30"/>
                          </a:solidFill>
                          <a:latin typeface="Calibri" pitchFamily="34" charset="0"/>
                          <a:ea typeface="Calibri" pitchFamily="34" charset="-122"/>
                          <a:cs typeface="Calibri" pitchFamily="34" charset="-120"/>
                        </a:rPr>
                        <a:t>5,688</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r>
              <a:tr h="274320">
                <a:tc>
                  <a:txBody>
                    <a:bodyPr/>
                    <a:lstStyle/>
                    <a:p>
                      <a:pPr indent="0" marL="0">
                        <a:buNone/>
                      </a:pPr>
                      <a:r>
                        <a:rPr lang="en-US" sz="1200" dirty="0">
                          <a:solidFill>
                            <a:srgbClr val="1C2B30"/>
                          </a:solidFill>
                          <a:latin typeface="Calibri" pitchFamily="34" charset="0"/>
                          <a:ea typeface="Calibri" pitchFamily="34" charset="-122"/>
                          <a:cs typeface="Calibri" pitchFamily="34" charset="-120"/>
                        </a:rPr>
                        <a:t>Chicago</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r" indent="0" marL="0">
                        <a:buNone/>
                      </a:pPr>
                      <a:r>
                        <a:rPr lang="en-US" sz="1200" dirty="0">
                          <a:solidFill>
                            <a:srgbClr val="1C2B30"/>
                          </a:solidFill>
                          <a:latin typeface="Calibri" pitchFamily="34" charset="0"/>
                          <a:ea typeface="Calibri" pitchFamily="34" charset="-122"/>
                          <a:cs typeface="Calibri" pitchFamily="34" charset="-120"/>
                        </a:rPr>
                        <a:t>3,719</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r>
              <a:tr h="274320">
                <a:tc>
                  <a:txBody>
                    <a:bodyPr/>
                    <a:lstStyle/>
                    <a:p>
                      <a:pPr indent="0" marL="0">
                        <a:buNone/>
                      </a:pPr>
                      <a:r>
                        <a:rPr lang="en-US" sz="1200" dirty="0">
                          <a:solidFill>
                            <a:srgbClr val="1C2B30"/>
                          </a:solidFill>
                          <a:latin typeface="Calibri" pitchFamily="34" charset="0"/>
                          <a:ea typeface="Calibri" pitchFamily="34" charset="-122"/>
                          <a:cs typeface="Calibri" pitchFamily="34" charset="-120"/>
                        </a:rPr>
                        <a:t>Boston</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r" indent="0" marL="0">
                        <a:buNone/>
                      </a:pPr>
                      <a:r>
                        <a:rPr lang="en-US" sz="1200" dirty="0">
                          <a:solidFill>
                            <a:srgbClr val="1C2B30"/>
                          </a:solidFill>
                          <a:latin typeface="Calibri" pitchFamily="34" charset="0"/>
                          <a:ea typeface="Calibri" pitchFamily="34" charset="-122"/>
                          <a:cs typeface="Calibri" pitchFamily="34" charset="-120"/>
                        </a:rPr>
                        <a:t>3,468</a:t>
                      </a:r>
                      <a:endParaRPr lang="en-US" sz="120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r>
            </a:tbl>
          </a:graphicData>
        </a:graphic>
      </p:graphicFrame>
      <p:sp>
        <p:nvSpPr>
          <p:cNvPr id="14" name="Shape 11"/>
          <p:cNvSpPr/>
          <p:nvPr/>
        </p:nvSpPr>
        <p:spPr>
          <a:xfrm>
            <a:off x="5852160" y="3794760"/>
            <a:ext cx="5760720" cy="2331720"/>
          </a:xfrm>
          <a:prstGeom prst="roundRect">
            <a:avLst>
              <a:gd name="adj" fmla="val 3137"/>
            </a:avLst>
          </a:prstGeom>
          <a:solidFill>
            <a:srgbClr val="F0F7F8"/>
          </a:solidFill>
          <a:ln/>
          <a:effectLst>
            <a:outerShdw sx="100000" sy="100000" kx="0" ky="0" algn="bl" rotWithShape="0" blurRad="88900" dist="38100" dir="5400000">
              <a:srgbClr val="000000">
                <a:alpha val="12000"/>
              </a:srgbClr>
            </a:outerShdw>
          </a:effectLst>
        </p:spPr>
      </p:sp>
      <p:sp>
        <p:nvSpPr>
          <p:cNvPr id="15" name="Text 12"/>
          <p:cNvSpPr/>
          <p:nvPr/>
        </p:nvSpPr>
        <p:spPr>
          <a:xfrm>
            <a:off x="6126480" y="3931920"/>
            <a:ext cx="5212080" cy="320040"/>
          </a:xfrm>
          <a:prstGeom prst="rect">
            <a:avLst/>
          </a:prstGeom>
          <a:noFill/>
          <a:ln/>
        </p:spPr>
        <p:txBody>
          <a:bodyPr wrap="square" rtlCol="0" anchor="ctr"/>
          <a:lstStyle/>
          <a:p>
            <a:pPr indent="0" marL="0">
              <a:buNone/>
            </a:pPr>
            <a:r>
              <a:rPr lang="en-US" sz="1400" b="1" dirty="0">
                <a:solidFill>
                  <a:srgbClr val="0B3B44"/>
                </a:solidFill>
                <a:latin typeface="Calibri" pitchFamily="34" charset="0"/>
                <a:ea typeface="Calibri" pitchFamily="34" charset="-122"/>
                <a:cs typeface="Calibri" pitchFamily="34" charset="-120"/>
              </a:rPr>
              <a:t>What's inside</a:t>
            </a:r>
            <a:endParaRPr lang="en-US" sz="1400" dirty="0"/>
          </a:p>
        </p:txBody>
      </p:sp>
      <p:sp>
        <p:nvSpPr>
          <p:cNvPr id="16" name="Text 13"/>
          <p:cNvSpPr/>
          <p:nvPr/>
        </p:nvSpPr>
        <p:spPr>
          <a:xfrm>
            <a:off x="6172200" y="4251960"/>
            <a:ext cx="5257800" cy="1828800"/>
          </a:xfrm>
          <a:prstGeom prst="rect">
            <a:avLst/>
          </a:prstGeom>
          <a:noFill/>
          <a:ln/>
        </p:spPr>
        <p:txBody>
          <a:bodyPr wrap="square" rtlCol="0" anchor="t"/>
          <a:lstStyle/>
          <a:p>
            <a:pPr marL="342900" indent="-342900">
              <a:spcAft>
                <a:spcPts val="500"/>
              </a:spcAft>
              <a:buSzPct val="100000"/>
              <a:buChar char="•"/>
            </a:pPr>
            <a:r>
              <a:rPr lang="en-US" sz="1200" dirty="0">
                <a:solidFill>
                  <a:srgbClr val="1C2B30"/>
                </a:solidFill>
                <a:latin typeface="Calibri" pitchFamily="34" charset="0"/>
                <a:ea typeface="Calibri" pitchFamily="34" charset="-122"/>
                <a:cs typeface="Calibri" pitchFamily="34" charset="-120"/>
              </a:rPr>
              <a:t>Numeric: capacity, bedrooms, bathrooms, beds, reviews, rating</a:t>
            </a:r>
            <a:endParaRPr lang="en-US" sz="1200" dirty="0"/>
          </a:p>
          <a:p>
            <a:pPr marL="342900" indent="-342900">
              <a:spcAft>
                <a:spcPts val="500"/>
              </a:spcAft>
              <a:buSzPct val="100000"/>
              <a:buChar char="•"/>
            </a:pPr>
            <a:r>
              <a:rPr lang="en-US" sz="1200" dirty="0">
                <a:solidFill>
                  <a:srgbClr val="1C2B30"/>
                </a:solidFill>
                <a:latin typeface="Calibri" pitchFamily="34" charset="0"/>
                <a:ea typeface="Calibri" pitchFamily="34" charset="-122"/>
                <a:cs typeface="Calibri" pitchFamily="34" charset="-120"/>
              </a:rPr>
              <a:t>Categorical: room type, property type, cancellation policy, city</a:t>
            </a:r>
            <a:endParaRPr lang="en-US" sz="1200" dirty="0"/>
          </a:p>
          <a:p>
            <a:pPr marL="342900" indent="-342900">
              <a:spcAft>
                <a:spcPts val="500"/>
              </a:spcAft>
              <a:buSzPct val="100000"/>
              <a:buChar char="•"/>
            </a:pPr>
            <a:r>
              <a:rPr lang="en-US" sz="1200" dirty="0">
                <a:solidFill>
                  <a:srgbClr val="1C2B30"/>
                </a:solidFill>
                <a:latin typeface="Calibri" pitchFamily="34" charset="0"/>
                <a:ea typeface="Calibri" pitchFamily="34" charset="-122"/>
                <a:cs typeface="Calibri" pitchFamily="34" charset="-120"/>
              </a:rPr>
              <a:t>Location: exact latitude and longitude</a:t>
            </a:r>
            <a:endParaRPr lang="en-US" sz="1200" dirty="0"/>
          </a:p>
          <a:p>
            <a:pPr marL="342900" indent="-342900">
              <a:spcAft>
                <a:spcPts val="500"/>
              </a:spcAft>
              <a:buSzPct val="100000"/>
              <a:buChar char="•"/>
            </a:pPr>
            <a:r>
              <a:rPr lang="en-US" sz="1200" dirty="0">
                <a:solidFill>
                  <a:srgbClr val="1C2B30"/>
                </a:solidFill>
                <a:latin typeface="Calibri" pitchFamily="34" charset="0"/>
                <a:ea typeface="Calibri" pitchFamily="34" charset="-122"/>
                <a:cs typeface="Calibri" pitchFamily="34" charset="-120"/>
              </a:rPr>
              <a:t>NYC and LA are about three quarters of the data</a:t>
            </a:r>
            <a:endParaRPr lang="en-US" sz="1200" dirty="0"/>
          </a:p>
        </p:txBody>
      </p:sp>
      <p:sp>
        <p:nvSpPr>
          <p:cNvPr id="17" name="Text 14"/>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18" name="Text 15"/>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CLEANING</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One pipeline, fitted on training data only</a:t>
            </a:r>
            <a:endParaRPr lang="en-US" sz="3000" dirty="0"/>
          </a:p>
        </p:txBody>
      </p:sp>
      <p:sp>
        <p:nvSpPr>
          <p:cNvPr id="4" name="Shape 2"/>
          <p:cNvSpPr/>
          <p:nvPr/>
        </p:nvSpPr>
        <p:spPr>
          <a:xfrm>
            <a:off x="548640" y="1737360"/>
            <a:ext cx="2697480" cy="2286000"/>
          </a:xfrm>
          <a:prstGeom prst="roundRect">
            <a:avLst>
              <a:gd name="adj" fmla="val 3200"/>
            </a:avLst>
          </a:prstGeom>
          <a:solidFill>
            <a:srgbClr val="F0F7F8"/>
          </a:solidFill>
          <a:ln/>
          <a:effectLst>
            <a:outerShdw sx="100000" sy="100000" kx="0" ky="0" algn="bl" rotWithShape="0" blurRad="88900" dist="38100" dir="5400000">
              <a:srgbClr val="000000">
                <a:alpha val="12000"/>
              </a:srgbClr>
            </a:outerShdw>
          </a:effectLst>
        </p:spPr>
      </p:sp>
      <p:sp>
        <p:nvSpPr>
          <p:cNvPr id="5" name="Shape 3"/>
          <p:cNvSpPr/>
          <p:nvPr/>
        </p:nvSpPr>
        <p:spPr>
          <a:xfrm>
            <a:off x="822960" y="2011680"/>
            <a:ext cx="640080" cy="640080"/>
          </a:xfrm>
          <a:prstGeom prst="ellipse">
            <a:avLst/>
          </a:prstGeom>
          <a:solidFill>
            <a:srgbClr val="028090"/>
          </a:solidFill>
          <a:ln/>
        </p:spPr>
      </p:sp>
      <p:sp>
        <p:nvSpPr>
          <p:cNvPr id="6" name="Text 4"/>
          <p:cNvSpPr/>
          <p:nvPr/>
        </p:nvSpPr>
        <p:spPr>
          <a:xfrm>
            <a:off x="822960" y="2084832"/>
            <a:ext cx="64008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804672" y="2788920"/>
            <a:ext cx="2377440" cy="365760"/>
          </a:xfrm>
          <a:prstGeom prst="rect">
            <a:avLst/>
          </a:prstGeom>
          <a:noFill/>
          <a:ln/>
        </p:spPr>
        <p:txBody>
          <a:bodyPr wrap="square" rtlCol="0" anchor="ctr"/>
          <a:lstStyle/>
          <a:p>
            <a:pPr indent="0" marL="0">
              <a:buNone/>
            </a:pPr>
            <a:r>
              <a:rPr lang="en-US" sz="1450" b="1" dirty="0">
                <a:solidFill>
                  <a:srgbClr val="0B3B44"/>
                </a:solidFill>
                <a:latin typeface="Calibri" pitchFamily="34" charset="0"/>
                <a:ea typeface="Calibri" pitchFamily="34" charset="-122"/>
                <a:cs typeface="Calibri" pitchFamily="34" charset="-120"/>
              </a:rPr>
              <a:t>Split train.csv</a:t>
            </a:r>
            <a:endParaRPr lang="en-US" sz="1450" dirty="0"/>
          </a:p>
        </p:txBody>
      </p:sp>
      <p:sp>
        <p:nvSpPr>
          <p:cNvPr id="8" name="Text 6"/>
          <p:cNvSpPr/>
          <p:nvPr/>
        </p:nvSpPr>
        <p:spPr>
          <a:xfrm>
            <a:off x="804672" y="3200400"/>
            <a:ext cx="2377440" cy="777240"/>
          </a:xfrm>
          <a:prstGeom prst="rect">
            <a:avLst/>
          </a:prstGeom>
          <a:noFill/>
          <a:ln/>
        </p:spPr>
        <p:txBody>
          <a:bodyPr wrap="square" rtlCol="0" anchor="t"/>
          <a:lstStyle/>
          <a:p>
            <a:pPr indent="0" marL="0">
              <a:buNone/>
            </a:pPr>
            <a:r>
              <a:rPr lang="en-US" sz="1150" dirty="0">
                <a:solidFill>
                  <a:srgbClr val="5B7178"/>
                </a:solidFill>
                <a:latin typeface="Calibri" pitchFamily="34" charset="0"/>
                <a:ea typeface="Calibri" pitchFamily="34" charset="-122"/>
                <a:cs typeface="Calibri" pitchFamily="34" charset="-120"/>
              </a:rPr>
              <a:t>80/20 train/validation, seed 42 (test has no price)</a:t>
            </a:r>
            <a:endParaRPr lang="en-US" sz="1150" dirty="0"/>
          </a:p>
        </p:txBody>
      </p:sp>
      <p:sp>
        <p:nvSpPr>
          <p:cNvPr id="9" name="Shape 7"/>
          <p:cNvSpPr/>
          <p:nvPr/>
        </p:nvSpPr>
        <p:spPr>
          <a:xfrm>
            <a:off x="3364992" y="1737360"/>
            <a:ext cx="2697480" cy="2286000"/>
          </a:xfrm>
          <a:prstGeom prst="roundRect">
            <a:avLst>
              <a:gd name="adj" fmla="val 3200"/>
            </a:avLst>
          </a:prstGeom>
          <a:solidFill>
            <a:srgbClr val="F0F7F8"/>
          </a:solidFill>
          <a:ln/>
          <a:effectLst>
            <a:outerShdw sx="100000" sy="100000" kx="0" ky="0" algn="bl" rotWithShape="0" blurRad="88900" dist="38100" dir="5400000">
              <a:srgbClr val="000000">
                <a:alpha val="12000"/>
              </a:srgbClr>
            </a:outerShdw>
          </a:effectLst>
        </p:spPr>
      </p:sp>
      <p:sp>
        <p:nvSpPr>
          <p:cNvPr id="10" name="Shape 8"/>
          <p:cNvSpPr/>
          <p:nvPr/>
        </p:nvSpPr>
        <p:spPr>
          <a:xfrm>
            <a:off x="3639312" y="2011680"/>
            <a:ext cx="640080" cy="640080"/>
          </a:xfrm>
          <a:prstGeom prst="ellipse">
            <a:avLst/>
          </a:prstGeom>
          <a:solidFill>
            <a:srgbClr val="028090"/>
          </a:solidFill>
          <a:ln/>
        </p:spPr>
      </p:sp>
      <p:sp>
        <p:nvSpPr>
          <p:cNvPr id="11" name="Text 9"/>
          <p:cNvSpPr/>
          <p:nvPr/>
        </p:nvSpPr>
        <p:spPr>
          <a:xfrm>
            <a:off x="3639312" y="2084832"/>
            <a:ext cx="64008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621024" y="2788920"/>
            <a:ext cx="2377440" cy="365760"/>
          </a:xfrm>
          <a:prstGeom prst="rect">
            <a:avLst/>
          </a:prstGeom>
          <a:noFill/>
          <a:ln/>
        </p:spPr>
        <p:txBody>
          <a:bodyPr wrap="square" rtlCol="0" anchor="ctr"/>
          <a:lstStyle/>
          <a:p>
            <a:pPr indent="0" marL="0">
              <a:buNone/>
            </a:pPr>
            <a:r>
              <a:rPr lang="en-US" sz="1450" b="1" dirty="0">
                <a:solidFill>
                  <a:srgbClr val="0B3B44"/>
                </a:solidFill>
                <a:latin typeface="Calibri" pitchFamily="34" charset="0"/>
                <a:ea typeface="Calibri" pitchFamily="34" charset="-122"/>
                <a:cs typeface="Calibri" pitchFamily="34" charset="-120"/>
              </a:rPr>
              <a:t>Missing values</a:t>
            </a:r>
            <a:endParaRPr lang="en-US" sz="1450" dirty="0"/>
          </a:p>
        </p:txBody>
      </p:sp>
      <p:sp>
        <p:nvSpPr>
          <p:cNvPr id="13" name="Text 11"/>
          <p:cNvSpPr/>
          <p:nvPr/>
        </p:nvSpPr>
        <p:spPr>
          <a:xfrm>
            <a:off x="3621024" y="3200400"/>
            <a:ext cx="2377440" cy="777240"/>
          </a:xfrm>
          <a:prstGeom prst="rect">
            <a:avLst/>
          </a:prstGeom>
          <a:noFill/>
          <a:ln/>
        </p:spPr>
        <p:txBody>
          <a:bodyPr wrap="square" rtlCol="0" anchor="t"/>
          <a:lstStyle/>
          <a:p>
            <a:pPr indent="0" marL="0">
              <a:buNone/>
            </a:pPr>
            <a:r>
              <a:rPr lang="en-US" sz="1150" dirty="0">
                <a:solidFill>
                  <a:srgbClr val="5B7178"/>
                </a:solidFill>
                <a:latin typeface="Calibri" pitchFamily="34" charset="0"/>
                <a:ea typeface="Calibri" pitchFamily="34" charset="-122"/>
                <a:cs typeface="Calibri" pitchFamily="34" charset="-120"/>
              </a:rPr>
              <a:t>Median for numbers, a 'missing' category for text</a:t>
            </a:r>
            <a:endParaRPr lang="en-US" sz="1150" dirty="0"/>
          </a:p>
        </p:txBody>
      </p:sp>
      <p:sp>
        <p:nvSpPr>
          <p:cNvPr id="14" name="Shape 12"/>
          <p:cNvSpPr/>
          <p:nvPr/>
        </p:nvSpPr>
        <p:spPr>
          <a:xfrm>
            <a:off x="6181344" y="1737360"/>
            <a:ext cx="2697480" cy="2286000"/>
          </a:xfrm>
          <a:prstGeom prst="roundRect">
            <a:avLst>
              <a:gd name="adj" fmla="val 3200"/>
            </a:avLst>
          </a:prstGeom>
          <a:solidFill>
            <a:srgbClr val="F0F7F8"/>
          </a:solidFill>
          <a:ln/>
          <a:effectLst>
            <a:outerShdw sx="100000" sy="100000" kx="0" ky="0" algn="bl" rotWithShape="0" blurRad="88900" dist="38100" dir="5400000">
              <a:srgbClr val="000000">
                <a:alpha val="12000"/>
              </a:srgbClr>
            </a:outerShdw>
          </a:effectLst>
        </p:spPr>
      </p:sp>
      <p:sp>
        <p:nvSpPr>
          <p:cNvPr id="15" name="Shape 13"/>
          <p:cNvSpPr/>
          <p:nvPr/>
        </p:nvSpPr>
        <p:spPr>
          <a:xfrm>
            <a:off x="6455664" y="2011680"/>
            <a:ext cx="640080" cy="640080"/>
          </a:xfrm>
          <a:prstGeom prst="ellipse">
            <a:avLst/>
          </a:prstGeom>
          <a:solidFill>
            <a:srgbClr val="028090"/>
          </a:solidFill>
          <a:ln/>
        </p:spPr>
      </p:sp>
      <p:sp>
        <p:nvSpPr>
          <p:cNvPr id="16" name="Text 14"/>
          <p:cNvSpPr/>
          <p:nvPr/>
        </p:nvSpPr>
        <p:spPr>
          <a:xfrm>
            <a:off x="6455664" y="2084832"/>
            <a:ext cx="64008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6437376" y="2788920"/>
            <a:ext cx="2377440" cy="365760"/>
          </a:xfrm>
          <a:prstGeom prst="rect">
            <a:avLst/>
          </a:prstGeom>
          <a:noFill/>
          <a:ln/>
        </p:spPr>
        <p:txBody>
          <a:bodyPr wrap="square" rtlCol="0" anchor="ctr"/>
          <a:lstStyle/>
          <a:p>
            <a:pPr indent="0" marL="0">
              <a:buNone/>
            </a:pPr>
            <a:r>
              <a:rPr lang="en-US" sz="1450" b="1" dirty="0">
                <a:solidFill>
                  <a:srgbClr val="0B3B44"/>
                </a:solidFill>
                <a:latin typeface="Calibri" pitchFamily="34" charset="0"/>
                <a:ea typeface="Calibri" pitchFamily="34" charset="-122"/>
                <a:cs typeface="Calibri" pitchFamily="34" charset="-120"/>
              </a:rPr>
              <a:t>Encoding</a:t>
            </a:r>
            <a:endParaRPr lang="en-US" sz="1450" dirty="0"/>
          </a:p>
        </p:txBody>
      </p:sp>
      <p:sp>
        <p:nvSpPr>
          <p:cNvPr id="18" name="Text 16"/>
          <p:cNvSpPr/>
          <p:nvPr/>
        </p:nvSpPr>
        <p:spPr>
          <a:xfrm>
            <a:off x="6437376" y="3200400"/>
            <a:ext cx="2377440" cy="777240"/>
          </a:xfrm>
          <a:prstGeom prst="rect">
            <a:avLst/>
          </a:prstGeom>
          <a:noFill/>
          <a:ln/>
        </p:spPr>
        <p:txBody>
          <a:bodyPr wrap="square" rtlCol="0" anchor="t"/>
          <a:lstStyle/>
          <a:p>
            <a:pPr indent="0" marL="0">
              <a:buNone/>
            </a:pPr>
            <a:r>
              <a:rPr lang="en-US" sz="1150" dirty="0">
                <a:solidFill>
                  <a:srgbClr val="5B7178"/>
                </a:solidFill>
                <a:latin typeface="Calibri" pitchFamily="34" charset="0"/>
                <a:ea typeface="Calibri" pitchFamily="34" charset="-122"/>
                <a:cs typeface="Calibri" pitchFamily="34" charset="-120"/>
              </a:rPr>
              <a:t>LabelEncoder turns categories into integers</a:t>
            </a:r>
            <a:endParaRPr lang="en-US" sz="1150" dirty="0"/>
          </a:p>
        </p:txBody>
      </p:sp>
      <p:sp>
        <p:nvSpPr>
          <p:cNvPr id="19" name="Shape 17"/>
          <p:cNvSpPr/>
          <p:nvPr/>
        </p:nvSpPr>
        <p:spPr>
          <a:xfrm>
            <a:off x="8997696" y="1737360"/>
            <a:ext cx="2697480" cy="2286000"/>
          </a:xfrm>
          <a:prstGeom prst="roundRect">
            <a:avLst>
              <a:gd name="adj" fmla="val 3200"/>
            </a:avLst>
          </a:prstGeom>
          <a:solidFill>
            <a:srgbClr val="F0F7F8"/>
          </a:solidFill>
          <a:ln/>
          <a:effectLst>
            <a:outerShdw sx="100000" sy="100000" kx="0" ky="0" algn="bl" rotWithShape="0" blurRad="88900" dist="38100" dir="5400000">
              <a:srgbClr val="000000">
                <a:alpha val="12000"/>
              </a:srgbClr>
            </a:outerShdw>
          </a:effectLst>
        </p:spPr>
      </p:sp>
      <p:sp>
        <p:nvSpPr>
          <p:cNvPr id="20" name="Shape 18"/>
          <p:cNvSpPr/>
          <p:nvPr/>
        </p:nvSpPr>
        <p:spPr>
          <a:xfrm>
            <a:off x="9272016" y="2011680"/>
            <a:ext cx="640080" cy="640080"/>
          </a:xfrm>
          <a:prstGeom prst="ellipse">
            <a:avLst/>
          </a:prstGeom>
          <a:solidFill>
            <a:srgbClr val="028090"/>
          </a:solidFill>
          <a:ln/>
        </p:spPr>
      </p:sp>
      <p:sp>
        <p:nvSpPr>
          <p:cNvPr id="21" name="Text 19"/>
          <p:cNvSpPr/>
          <p:nvPr/>
        </p:nvSpPr>
        <p:spPr>
          <a:xfrm>
            <a:off x="9272016" y="2084832"/>
            <a:ext cx="640080" cy="5029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9253728" y="2788920"/>
            <a:ext cx="2377440" cy="365760"/>
          </a:xfrm>
          <a:prstGeom prst="rect">
            <a:avLst/>
          </a:prstGeom>
          <a:noFill/>
          <a:ln/>
        </p:spPr>
        <p:txBody>
          <a:bodyPr wrap="square" rtlCol="0" anchor="ctr"/>
          <a:lstStyle/>
          <a:p>
            <a:pPr indent="0" marL="0">
              <a:buNone/>
            </a:pPr>
            <a:r>
              <a:rPr lang="en-US" sz="1450" b="1" dirty="0">
                <a:solidFill>
                  <a:srgbClr val="0B3B44"/>
                </a:solidFill>
                <a:latin typeface="Calibri" pitchFamily="34" charset="0"/>
                <a:ea typeface="Calibri" pitchFamily="34" charset="-122"/>
                <a:cs typeface="Calibri" pitchFamily="34" charset="-120"/>
              </a:rPr>
              <a:t>Scaling</a:t>
            </a:r>
            <a:endParaRPr lang="en-US" sz="1450" dirty="0"/>
          </a:p>
        </p:txBody>
      </p:sp>
      <p:sp>
        <p:nvSpPr>
          <p:cNvPr id="23" name="Text 21"/>
          <p:cNvSpPr/>
          <p:nvPr/>
        </p:nvSpPr>
        <p:spPr>
          <a:xfrm>
            <a:off x="9253728" y="3200400"/>
            <a:ext cx="2377440" cy="777240"/>
          </a:xfrm>
          <a:prstGeom prst="rect">
            <a:avLst/>
          </a:prstGeom>
          <a:noFill/>
          <a:ln/>
        </p:spPr>
        <p:txBody>
          <a:bodyPr wrap="square" rtlCol="0" anchor="t"/>
          <a:lstStyle/>
          <a:p>
            <a:pPr indent="0" marL="0">
              <a:buNone/>
            </a:pPr>
            <a:r>
              <a:rPr lang="en-US" sz="1150" dirty="0">
                <a:solidFill>
                  <a:srgbClr val="5B7178"/>
                </a:solidFill>
                <a:latin typeface="Calibri" pitchFamily="34" charset="0"/>
                <a:ea typeface="Calibri" pitchFamily="34" charset="-122"/>
                <a:cs typeface="Calibri" pitchFamily="34" charset="-120"/>
              </a:rPr>
              <a:t>StandardScaler on the numeric features</a:t>
            </a:r>
            <a:endParaRPr lang="en-US" sz="1150" dirty="0"/>
          </a:p>
        </p:txBody>
      </p:sp>
      <p:sp>
        <p:nvSpPr>
          <p:cNvPr id="24" name="Shape 22"/>
          <p:cNvSpPr/>
          <p:nvPr/>
        </p:nvSpPr>
        <p:spPr>
          <a:xfrm>
            <a:off x="548640" y="4297680"/>
            <a:ext cx="11064240" cy="1051560"/>
          </a:xfrm>
          <a:prstGeom prst="roundRect">
            <a:avLst>
              <a:gd name="adj" fmla="val 6957"/>
            </a:avLst>
          </a:prstGeom>
          <a:solidFill>
            <a:srgbClr val="0B3B44"/>
          </a:solidFill>
          <a:ln/>
        </p:spPr>
      </p:sp>
      <p:sp>
        <p:nvSpPr>
          <p:cNvPr id="25" name="Text 23"/>
          <p:cNvSpPr/>
          <p:nvPr/>
        </p:nvSpPr>
        <p:spPr>
          <a:xfrm>
            <a:off x="868680" y="4480560"/>
            <a:ext cx="10424160" cy="731520"/>
          </a:xfrm>
          <a:prstGeom prst="rect">
            <a:avLst/>
          </a:prstGeom>
          <a:noFill/>
          <a:ln/>
        </p:spPr>
        <p:txBody>
          <a:bodyPr wrap="square"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No data leakage.  </a:t>
            </a:r>
            <a:pPr indent="0" marL="0">
              <a:buNone/>
            </a:pPr>
            <a:r>
              <a:rPr lang="en-US" sz="1400" dirty="0">
                <a:solidFill>
                  <a:srgbClr val="E8F4F3"/>
                </a:solidFill>
                <a:latin typeface="Calibri" pitchFamily="34" charset="0"/>
                <a:ea typeface="Calibri" pitchFamily="34" charset="-122"/>
                <a:cs typeface="Calibri" pitchFamily="34" charset="-120"/>
              </a:rPr>
              <a:t>Medians, encoders, and the scaler are all fitted on training data, then applied unchanged to the validation and test sets.</a:t>
            </a:r>
            <a:endParaRPr lang="en-US" sz="1400" dirty="0"/>
          </a:p>
        </p:txBody>
      </p:sp>
      <p:sp>
        <p:nvSpPr>
          <p:cNvPr id="26" name="Text 24"/>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27" name="Text 25"/>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EXPLORATION</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Where the listings are</a:t>
            </a:r>
            <a:endParaRPr lang="en-US" sz="3000" dirty="0"/>
          </a:p>
        </p:txBody>
      </p:sp>
      <p:pic>
        <p:nvPicPr>
          <p:cNvPr id="4" name="Image 0" descr="/home/claude/deck/figures/geo_map.png">    </p:cNvPr>
          <p:cNvPicPr>
            <a:picLocks noChangeAspect="1"/>
          </p:cNvPicPr>
          <p:nvPr/>
        </p:nvPicPr>
        <p:blipFill>
          <a:blip r:embed="rId1"/>
          <a:stretch>
            <a:fillRect/>
          </a:stretch>
        </p:blipFill>
        <p:spPr>
          <a:xfrm>
            <a:off x="1087039" y="1691640"/>
            <a:ext cx="5872643" cy="4389120"/>
          </a:xfrm>
          <a:prstGeom prst="rect">
            <a:avLst/>
          </a:prstGeom>
        </p:spPr>
      </p:pic>
      <p:sp>
        <p:nvSpPr>
          <p:cNvPr id="5" name="Shape 2"/>
          <p:cNvSpPr/>
          <p:nvPr/>
        </p:nvSpPr>
        <p:spPr>
          <a:xfrm>
            <a:off x="7772400" y="2011680"/>
            <a:ext cx="3840480" cy="3474720"/>
          </a:xfrm>
          <a:prstGeom prst="roundRect">
            <a:avLst>
              <a:gd name="adj" fmla="val 2105"/>
            </a:avLst>
          </a:prstGeom>
          <a:solidFill>
            <a:srgbClr val="F0F7F8"/>
          </a:solidFill>
          <a:ln/>
          <a:effectLst>
            <a:outerShdw sx="100000" sy="100000" kx="0" ky="0" algn="bl" rotWithShape="0" blurRad="88900" dist="38100" dir="5400000">
              <a:srgbClr val="000000">
                <a:alpha val="12000"/>
              </a:srgbClr>
            </a:outerShdw>
          </a:effectLst>
        </p:spPr>
      </p:sp>
      <p:sp>
        <p:nvSpPr>
          <p:cNvPr id="6" name="Text 3"/>
          <p:cNvSpPr/>
          <p:nvPr/>
        </p:nvSpPr>
        <p:spPr>
          <a:xfrm>
            <a:off x="8001000" y="2194560"/>
            <a:ext cx="3383280" cy="36576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On the map</a:t>
            </a:r>
            <a:endParaRPr lang="en-US" sz="1500" dirty="0"/>
          </a:p>
        </p:txBody>
      </p:sp>
      <p:sp>
        <p:nvSpPr>
          <p:cNvPr id="7" name="Text 4"/>
          <p:cNvSpPr/>
          <p:nvPr/>
        </p:nvSpPr>
        <p:spPr>
          <a:xfrm>
            <a:off x="8046720" y="2606040"/>
            <a:ext cx="3383280" cy="2743200"/>
          </a:xfrm>
          <a:prstGeom prst="rect">
            <a:avLst/>
          </a:prstGeom>
          <a:noFill/>
          <a:ln/>
        </p:spPr>
        <p:txBody>
          <a:bodyPr wrap="square" rtlCol="0" anchor="t"/>
          <a:lstStyle/>
          <a:p>
            <a:pPr marL="342900" indent="-342900">
              <a:spcAft>
                <a:spcPts val="800"/>
              </a:spcAft>
              <a:buSzPct val="100000"/>
              <a:buChar char="•"/>
            </a:pPr>
            <a:r>
              <a:rPr lang="en-US" sz="1250" dirty="0">
                <a:solidFill>
                  <a:srgbClr val="1C2B30"/>
                </a:solidFill>
                <a:latin typeface="Calibri" pitchFamily="34" charset="0"/>
                <a:ea typeface="Calibri" pitchFamily="34" charset="-122"/>
                <a:cs typeface="Calibri" pitchFamily="34" charset="-120"/>
              </a:rPr>
              <a:t>The notebook has an interactive Folium map you can zoom and click.</a:t>
            </a:r>
            <a:endParaRPr lang="en-US" sz="1250" dirty="0"/>
          </a:p>
          <a:p>
            <a:pPr marL="342900" indent="-342900">
              <a:spcAft>
                <a:spcPts val="800"/>
              </a:spcAft>
              <a:buSzPct val="100000"/>
              <a:buChar char="•"/>
            </a:pPr>
            <a:r>
              <a:rPr lang="en-US" sz="1250" dirty="0">
                <a:solidFill>
                  <a:srgbClr val="1C2B30"/>
                </a:solidFill>
                <a:latin typeface="Calibri" pitchFamily="34" charset="0"/>
                <a:ea typeface="Calibri" pitchFamily="34" charset="-122"/>
                <a:cs typeface="Calibri" pitchFamily="34" charset="-120"/>
              </a:rPr>
              <a:t>Six clear clusters, one per city.</a:t>
            </a:r>
            <a:endParaRPr lang="en-US" sz="1250" dirty="0"/>
          </a:p>
          <a:p>
            <a:pPr marL="342900" indent="-342900">
              <a:buSzPct val="100000"/>
              <a:buChar char="•"/>
            </a:pPr>
            <a:r>
              <a:rPr lang="en-US" sz="1250" dirty="0">
                <a:solidFill>
                  <a:srgbClr val="1C2B30"/>
                </a:solidFill>
                <a:latin typeface="Calibri" pitchFamily="34" charset="0"/>
                <a:ea typeface="Calibri" pitchFamily="34" charset="-122"/>
                <a:cs typeface="Calibri" pitchFamily="34" charset="-120"/>
              </a:rPr>
              <a:t>Inside each city, pricier listings sit in the central and coastal areas.</a:t>
            </a:r>
            <a:endParaRPr lang="en-US" sz="1250" dirty="0"/>
          </a:p>
        </p:txBody>
      </p:sp>
      <p:sp>
        <p:nvSpPr>
          <p:cNvPr id="8" name="Text 5"/>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9" name="Text 6"/>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EXPLORATION</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The log price, and what moves it</a:t>
            </a:r>
            <a:endParaRPr lang="en-US" sz="3000" dirty="0"/>
          </a:p>
        </p:txBody>
      </p:sp>
      <p:pic>
        <p:nvPicPr>
          <p:cNvPr id="4" name="Image 0" descr="/home/claude/deck/figures/target.png">    </p:cNvPr>
          <p:cNvPicPr>
            <a:picLocks noChangeAspect="1"/>
          </p:cNvPicPr>
          <p:nvPr/>
        </p:nvPicPr>
        <p:blipFill>
          <a:blip r:embed="rId1"/>
          <a:stretch>
            <a:fillRect/>
          </a:stretch>
        </p:blipFill>
        <p:spPr>
          <a:xfrm>
            <a:off x="1389888" y="1645920"/>
            <a:ext cx="3712464" cy="1828800"/>
          </a:xfrm>
          <a:prstGeom prst="rect">
            <a:avLst/>
          </a:prstGeom>
        </p:spPr>
      </p:pic>
      <p:pic>
        <p:nvPicPr>
          <p:cNvPr id="5" name="Image 1" descr="/home/claude/deck/figures/price_city_room.png">    </p:cNvPr>
          <p:cNvPicPr>
            <a:picLocks noChangeAspect="1"/>
          </p:cNvPicPr>
          <p:nvPr/>
        </p:nvPicPr>
        <p:blipFill>
          <a:blip r:embed="rId2"/>
          <a:stretch>
            <a:fillRect/>
          </a:stretch>
        </p:blipFill>
        <p:spPr>
          <a:xfrm>
            <a:off x="2602611" y="3611880"/>
            <a:ext cx="6956298" cy="2286000"/>
          </a:xfrm>
          <a:prstGeom prst="rect">
            <a:avLst/>
          </a:prstGeom>
        </p:spPr>
      </p:pic>
      <p:sp>
        <p:nvSpPr>
          <p:cNvPr id="6" name="Shape 2"/>
          <p:cNvSpPr/>
          <p:nvPr/>
        </p:nvSpPr>
        <p:spPr>
          <a:xfrm>
            <a:off x="6217920" y="1645920"/>
            <a:ext cx="5394960" cy="1828800"/>
          </a:xfrm>
          <a:prstGeom prst="roundRect">
            <a:avLst>
              <a:gd name="adj" fmla="val 4000"/>
            </a:avLst>
          </a:prstGeom>
          <a:solidFill>
            <a:srgbClr val="F0F7F8"/>
          </a:solidFill>
          <a:ln/>
          <a:effectLst>
            <a:outerShdw sx="100000" sy="100000" kx="0" ky="0" algn="bl" rotWithShape="0" blurRad="88900" dist="38100" dir="5400000">
              <a:srgbClr val="000000">
                <a:alpha val="12000"/>
              </a:srgbClr>
            </a:outerShdw>
          </a:effectLst>
        </p:spPr>
      </p:sp>
      <p:sp>
        <p:nvSpPr>
          <p:cNvPr id="7" name="Text 3"/>
          <p:cNvSpPr/>
          <p:nvPr/>
        </p:nvSpPr>
        <p:spPr>
          <a:xfrm>
            <a:off x="6446520" y="1828800"/>
            <a:ext cx="5029200" cy="1554480"/>
          </a:xfrm>
          <a:prstGeom prst="rect">
            <a:avLst/>
          </a:prstGeom>
          <a:noFill/>
          <a:ln/>
        </p:spPr>
        <p:txBody>
          <a:bodyPr wrap="square" rtlCol="0" anchor="t"/>
          <a:lstStyle/>
          <a:p>
            <a:pPr marL="342900" indent="-342900">
              <a:spcAft>
                <a:spcPts val="600"/>
              </a:spcAft>
              <a:buSzPct val="100000"/>
              <a:buChar char="•"/>
            </a:pPr>
            <a:r>
              <a:rPr lang="en-US" sz="1250" dirty="0">
                <a:solidFill>
                  <a:srgbClr val="1C2B30"/>
                </a:solidFill>
                <a:latin typeface="Calibri" pitchFamily="34" charset="0"/>
                <a:ea typeface="Calibri" pitchFamily="34" charset="-122"/>
                <a:cs typeface="Calibri" pitchFamily="34" charset="-120"/>
              </a:rPr>
              <a:t>The target is roughly bell-shaped after the log.</a:t>
            </a:r>
            <a:endParaRPr lang="en-US" sz="1250" dirty="0"/>
          </a:p>
          <a:p>
            <a:pPr marL="342900" indent="-342900">
              <a:spcAft>
                <a:spcPts val="600"/>
              </a:spcAft>
              <a:buSzPct val="100000"/>
              <a:buChar char="•"/>
            </a:pPr>
            <a:r>
              <a:rPr lang="en-US" sz="1250" dirty="0">
                <a:solidFill>
                  <a:srgbClr val="1C2B30"/>
                </a:solidFill>
                <a:latin typeface="Calibri" pitchFamily="34" charset="0"/>
                <a:ea typeface="Calibri" pitchFamily="34" charset="-122"/>
                <a:cs typeface="Calibri" pitchFamily="34" charset="-120"/>
              </a:rPr>
              <a:t>SF and Boston are priciest, Chicago the cheapest.</a:t>
            </a:r>
            <a:endParaRPr lang="en-US" sz="1250" dirty="0"/>
          </a:p>
          <a:p>
            <a:pPr marL="342900" indent="-342900">
              <a:buSzPct val="100000"/>
              <a:buChar char="•"/>
            </a:pPr>
            <a:r>
              <a:rPr lang="en-US" sz="1250" dirty="0">
                <a:solidFill>
                  <a:srgbClr val="1C2B30"/>
                </a:solidFill>
                <a:latin typeface="Calibri" pitchFamily="34" charset="0"/>
                <a:ea typeface="Calibri" pitchFamily="34" charset="-122"/>
                <a:cs typeface="Calibri" pitchFamily="34" charset="-120"/>
              </a:rPr>
              <a:t>Entire home &gt; private room &gt; shared room.</a:t>
            </a:r>
            <a:endParaRPr lang="en-US" sz="1250" dirty="0"/>
          </a:p>
        </p:txBody>
      </p:sp>
      <p:sp>
        <p:nvSpPr>
          <p:cNvPr id="8" name="Text 4"/>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9" name="Text 5"/>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EXPLORATION</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What correlates with price</a:t>
            </a:r>
            <a:endParaRPr lang="en-US" sz="3000" dirty="0"/>
          </a:p>
        </p:txBody>
      </p:sp>
      <p:pic>
        <p:nvPicPr>
          <p:cNvPr id="4" name="Image 0" descr="/home/claude/deck/figures/corr.png">    </p:cNvPr>
          <p:cNvPicPr>
            <a:picLocks noChangeAspect="1"/>
          </p:cNvPicPr>
          <p:nvPr/>
        </p:nvPicPr>
        <p:blipFill>
          <a:blip r:embed="rId1"/>
          <a:stretch>
            <a:fillRect/>
          </a:stretch>
        </p:blipFill>
        <p:spPr>
          <a:xfrm>
            <a:off x="686074" y="1645920"/>
            <a:ext cx="5851611" cy="4480560"/>
          </a:xfrm>
          <a:prstGeom prst="rect">
            <a:avLst/>
          </a:prstGeom>
        </p:spPr>
      </p:pic>
      <p:sp>
        <p:nvSpPr>
          <p:cNvPr id="5" name="Text 2"/>
          <p:cNvSpPr/>
          <p:nvPr/>
        </p:nvSpPr>
        <p:spPr>
          <a:xfrm>
            <a:off x="6949440" y="1920240"/>
            <a:ext cx="4663440" cy="36576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Strongest linear links to log_price</a:t>
            </a:r>
            <a:endParaRPr lang="en-US" sz="1500" dirty="0"/>
          </a:p>
        </p:txBody>
      </p:sp>
      <p:sp>
        <p:nvSpPr>
          <p:cNvPr id="6" name="Shape 3"/>
          <p:cNvSpPr/>
          <p:nvPr/>
        </p:nvSpPr>
        <p:spPr>
          <a:xfrm>
            <a:off x="6949440" y="2423160"/>
            <a:ext cx="4663440" cy="548640"/>
          </a:xfrm>
          <a:prstGeom prst="roundRect">
            <a:avLst>
              <a:gd name="adj" fmla="val 10000"/>
            </a:avLst>
          </a:prstGeom>
          <a:solidFill>
            <a:srgbClr val="F0F7F8"/>
          </a:solidFill>
          <a:ln/>
        </p:spPr>
      </p:sp>
      <p:sp>
        <p:nvSpPr>
          <p:cNvPr id="7" name="Text 4"/>
          <p:cNvSpPr/>
          <p:nvPr/>
        </p:nvSpPr>
        <p:spPr>
          <a:xfrm>
            <a:off x="7132320" y="2423160"/>
            <a:ext cx="2926080" cy="548640"/>
          </a:xfrm>
          <a:prstGeom prst="rect">
            <a:avLst/>
          </a:prstGeom>
          <a:noFill/>
          <a:ln/>
        </p:spPr>
        <p:txBody>
          <a:bodyPr wrap="square" rtlCol="0" anchor="ctr"/>
          <a:lstStyle/>
          <a:p>
            <a:pPr indent="0" marL="0">
              <a:buNone/>
            </a:pPr>
            <a:r>
              <a:rPr lang="en-US" sz="1350" dirty="0">
                <a:solidFill>
                  <a:srgbClr val="1C2B30"/>
                </a:solidFill>
                <a:latin typeface="Calibri" pitchFamily="34" charset="0"/>
                <a:ea typeface="Calibri" pitchFamily="34" charset="-122"/>
                <a:cs typeface="Calibri" pitchFamily="34" charset="-120"/>
              </a:rPr>
              <a:t>room_type</a:t>
            </a:r>
            <a:endParaRPr lang="en-US" sz="1350" dirty="0"/>
          </a:p>
        </p:txBody>
      </p:sp>
      <p:sp>
        <p:nvSpPr>
          <p:cNvPr id="8" name="Text 5"/>
          <p:cNvSpPr/>
          <p:nvPr/>
        </p:nvSpPr>
        <p:spPr>
          <a:xfrm>
            <a:off x="9966960" y="2423160"/>
            <a:ext cx="1463040" cy="548640"/>
          </a:xfrm>
          <a:prstGeom prst="rect">
            <a:avLst/>
          </a:prstGeom>
          <a:noFill/>
          <a:ln/>
        </p:spPr>
        <p:txBody>
          <a:bodyPr wrap="square" rtlCol="0" anchor="ctr"/>
          <a:lstStyle/>
          <a:p>
            <a:pPr algn="r" indent="0" marL="0">
              <a:buNone/>
            </a:pPr>
            <a:r>
              <a:rPr lang="en-US" sz="1500" b="1" dirty="0">
                <a:solidFill>
                  <a:srgbClr val="028090"/>
                </a:solidFill>
                <a:latin typeface="Cambria" pitchFamily="34" charset="0"/>
                <a:ea typeface="Cambria" pitchFamily="34" charset="-122"/>
                <a:cs typeface="Cambria" pitchFamily="34" charset="-120"/>
              </a:rPr>
              <a:t>-0.61</a:t>
            </a:r>
            <a:endParaRPr lang="en-US" sz="1500" dirty="0"/>
          </a:p>
        </p:txBody>
      </p:sp>
      <p:sp>
        <p:nvSpPr>
          <p:cNvPr id="9" name="Shape 6"/>
          <p:cNvSpPr/>
          <p:nvPr/>
        </p:nvSpPr>
        <p:spPr>
          <a:xfrm>
            <a:off x="6949440" y="3081528"/>
            <a:ext cx="4663440" cy="548640"/>
          </a:xfrm>
          <a:prstGeom prst="roundRect">
            <a:avLst>
              <a:gd name="adj" fmla="val 10000"/>
            </a:avLst>
          </a:prstGeom>
          <a:solidFill>
            <a:srgbClr val="F0F7F8"/>
          </a:solidFill>
          <a:ln/>
        </p:spPr>
      </p:sp>
      <p:sp>
        <p:nvSpPr>
          <p:cNvPr id="10" name="Text 7"/>
          <p:cNvSpPr/>
          <p:nvPr/>
        </p:nvSpPr>
        <p:spPr>
          <a:xfrm>
            <a:off x="7132320" y="3081528"/>
            <a:ext cx="2926080" cy="548640"/>
          </a:xfrm>
          <a:prstGeom prst="rect">
            <a:avLst/>
          </a:prstGeom>
          <a:noFill/>
          <a:ln/>
        </p:spPr>
        <p:txBody>
          <a:bodyPr wrap="square" rtlCol="0" anchor="ctr"/>
          <a:lstStyle/>
          <a:p>
            <a:pPr indent="0" marL="0">
              <a:buNone/>
            </a:pPr>
            <a:r>
              <a:rPr lang="en-US" sz="1350" dirty="0">
                <a:solidFill>
                  <a:srgbClr val="1C2B30"/>
                </a:solidFill>
                <a:latin typeface="Calibri" pitchFamily="34" charset="0"/>
                <a:ea typeface="Calibri" pitchFamily="34" charset="-122"/>
                <a:cs typeface="Calibri" pitchFamily="34" charset="-120"/>
              </a:rPr>
              <a:t>accommodates</a:t>
            </a:r>
            <a:endParaRPr lang="en-US" sz="1350" dirty="0"/>
          </a:p>
        </p:txBody>
      </p:sp>
      <p:sp>
        <p:nvSpPr>
          <p:cNvPr id="11" name="Text 8"/>
          <p:cNvSpPr/>
          <p:nvPr/>
        </p:nvSpPr>
        <p:spPr>
          <a:xfrm>
            <a:off x="9966960" y="3081528"/>
            <a:ext cx="1463040" cy="548640"/>
          </a:xfrm>
          <a:prstGeom prst="rect">
            <a:avLst/>
          </a:prstGeom>
          <a:noFill/>
          <a:ln/>
        </p:spPr>
        <p:txBody>
          <a:bodyPr wrap="square" rtlCol="0" anchor="ctr"/>
          <a:lstStyle/>
          <a:p>
            <a:pPr algn="r" indent="0" marL="0">
              <a:buNone/>
            </a:pPr>
            <a:r>
              <a:rPr lang="en-US" sz="1500" b="1" dirty="0">
                <a:solidFill>
                  <a:srgbClr val="028090"/>
                </a:solidFill>
                <a:latin typeface="Cambria" pitchFamily="34" charset="0"/>
                <a:ea typeface="Cambria" pitchFamily="34" charset="-122"/>
                <a:cs typeface="Cambria" pitchFamily="34" charset="-120"/>
              </a:rPr>
              <a:t>+0.57</a:t>
            </a:r>
            <a:endParaRPr lang="en-US" sz="1500" dirty="0"/>
          </a:p>
        </p:txBody>
      </p:sp>
      <p:sp>
        <p:nvSpPr>
          <p:cNvPr id="12" name="Shape 9"/>
          <p:cNvSpPr/>
          <p:nvPr/>
        </p:nvSpPr>
        <p:spPr>
          <a:xfrm>
            <a:off x="6949440" y="3739896"/>
            <a:ext cx="4663440" cy="548640"/>
          </a:xfrm>
          <a:prstGeom prst="roundRect">
            <a:avLst>
              <a:gd name="adj" fmla="val 10000"/>
            </a:avLst>
          </a:prstGeom>
          <a:solidFill>
            <a:srgbClr val="F0F7F8"/>
          </a:solidFill>
          <a:ln/>
        </p:spPr>
      </p:sp>
      <p:sp>
        <p:nvSpPr>
          <p:cNvPr id="13" name="Text 10"/>
          <p:cNvSpPr/>
          <p:nvPr/>
        </p:nvSpPr>
        <p:spPr>
          <a:xfrm>
            <a:off x="7132320" y="3739896"/>
            <a:ext cx="2926080" cy="548640"/>
          </a:xfrm>
          <a:prstGeom prst="rect">
            <a:avLst/>
          </a:prstGeom>
          <a:noFill/>
          <a:ln/>
        </p:spPr>
        <p:txBody>
          <a:bodyPr wrap="square" rtlCol="0" anchor="ctr"/>
          <a:lstStyle/>
          <a:p>
            <a:pPr indent="0" marL="0">
              <a:buNone/>
            </a:pPr>
            <a:r>
              <a:rPr lang="en-US" sz="1350" dirty="0">
                <a:solidFill>
                  <a:srgbClr val="1C2B30"/>
                </a:solidFill>
                <a:latin typeface="Calibri" pitchFamily="34" charset="0"/>
                <a:ea typeface="Calibri" pitchFamily="34" charset="-122"/>
                <a:cs typeface="Calibri" pitchFamily="34" charset="-120"/>
              </a:rPr>
              <a:t>bedrooms</a:t>
            </a:r>
            <a:endParaRPr lang="en-US" sz="1350" dirty="0"/>
          </a:p>
        </p:txBody>
      </p:sp>
      <p:sp>
        <p:nvSpPr>
          <p:cNvPr id="14" name="Text 11"/>
          <p:cNvSpPr/>
          <p:nvPr/>
        </p:nvSpPr>
        <p:spPr>
          <a:xfrm>
            <a:off x="9966960" y="3739896"/>
            <a:ext cx="1463040" cy="548640"/>
          </a:xfrm>
          <a:prstGeom prst="rect">
            <a:avLst/>
          </a:prstGeom>
          <a:noFill/>
          <a:ln/>
        </p:spPr>
        <p:txBody>
          <a:bodyPr wrap="square" rtlCol="0" anchor="ctr"/>
          <a:lstStyle/>
          <a:p>
            <a:pPr algn="r" indent="0" marL="0">
              <a:buNone/>
            </a:pPr>
            <a:r>
              <a:rPr lang="en-US" sz="1500" b="1" dirty="0">
                <a:solidFill>
                  <a:srgbClr val="028090"/>
                </a:solidFill>
                <a:latin typeface="Cambria" pitchFamily="34" charset="0"/>
                <a:ea typeface="Cambria" pitchFamily="34" charset="-122"/>
                <a:cs typeface="Cambria" pitchFamily="34" charset="-120"/>
              </a:rPr>
              <a:t>+0.47</a:t>
            </a:r>
            <a:endParaRPr lang="en-US" sz="1500" dirty="0"/>
          </a:p>
        </p:txBody>
      </p:sp>
      <p:sp>
        <p:nvSpPr>
          <p:cNvPr id="15" name="Shape 12"/>
          <p:cNvSpPr/>
          <p:nvPr/>
        </p:nvSpPr>
        <p:spPr>
          <a:xfrm>
            <a:off x="6949440" y="4398264"/>
            <a:ext cx="4663440" cy="548640"/>
          </a:xfrm>
          <a:prstGeom prst="roundRect">
            <a:avLst>
              <a:gd name="adj" fmla="val 10000"/>
            </a:avLst>
          </a:prstGeom>
          <a:solidFill>
            <a:srgbClr val="F0F7F8"/>
          </a:solidFill>
          <a:ln/>
        </p:spPr>
      </p:sp>
      <p:sp>
        <p:nvSpPr>
          <p:cNvPr id="16" name="Text 13"/>
          <p:cNvSpPr/>
          <p:nvPr/>
        </p:nvSpPr>
        <p:spPr>
          <a:xfrm>
            <a:off x="7132320" y="4398264"/>
            <a:ext cx="2926080" cy="548640"/>
          </a:xfrm>
          <a:prstGeom prst="rect">
            <a:avLst/>
          </a:prstGeom>
          <a:noFill/>
          <a:ln/>
        </p:spPr>
        <p:txBody>
          <a:bodyPr wrap="square" rtlCol="0" anchor="ctr"/>
          <a:lstStyle/>
          <a:p>
            <a:pPr indent="0" marL="0">
              <a:buNone/>
            </a:pPr>
            <a:r>
              <a:rPr lang="en-US" sz="1350" dirty="0">
                <a:solidFill>
                  <a:srgbClr val="1C2B30"/>
                </a:solidFill>
                <a:latin typeface="Calibri" pitchFamily="34" charset="0"/>
                <a:ea typeface="Calibri" pitchFamily="34" charset="-122"/>
                <a:cs typeface="Calibri" pitchFamily="34" charset="-120"/>
              </a:rPr>
              <a:t>beds</a:t>
            </a:r>
            <a:endParaRPr lang="en-US" sz="1350" dirty="0"/>
          </a:p>
        </p:txBody>
      </p:sp>
      <p:sp>
        <p:nvSpPr>
          <p:cNvPr id="17" name="Text 14"/>
          <p:cNvSpPr/>
          <p:nvPr/>
        </p:nvSpPr>
        <p:spPr>
          <a:xfrm>
            <a:off x="9966960" y="4398264"/>
            <a:ext cx="1463040" cy="548640"/>
          </a:xfrm>
          <a:prstGeom prst="rect">
            <a:avLst/>
          </a:prstGeom>
          <a:noFill/>
          <a:ln/>
        </p:spPr>
        <p:txBody>
          <a:bodyPr wrap="square" rtlCol="0" anchor="ctr"/>
          <a:lstStyle/>
          <a:p>
            <a:pPr algn="r" indent="0" marL="0">
              <a:buNone/>
            </a:pPr>
            <a:r>
              <a:rPr lang="en-US" sz="1500" b="1" dirty="0">
                <a:solidFill>
                  <a:srgbClr val="028090"/>
                </a:solidFill>
                <a:latin typeface="Cambria" pitchFamily="34" charset="0"/>
                <a:ea typeface="Cambria" pitchFamily="34" charset="-122"/>
                <a:cs typeface="Cambria" pitchFamily="34" charset="-120"/>
              </a:rPr>
              <a:t>+0.44</a:t>
            </a:r>
            <a:endParaRPr lang="en-US" sz="1500" dirty="0"/>
          </a:p>
        </p:txBody>
      </p:sp>
      <p:sp>
        <p:nvSpPr>
          <p:cNvPr id="18" name="Shape 15"/>
          <p:cNvSpPr/>
          <p:nvPr/>
        </p:nvSpPr>
        <p:spPr>
          <a:xfrm>
            <a:off x="6949440" y="5056632"/>
            <a:ext cx="4663440" cy="548640"/>
          </a:xfrm>
          <a:prstGeom prst="roundRect">
            <a:avLst>
              <a:gd name="adj" fmla="val 10000"/>
            </a:avLst>
          </a:prstGeom>
          <a:solidFill>
            <a:srgbClr val="F0F7F8"/>
          </a:solidFill>
          <a:ln/>
        </p:spPr>
      </p:sp>
      <p:sp>
        <p:nvSpPr>
          <p:cNvPr id="19" name="Text 16"/>
          <p:cNvSpPr/>
          <p:nvPr/>
        </p:nvSpPr>
        <p:spPr>
          <a:xfrm>
            <a:off x="7132320" y="5056632"/>
            <a:ext cx="2926080" cy="548640"/>
          </a:xfrm>
          <a:prstGeom prst="rect">
            <a:avLst/>
          </a:prstGeom>
          <a:noFill/>
          <a:ln/>
        </p:spPr>
        <p:txBody>
          <a:bodyPr wrap="square" rtlCol="0" anchor="ctr"/>
          <a:lstStyle/>
          <a:p>
            <a:pPr indent="0" marL="0">
              <a:buNone/>
            </a:pPr>
            <a:r>
              <a:rPr lang="en-US" sz="1350" dirty="0">
                <a:solidFill>
                  <a:srgbClr val="1C2B30"/>
                </a:solidFill>
                <a:latin typeface="Calibri" pitchFamily="34" charset="0"/>
                <a:ea typeface="Calibri" pitchFamily="34" charset="-122"/>
                <a:cs typeface="Calibri" pitchFamily="34" charset="-120"/>
              </a:rPr>
              <a:t>bathrooms</a:t>
            </a:r>
            <a:endParaRPr lang="en-US" sz="1350" dirty="0"/>
          </a:p>
        </p:txBody>
      </p:sp>
      <p:sp>
        <p:nvSpPr>
          <p:cNvPr id="20" name="Text 17"/>
          <p:cNvSpPr/>
          <p:nvPr/>
        </p:nvSpPr>
        <p:spPr>
          <a:xfrm>
            <a:off x="9966960" y="5056632"/>
            <a:ext cx="1463040" cy="548640"/>
          </a:xfrm>
          <a:prstGeom prst="rect">
            <a:avLst/>
          </a:prstGeom>
          <a:noFill/>
          <a:ln/>
        </p:spPr>
        <p:txBody>
          <a:bodyPr wrap="square" rtlCol="0" anchor="ctr"/>
          <a:lstStyle/>
          <a:p>
            <a:pPr algn="r" indent="0" marL="0">
              <a:buNone/>
            </a:pPr>
            <a:r>
              <a:rPr lang="en-US" sz="1500" b="1" dirty="0">
                <a:solidFill>
                  <a:srgbClr val="028090"/>
                </a:solidFill>
                <a:latin typeface="Cambria" pitchFamily="34" charset="0"/>
                <a:ea typeface="Cambria" pitchFamily="34" charset="-122"/>
                <a:cs typeface="Cambria" pitchFamily="34" charset="-120"/>
              </a:rPr>
              <a:t>+0.36</a:t>
            </a:r>
            <a:endParaRPr lang="en-US" sz="1500" dirty="0"/>
          </a:p>
        </p:txBody>
      </p:sp>
      <p:sp>
        <p:nvSpPr>
          <p:cNvPr id="21" name="Text 18"/>
          <p:cNvSpPr/>
          <p:nvPr/>
        </p:nvSpPr>
        <p:spPr>
          <a:xfrm>
            <a:off x="6949440" y="5806440"/>
            <a:ext cx="4663440" cy="548640"/>
          </a:xfrm>
          <a:prstGeom prst="rect">
            <a:avLst/>
          </a:prstGeom>
          <a:noFill/>
          <a:ln/>
        </p:spPr>
        <p:txBody>
          <a:bodyPr wrap="square" rtlCol="0" anchor="ctr"/>
          <a:lstStyle/>
          <a:p>
            <a:pPr indent="0" marL="0">
              <a:buNone/>
            </a:pPr>
            <a:r>
              <a:rPr lang="en-US" sz="1200" i="1" dirty="0">
                <a:solidFill>
                  <a:srgbClr val="5B7178"/>
                </a:solidFill>
                <a:latin typeface="Calibri" pitchFamily="34" charset="0"/>
                <a:ea typeface="Calibri" pitchFamily="34" charset="-122"/>
                <a:cs typeface="Calibri" pitchFamily="34" charset="-120"/>
              </a:rPr>
              <a:t>Latitude and longitude look flat here, but a tree can still use them.</a:t>
            </a:r>
            <a:endParaRPr lang="en-US" sz="1200" dirty="0"/>
          </a:p>
        </p:txBody>
      </p:sp>
      <p:sp>
        <p:nvSpPr>
          <p:cNvPr id="22" name="Text 19"/>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23" name="Text 20"/>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MODELING</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Four models, from simple to strong</a:t>
            </a:r>
            <a:endParaRPr lang="en-US" sz="3000" dirty="0"/>
          </a:p>
        </p:txBody>
      </p:sp>
      <p:sp>
        <p:nvSpPr>
          <p:cNvPr id="4" name="Shape 2"/>
          <p:cNvSpPr/>
          <p:nvPr/>
        </p:nvSpPr>
        <p:spPr>
          <a:xfrm>
            <a:off x="548640" y="1828800"/>
            <a:ext cx="2697480" cy="3017520"/>
          </a:xfrm>
          <a:prstGeom prst="roundRect">
            <a:avLst>
              <a:gd name="adj" fmla="val 2712"/>
            </a:avLst>
          </a:prstGeom>
          <a:solidFill>
            <a:srgbClr val="F0F7F8"/>
          </a:solidFill>
          <a:ln/>
          <a:effectLst>
            <a:outerShdw sx="100000" sy="100000" kx="0" ky="0" algn="bl" rotWithShape="0" blurRad="88900" dist="38100" dir="5400000">
              <a:srgbClr val="000000">
                <a:alpha val="12000"/>
              </a:srgbClr>
            </a:outerShdw>
          </a:effectLst>
        </p:spPr>
      </p:sp>
      <p:sp>
        <p:nvSpPr>
          <p:cNvPr id="5" name="Shape 3"/>
          <p:cNvSpPr/>
          <p:nvPr/>
        </p:nvSpPr>
        <p:spPr>
          <a:xfrm>
            <a:off x="822960" y="2103120"/>
            <a:ext cx="502920" cy="502920"/>
          </a:xfrm>
          <a:prstGeom prst="ellipse">
            <a:avLst/>
          </a:prstGeom>
          <a:solidFill>
            <a:srgbClr val="02C39A"/>
          </a:solidFill>
          <a:ln/>
        </p:spPr>
      </p:sp>
      <p:sp>
        <p:nvSpPr>
          <p:cNvPr id="6" name="Text 4"/>
          <p:cNvSpPr/>
          <p:nvPr/>
        </p:nvSpPr>
        <p:spPr>
          <a:xfrm>
            <a:off x="804672" y="2743200"/>
            <a:ext cx="2377440" cy="640080"/>
          </a:xfrm>
          <a:prstGeom prst="rect">
            <a:avLst/>
          </a:prstGeom>
          <a:noFill/>
          <a:ln/>
        </p:spPr>
        <p:txBody>
          <a:bodyPr wrap="square" rtlCol="0" anchor="ctr"/>
          <a:lstStyle/>
          <a:p>
            <a:pPr indent="0" marL="0">
              <a:buNone/>
            </a:pPr>
            <a:r>
              <a:rPr lang="en-US" sz="1600" b="1" dirty="0">
                <a:solidFill>
                  <a:srgbClr val="0B3B44"/>
                </a:solidFill>
                <a:latin typeface="Cambria" pitchFamily="34" charset="0"/>
                <a:ea typeface="Cambria" pitchFamily="34" charset="-122"/>
                <a:cs typeface="Cambria" pitchFamily="34" charset="-120"/>
              </a:rPr>
              <a:t>Linear</a:t>
            </a:r>
            <a:endParaRPr lang="en-US" sz="1600" dirty="0"/>
          </a:p>
        </p:txBody>
      </p:sp>
      <p:sp>
        <p:nvSpPr>
          <p:cNvPr id="7" name="Text 5"/>
          <p:cNvSpPr/>
          <p:nvPr/>
        </p:nvSpPr>
        <p:spPr>
          <a:xfrm>
            <a:off x="822960" y="3383280"/>
            <a:ext cx="2377440" cy="1280160"/>
          </a:xfrm>
          <a:prstGeom prst="rect">
            <a:avLst/>
          </a:prstGeom>
          <a:noFill/>
          <a:ln/>
        </p:spPr>
        <p:txBody>
          <a:bodyPr wrap="square" rtlCol="0" anchor="t"/>
          <a:lstStyle/>
          <a:p>
            <a:pPr indent="0" marL="0">
              <a:buNone/>
            </a:pPr>
            <a:r>
              <a:rPr lang="en-US" sz="1250" dirty="0">
                <a:solidFill>
                  <a:srgbClr val="5B7178"/>
                </a:solidFill>
                <a:latin typeface="Calibri" pitchFamily="34" charset="0"/>
                <a:ea typeface="Calibri" pitchFamily="34" charset="-122"/>
                <a:cs typeface="Calibri" pitchFamily="34" charset="-120"/>
              </a:rPr>
              <a:t>Plain straight-line baseline.</a:t>
            </a:r>
            <a:endParaRPr lang="en-US" sz="1250" dirty="0"/>
          </a:p>
        </p:txBody>
      </p:sp>
      <p:sp>
        <p:nvSpPr>
          <p:cNvPr id="8" name="Shape 6"/>
          <p:cNvSpPr/>
          <p:nvPr/>
        </p:nvSpPr>
        <p:spPr>
          <a:xfrm>
            <a:off x="3364992" y="1828800"/>
            <a:ext cx="2697480" cy="3017520"/>
          </a:xfrm>
          <a:prstGeom prst="roundRect">
            <a:avLst>
              <a:gd name="adj" fmla="val 2712"/>
            </a:avLst>
          </a:prstGeom>
          <a:solidFill>
            <a:srgbClr val="F0F7F8"/>
          </a:solidFill>
          <a:ln/>
          <a:effectLst>
            <a:outerShdw sx="100000" sy="100000" kx="0" ky="0" algn="bl" rotWithShape="0" blurRad="88900" dist="38100" dir="5400000">
              <a:srgbClr val="000000">
                <a:alpha val="12000"/>
              </a:srgbClr>
            </a:outerShdw>
          </a:effectLst>
        </p:spPr>
      </p:sp>
      <p:sp>
        <p:nvSpPr>
          <p:cNvPr id="9" name="Shape 7"/>
          <p:cNvSpPr/>
          <p:nvPr/>
        </p:nvSpPr>
        <p:spPr>
          <a:xfrm>
            <a:off x="3639312" y="2103120"/>
            <a:ext cx="502920" cy="502920"/>
          </a:xfrm>
          <a:prstGeom prst="ellipse">
            <a:avLst/>
          </a:prstGeom>
          <a:solidFill>
            <a:srgbClr val="00A896"/>
          </a:solidFill>
          <a:ln/>
        </p:spPr>
      </p:sp>
      <p:sp>
        <p:nvSpPr>
          <p:cNvPr id="10" name="Text 8"/>
          <p:cNvSpPr/>
          <p:nvPr/>
        </p:nvSpPr>
        <p:spPr>
          <a:xfrm>
            <a:off x="3621024" y="2743200"/>
            <a:ext cx="2377440" cy="640080"/>
          </a:xfrm>
          <a:prstGeom prst="rect">
            <a:avLst/>
          </a:prstGeom>
          <a:noFill/>
          <a:ln/>
        </p:spPr>
        <p:txBody>
          <a:bodyPr wrap="square" rtlCol="0" anchor="ctr"/>
          <a:lstStyle/>
          <a:p>
            <a:pPr indent="0" marL="0">
              <a:buNone/>
            </a:pPr>
            <a:r>
              <a:rPr lang="en-US" sz="1600" b="1" dirty="0">
                <a:solidFill>
                  <a:srgbClr val="0B3B44"/>
                </a:solidFill>
                <a:latin typeface="Cambria" pitchFamily="34" charset="0"/>
                <a:ea typeface="Cambria" pitchFamily="34" charset="-122"/>
                <a:cs typeface="Cambria" pitchFamily="34" charset="-120"/>
              </a:rPr>
              <a:t>Ridge</a:t>
            </a:r>
            <a:endParaRPr lang="en-US" sz="1600" dirty="0"/>
          </a:p>
        </p:txBody>
      </p:sp>
      <p:sp>
        <p:nvSpPr>
          <p:cNvPr id="11" name="Text 9"/>
          <p:cNvSpPr/>
          <p:nvPr/>
        </p:nvSpPr>
        <p:spPr>
          <a:xfrm>
            <a:off x="3639312" y="3383280"/>
            <a:ext cx="2377440" cy="1280160"/>
          </a:xfrm>
          <a:prstGeom prst="rect">
            <a:avLst/>
          </a:prstGeom>
          <a:noFill/>
          <a:ln/>
        </p:spPr>
        <p:txBody>
          <a:bodyPr wrap="square" rtlCol="0" anchor="t"/>
          <a:lstStyle/>
          <a:p>
            <a:pPr indent="0" marL="0">
              <a:buNone/>
            </a:pPr>
            <a:r>
              <a:rPr lang="en-US" sz="1250" dirty="0">
                <a:solidFill>
                  <a:srgbClr val="5B7178"/>
                </a:solidFill>
                <a:latin typeface="Calibri" pitchFamily="34" charset="0"/>
                <a:ea typeface="Calibri" pitchFamily="34" charset="-122"/>
                <a:cs typeface="Calibri" pitchFamily="34" charset="-120"/>
              </a:rPr>
              <a:t>Linear with a penalty on large coefficients.</a:t>
            </a:r>
            <a:endParaRPr lang="en-US" sz="1250" dirty="0"/>
          </a:p>
        </p:txBody>
      </p:sp>
      <p:sp>
        <p:nvSpPr>
          <p:cNvPr id="12" name="Shape 10"/>
          <p:cNvSpPr/>
          <p:nvPr/>
        </p:nvSpPr>
        <p:spPr>
          <a:xfrm>
            <a:off x="6181344" y="1828800"/>
            <a:ext cx="2697480" cy="3017520"/>
          </a:xfrm>
          <a:prstGeom prst="roundRect">
            <a:avLst>
              <a:gd name="adj" fmla="val 2712"/>
            </a:avLst>
          </a:prstGeom>
          <a:solidFill>
            <a:srgbClr val="F0F7F8"/>
          </a:solidFill>
          <a:ln/>
          <a:effectLst>
            <a:outerShdw sx="100000" sy="100000" kx="0" ky="0" algn="bl" rotWithShape="0" blurRad="88900" dist="38100" dir="5400000">
              <a:srgbClr val="000000">
                <a:alpha val="12000"/>
              </a:srgbClr>
            </a:outerShdw>
          </a:effectLst>
        </p:spPr>
      </p:sp>
      <p:sp>
        <p:nvSpPr>
          <p:cNvPr id="13" name="Shape 11"/>
          <p:cNvSpPr/>
          <p:nvPr/>
        </p:nvSpPr>
        <p:spPr>
          <a:xfrm>
            <a:off x="6455664" y="2103120"/>
            <a:ext cx="502920" cy="502920"/>
          </a:xfrm>
          <a:prstGeom prst="ellipse">
            <a:avLst/>
          </a:prstGeom>
          <a:solidFill>
            <a:srgbClr val="028090"/>
          </a:solidFill>
          <a:ln/>
        </p:spPr>
      </p:sp>
      <p:sp>
        <p:nvSpPr>
          <p:cNvPr id="14" name="Text 12"/>
          <p:cNvSpPr/>
          <p:nvPr/>
        </p:nvSpPr>
        <p:spPr>
          <a:xfrm>
            <a:off x="6437376" y="2743200"/>
            <a:ext cx="2377440" cy="640080"/>
          </a:xfrm>
          <a:prstGeom prst="rect">
            <a:avLst/>
          </a:prstGeom>
          <a:noFill/>
          <a:ln/>
        </p:spPr>
        <p:txBody>
          <a:bodyPr wrap="square" rtlCol="0" anchor="ctr"/>
          <a:lstStyle/>
          <a:p>
            <a:pPr indent="0" marL="0">
              <a:buNone/>
            </a:pPr>
            <a:r>
              <a:rPr lang="en-US" sz="1600" b="1" dirty="0">
                <a:solidFill>
                  <a:srgbClr val="0B3B44"/>
                </a:solidFill>
                <a:latin typeface="Cambria" pitchFamily="34" charset="0"/>
                <a:ea typeface="Cambria" pitchFamily="34" charset="-122"/>
                <a:cs typeface="Cambria" pitchFamily="34" charset="-120"/>
              </a:rPr>
              <a:t>Random Forest</a:t>
            </a:r>
            <a:endParaRPr lang="en-US" sz="1600" dirty="0"/>
          </a:p>
        </p:txBody>
      </p:sp>
      <p:sp>
        <p:nvSpPr>
          <p:cNvPr id="15" name="Text 13"/>
          <p:cNvSpPr/>
          <p:nvPr/>
        </p:nvSpPr>
        <p:spPr>
          <a:xfrm>
            <a:off x="6455664" y="3383280"/>
            <a:ext cx="2377440" cy="1280160"/>
          </a:xfrm>
          <a:prstGeom prst="rect">
            <a:avLst/>
          </a:prstGeom>
          <a:noFill/>
          <a:ln/>
        </p:spPr>
        <p:txBody>
          <a:bodyPr wrap="square" rtlCol="0" anchor="t"/>
          <a:lstStyle/>
          <a:p>
            <a:pPr indent="0" marL="0">
              <a:buNone/>
            </a:pPr>
            <a:r>
              <a:rPr lang="en-US" sz="1250" dirty="0">
                <a:solidFill>
                  <a:srgbClr val="5B7178"/>
                </a:solidFill>
                <a:latin typeface="Calibri" pitchFamily="34" charset="0"/>
                <a:ea typeface="Calibri" pitchFamily="34" charset="-122"/>
                <a:cs typeface="Calibri" pitchFamily="34" charset="-120"/>
              </a:rPr>
              <a:t>Many independent trees, averaged.</a:t>
            </a:r>
            <a:endParaRPr lang="en-US" sz="1250" dirty="0"/>
          </a:p>
        </p:txBody>
      </p:sp>
      <p:sp>
        <p:nvSpPr>
          <p:cNvPr id="16" name="Shape 14"/>
          <p:cNvSpPr/>
          <p:nvPr/>
        </p:nvSpPr>
        <p:spPr>
          <a:xfrm>
            <a:off x="8997696" y="1828800"/>
            <a:ext cx="2697480" cy="3017520"/>
          </a:xfrm>
          <a:prstGeom prst="roundRect">
            <a:avLst>
              <a:gd name="adj" fmla="val 2712"/>
            </a:avLst>
          </a:prstGeom>
          <a:solidFill>
            <a:srgbClr val="F0F7F8"/>
          </a:solidFill>
          <a:ln/>
          <a:effectLst>
            <a:outerShdw sx="100000" sy="100000" kx="0" ky="0" algn="bl" rotWithShape="0" blurRad="88900" dist="38100" dir="5400000">
              <a:srgbClr val="000000">
                <a:alpha val="12000"/>
              </a:srgbClr>
            </a:outerShdw>
          </a:effectLst>
        </p:spPr>
      </p:sp>
      <p:sp>
        <p:nvSpPr>
          <p:cNvPr id="17" name="Shape 15"/>
          <p:cNvSpPr/>
          <p:nvPr/>
        </p:nvSpPr>
        <p:spPr>
          <a:xfrm>
            <a:off x="9272016" y="2103120"/>
            <a:ext cx="502920" cy="502920"/>
          </a:xfrm>
          <a:prstGeom prst="ellipse">
            <a:avLst/>
          </a:prstGeom>
          <a:solidFill>
            <a:srgbClr val="0B3B44"/>
          </a:solidFill>
          <a:ln/>
        </p:spPr>
      </p:sp>
      <p:sp>
        <p:nvSpPr>
          <p:cNvPr id="18" name="Text 16"/>
          <p:cNvSpPr/>
          <p:nvPr/>
        </p:nvSpPr>
        <p:spPr>
          <a:xfrm>
            <a:off x="9253728" y="2743200"/>
            <a:ext cx="2377440" cy="640080"/>
          </a:xfrm>
          <a:prstGeom prst="rect">
            <a:avLst/>
          </a:prstGeom>
          <a:noFill/>
          <a:ln/>
        </p:spPr>
        <p:txBody>
          <a:bodyPr wrap="square" rtlCol="0" anchor="ctr"/>
          <a:lstStyle/>
          <a:p>
            <a:pPr indent="0" marL="0">
              <a:buNone/>
            </a:pPr>
            <a:r>
              <a:rPr lang="en-US" sz="1600" b="1" dirty="0">
                <a:solidFill>
                  <a:srgbClr val="0B3B44"/>
                </a:solidFill>
                <a:latin typeface="Cambria" pitchFamily="34" charset="0"/>
                <a:ea typeface="Cambria" pitchFamily="34" charset="-122"/>
                <a:cs typeface="Cambria" pitchFamily="34" charset="-120"/>
              </a:rPr>
              <a:t>Gradient Boosting</a:t>
            </a:r>
            <a:endParaRPr lang="en-US" sz="1600" dirty="0"/>
          </a:p>
        </p:txBody>
      </p:sp>
      <p:sp>
        <p:nvSpPr>
          <p:cNvPr id="19" name="Text 17"/>
          <p:cNvSpPr/>
          <p:nvPr/>
        </p:nvSpPr>
        <p:spPr>
          <a:xfrm>
            <a:off x="9272016" y="3383280"/>
            <a:ext cx="2377440" cy="1280160"/>
          </a:xfrm>
          <a:prstGeom prst="rect">
            <a:avLst/>
          </a:prstGeom>
          <a:noFill/>
          <a:ln/>
        </p:spPr>
        <p:txBody>
          <a:bodyPr wrap="square" rtlCol="0" anchor="t"/>
          <a:lstStyle/>
          <a:p>
            <a:pPr indent="0" marL="0">
              <a:buNone/>
            </a:pPr>
            <a:r>
              <a:rPr lang="en-US" sz="1250" dirty="0">
                <a:solidFill>
                  <a:srgbClr val="5B7178"/>
                </a:solidFill>
                <a:latin typeface="Calibri" pitchFamily="34" charset="0"/>
                <a:ea typeface="Calibri" pitchFamily="34" charset="-122"/>
                <a:cs typeface="Calibri" pitchFamily="34" charset="-120"/>
              </a:rPr>
              <a:t>Trees built in sequence, each fixing the last.</a:t>
            </a:r>
            <a:endParaRPr lang="en-US" sz="1250" dirty="0"/>
          </a:p>
        </p:txBody>
      </p:sp>
      <p:sp>
        <p:nvSpPr>
          <p:cNvPr id="20" name="Text 18"/>
          <p:cNvSpPr/>
          <p:nvPr/>
        </p:nvSpPr>
        <p:spPr>
          <a:xfrm>
            <a:off x="548640" y="5120640"/>
            <a:ext cx="10972800" cy="365760"/>
          </a:xfrm>
          <a:prstGeom prst="rect">
            <a:avLst/>
          </a:prstGeom>
          <a:noFill/>
          <a:ln/>
        </p:spPr>
        <p:txBody>
          <a:bodyPr wrap="square" rtlCol="0" anchor="ctr"/>
          <a:lstStyle/>
          <a:p>
            <a:pPr indent="0" marL="0">
              <a:buNone/>
            </a:pPr>
            <a:r>
              <a:rPr lang="en-US" sz="1300" i="1" dirty="0">
                <a:solidFill>
                  <a:srgbClr val="5B7178"/>
                </a:solidFill>
                <a:latin typeface="Calibri" pitchFamily="34" charset="0"/>
                <a:ea typeface="Calibri" pitchFamily="34" charset="-122"/>
                <a:cs typeface="Calibri" pitchFamily="34" charset="-120"/>
              </a:rPr>
              <a:t>Same split (seed 42), same three metrics. We pick the final model by hand, not automatically.</a:t>
            </a:r>
            <a:endParaRPr lang="en-US" sz="1300" dirty="0"/>
          </a:p>
        </p:txBody>
      </p:sp>
      <p:sp>
        <p:nvSpPr>
          <p:cNvPr id="21" name="Text 19"/>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22" name="Text 20"/>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The tree models win, Random Forest first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760720" cy="914400"/>
        </p:xfrm>
        <a:graphic>
          <a:graphicData uri="http://schemas.openxmlformats.org/drawingml/2006/table">
            <a:tbl>
              <a:tblPr/>
              <a:tblGrid>
                <a:gridCol w="2468880"/>
                <a:gridCol w="1097280"/>
                <a:gridCol w="1097280"/>
                <a:gridCol w="109728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0B3B4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MAE</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0B3B4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RMSE</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0B3B4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R²</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0B3B44"/>
                    </a:solidFill>
                  </a:tcPr>
                </a:tc>
              </a:tr>
              <a:tr h="457200">
                <a:tc>
                  <a:txBody>
                    <a:bodyPr/>
                    <a:lstStyle/>
                    <a:p>
                      <a:pPr indent="0" marL="0">
                        <a:buNone/>
                      </a:pPr>
                      <a:r>
                        <a:rPr lang="en-US" sz="1250" b="1" dirty="0">
                          <a:solidFill>
                            <a:srgbClr val="1C2B30"/>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DDF2EF"/>
                    </a:solidFill>
                  </a:tcPr>
                </a:tc>
                <a:tc>
                  <a:txBody>
                    <a:bodyPr/>
                    <a:lstStyle/>
                    <a:p>
                      <a:pPr algn="ctr" indent="0" marL="0">
                        <a:buNone/>
                      </a:pPr>
                      <a:r>
                        <a:rPr lang="en-US" sz="1250" b="1" dirty="0">
                          <a:solidFill>
                            <a:srgbClr val="1C2B30"/>
                          </a:solidFill>
                          <a:latin typeface="Calibri" pitchFamily="34" charset="0"/>
                          <a:ea typeface="Calibri" pitchFamily="34" charset="-122"/>
                          <a:cs typeface="Calibri" pitchFamily="34" charset="-120"/>
                        </a:rPr>
                        <a:t>0.285</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DDF2EF"/>
                    </a:solidFill>
                  </a:tcPr>
                </a:tc>
                <a:tc>
                  <a:txBody>
                    <a:bodyPr/>
                    <a:lstStyle/>
                    <a:p>
                      <a:pPr algn="ctr" indent="0" marL="0">
                        <a:buNone/>
                      </a:pPr>
                      <a:r>
                        <a:rPr lang="en-US" sz="1250" b="1" dirty="0">
                          <a:solidFill>
                            <a:srgbClr val="1C2B30"/>
                          </a:solidFill>
                          <a:latin typeface="Calibri" pitchFamily="34" charset="0"/>
                          <a:ea typeface="Calibri" pitchFamily="34" charset="-122"/>
                          <a:cs typeface="Calibri" pitchFamily="34" charset="-120"/>
                        </a:rPr>
                        <a:t>0.396</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DDF2EF"/>
                    </a:solidFill>
                  </a:tcPr>
                </a:tc>
                <a:tc>
                  <a:txBody>
                    <a:bodyPr/>
                    <a:lstStyle/>
                    <a:p>
                      <a:pPr algn="ctr" indent="0" marL="0">
                        <a:buNone/>
                      </a:pPr>
                      <a:r>
                        <a:rPr lang="en-US" sz="1250" b="1" dirty="0">
                          <a:solidFill>
                            <a:srgbClr val="1C2B30"/>
                          </a:solidFill>
                          <a:latin typeface="Calibri" pitchFamily="34" charset="0"/>
                          <a:ea typeface="Calibri" pitchFamily="34" charset="-122"/>
                          <a:cs typeface="Calibri" pitchFamily="34" charset="-120"/>
                        </a:rPr>
                        <a:t>0.695</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solidFill>
                      <a:srgbClr val="DDF2EF"/>
                    </a:solidFill>
                  </a:tcPr>
                </a:tc>
              </a:tr>
              <a:tr h="457200">
                <a:tc>
                  <a:txBody>
                    <a:bodyPr/>
                    <a:lstStyle/>
                    <a:p>
                      <a:pPr indent="0" marL="0">
                        <a:buNone/>
                      </a:pPr>
                      <a:r>
                        <a:rPr lang="en-US" sz="1250" dirty="0">
                          <a:solidFill>
                            <a:srgbClr val="1C2B30"/>
                          </a:solidFill>
                          <a:latin typeface="Calibri" pitchFamily="34" charset="0"/>
                          <a:ea typeface="Calibri" pitchFamily="34" charset="-122"/>
                          <a:cs typeface="Calibri" pitchFamily="34" charset="-120"/>
                        </a:rPr>
                        <a:t>Gradient Boosting</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ctr" indent="0" marL="0">
                        <a:buNone/>
                      </a:pPr>
                      <a:r>
                        <a:rPr lang="en-US" sz="1250" dirty="0">
                          <a:solidFill>
                            <a:srgbClr val="1C2B30"/>
                          </a:solidFill>
                          <a:latin typeface="Calibri" pitchFamily="34" charset="0"/>
                          <a:ea typeface="Calibri" pitchFamily="34" charset="-122"/>
                          <a:cs typeface="Calibri" pitchFamily="34" charset="-120"/>
                        </a:rPr>
                        <a:t>0.303</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ctr" indent="0" marL="0">
                        <a:buNone/>
                      </a:pPr>
                      <a:r>
                        <a:rPr lang="en-US" sz="1250" dirty="0">
                          <a:solidFill>
                            <a:srgbClr val="1C2B30"/>
                          </a:solidFill>
                          <a:latin typeface="Calibri" pitchFamily="34" charset="0"/>
                          <a:ea typeface="Calibri" pitchFamily="34" charset="-122"/>
                          <a:cs typeface="Calibri" pitchFamily="34" charset="-120"/>
                        </a:rPr>
                        <a:t>0.413</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ctr" indent="0" marL="0">
                        <a:buNone/>
                      </a:pPr>
                      <a:r>
                        <a:rPr lang="en-US" sz="1250" dirty="0">
                          <a:solidFill>
                            <a:srgbClr val="1C2B30"/>
                          </a:solidFill>
                          <a:latin typeface="Calibri" pitchFamily="34" charset="0"/>
                          <a:ea typeface="Calibri" pitchFamily="34" charset="-122"/>
                          <a:cs typeface="Calibri" pitchFamily="34" charset="-120"/>
                        </a:rPr>
                        <a:t>0.667</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r>
              <a:tr h="457200">
                <a:tc>
                  <a:txBody>
                    <a:bodyPr/>
                    <a:lstStyle/>
                    <a:p>
                      <a:pPr indent="0" marL="0">
                        <a:buNone/>
                      </a:pPr>
                      <a:r>
                        <a:rPr lang="en-US" sz="1250" dirty="0">
                          <a:solidFill>
                            <a:srgbClr val="1C2B30"/>
                          </a:solidFill>
                          <a:latin typeface="Calibri" pitchFamily="34" charset="0"/>
                          <a:ea typeface="Calibri" pitchFamily="34" charset="-122"/>
                          <a:cs typeface="Calibri" pitchFamily="34" charset="-120"/>
                        </a:rPr>
                        <a:t>Linear Regression</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ctr" indent="0" marL="0">
                        <a:buNone/>
                      </a:pPr>
                      <a:r>
                        <a:rPr lang="en-US" sz="1250" dirty="0">
                          <a:solidFill>
                            <a:srgbClr val="1C2B30"/>
                          </a:solidFill>
                          <a:latin typeface="Calibri" pitchFamily="34" charset="0"/>
                          <a:ea typeface="Calibri" pitchFamily="34" charset="-122"/>
                          <a:cs typeface="Calibri" pitchFamily="34" charset="-120"/>
                        </a:rPr>
                        <a:t>0.368</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ctr" indent="0" marL="0">
                        <a:buNone/>
                      </a:pPr>
                      <a:r>
                        <a:rPr lang="en-US" sz="1250" dirty="0">
                          <a:solidFill>
                            <a:srgbClr val="1C2B30"/>
                          </a:solidFill>
                          <a:latin typeface="Calibri" pitchFamily="34" charset="0"/>
                          <a:ea typeface="Calibri" pitchFamily="34" charset="-122"/>
                          <a:cs typeface="Calibri" pitchFamily="34" charset="-120"/>
                        </a:rPr>
                        <a:t>0.489</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ctr" indent="0" marL="0">
                        <a:buNone/>
                      </a:pPr>
                      <a:r>
                        <a:rPr lang="en-US" sz="1250" dirty="0">
                          <a:solidFill>
                            <a:srgbClr val="1C2B30"/>
                          </a:solidFill>
                          <a:latin typeface="Calibri" pitchFamily="34" charset="0"/>
                          <a:ea typeface="Calibri" pitchFamily="34" charset="-122"/>
                          <a:cs typeface="Calibri" pitchFamily="34" charset="-120"/>
                        </a:rPr>
                        <a:t>0.535</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r>
              <a:tr h="457200">
                <a:tc>
                  <a:txBody>
                    <a:bodyPr/>
                    <a:lstStyle/>
                    <a:p>
                      <a:pPr indent="0" marL="0">
                        <a:buNone/>
                      </a:pPr>
                      <a:r>
                        <a:rPr lang="en-US" sz="1250" dirty="0">
                          <a:solidFill>
                            <a:srgbClr val="1C2B30"/>
                          </a:solidFill>
                          <a:latin typeface="Calibri" pitchFamily="34" charset="0"/>
                          <a:ea typeface="Calibri" pitchFamily="34" charset="-122"/>
                          <a:cs typeface="Calibri" pitchFamily="34" charset="-120"/>
                        </a:rPr>
                        <a:t>Ridge Regression</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ctr" indent="0" marL="0">
                        <a:buNone/>
                      </a:pPr>
                      <a:r>
                        <a:rPr lang="en-US" sz="1250" dirty="0">
                          <a:solidFill>
                            <a:srgbClr val="1C2B30"/>
                          </a:solidFill>
                          <a:latin typeface="Calibri" pitchFamily="34" charset="0"/>
                          <a:ea typeface="Calibri" pitchFamily="34" charset="-122"/>
                          <a:cs typeface="Calibri" pitchFamily="34" charset="-120"/>
                        </a:rPr>
                        <a:t>0.368</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ctr" indent="0" marL="0">
                        <a:buNone/>
                      </a:pPr>
                      <a:r>
                        <a:rPr lang="en-US" sz="1250" dirty="0">
                          <a:solidFill>
                            <a:srgbClr val="1C2B30"/>
                          </a:solidFill>
                          <a:latin typeface="Calibri" pitchFamily="34" charset="0"/>
                          <a:ea typeface="Calibri" pitchFamily="34" charset="-122"/>
                          <a:cs typeface="Calibri" pitchFamily="34" charset="-120"/>
                        </a:rPr>
                        <a:t>0.489</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c>
                  <a:txBody>
                    <a:bodyPr/>
                    <a:lstStyle/>
                    <a:p>
                      <a:pPr algn="ctr" indent="0" marL="0">
                        <a:buNone/>
                      </a:pPr>
                      <a:r>
                        <a:rPr lang="en-US" sz="1250" dirty="0">
                          <a:solidFill>
                            <a:srgbClr val="1C2B30"/>
                          </a:solidFill>
                          <a:latin typeface="Calibri" pitchFamily="34" charset="0"/>
                          <a:ea typeface="Calibri" pitchFamily="34" charset="-122"/>
                          <a:cs typeface="Calibri" pitchFamily="34" charset="-120"/>
                        </a:rPr>
                        <a:t>0.535</a:t>
                      </a:r>
                      <a:endParaRPr lang="en-US" sz="1250" dirty="0">
                        <a:latin typeface="Calibri" charset="0"/>
                        <a:ea typeface="Calibri" charset="0"/>
                        <a:cs typeface="Calibri" charset="0"/>
                      </a:endParaRPr>
                    </a:p>
                  </a:txBody>
                  <a:tcPr marL="91440" marR="91440" marT="45720" marB="45720" anchor="ctr">
                    <a:lnL w="6350" cap="flat" cmpd="sng" algn="ctr">
                      <a:solidFill>
                        <a:srgbClr val="D8E6E8"/>
                      </a:solidFill>
                      <a:prstDash val="solid"/>
                      <a:round/>
                      <a:headEnd type="none" w="med" len="med"/>
                      <a:tailEnd type="none" w="med" len="med"/>
                    </a:lnL>
                    <a:lnR w="6350" cap="flat" cmpd="sng" algn="ctr">
                      <a:solidFill>
                        <a:srgbClr val="D8E6E8"/>
                      </a:solidFill>
                      <a:prstDash val="solid"/>
                      <a:round/>
                      <a:headEnd type="none" w="med" len="med"/>
                      <a:tailEnd type="none" w="med" len="med"/>
                    </a:lnR>
                    <a:lnT w="6350" cap="flat" cmpd="sng" algn="ctr">
                      <a:solidFill>
                        <a:srgbClr val="D8E6E8"/>
                      </a:solidFill>
                      <a:prstDash val="solid"/>
                      <a:round/>
                      <a:headEnd type="none" w="med" len="med"/>
                      <a:tailEnd type="none" w="med" len="med"/>
                    </a:lnT>
                    <a:lnB w="6350" cap="flat" cmpd="sng" algn="ctr">
                      <a:solidFill>
                        <a:srgbClr val="D8E6E8"/>
                      </a:solidFill>
                      <a:prstDash val="solid"/>
                      <a:round/>
                      <a:headEnd type="none" w="med" len="med"/>
                      <a:tailEnd type="none" w="med" len="med"/>
                    </a:lnB>
                  </a:tcPr>
                </a:tc>
              </a:tr>
            </a:tbl>
          </a:graphicData>
        </a:graphic>
      </p:graphicFrame>
      <p:sp>
        <p:nvSpPr>
          <p:cNvPr id="5" name="Text 2"/>
          <p:cNvSpPr/>
          <p:nvPr/>
        </p:nvSpPr>
        <p:spPr>
          <a:xfrm>
            <a:off x="548640" y="4160520"/>
            <a:ext cx="5760720" cy="1097280"/>
          </a:xfrm>
          <a:prstGeom prst="rect">
            <a:avLst/>
          </a:prstGeom>
          <a:noFill/>
          <a:ln/>
        </p:spPr>
        <p:txBody>
          <a:bodyPr wrap="square" rtlCol="0" anchor="t"/>
          <a:lstStyle/>
          <a:p>
            <a:pPr indent="0" marL="0">
              <a:buNone/>
            </a:pPr>
            <a:r>
              <a:rPr lang="en-US" sz="1300" i="1" dirty="0">
                <a:solidFill>
                  <a:srgbClr val="5B7178"/>
                </a:solidFill>
                <a:latin typeface="Calibri" pitchFamily="34" charset="0"/>
                <a:ea typeface="Calibri" pitchFamily="34" charset="-122"/>
                <a:cs typeface="Calibri" pitchFamily="34" charset="-120"/>
              </a:rPr>
              <a:t>The two linear models tie: with scaled features the Ridge penalty barely changes the fit. We kept the Random Forest, which also gives feature importances.</a:t>
            </a:r>
            <a:endParaRPr lang="en-US" sz="1300" dirty="0"/>
          </a:p>
        </p:txBody>
      </p:sp>
      <p:pic>
        <p:nvPicPr>
          <p:cNvPr id="6" name="Image 0" descr="/home/claude/deck/figures/model_compare.png">    </p:cNvPr>
          <p:cNvPicPr>
            <a:picLocks noChangeAspect="1"/>
          </p:cNvPicPr>
          <p:nvPr/>
        </p:nvPicPr>
        <p:blipFill>
          <a:blip r:embed="rId1"/>
          <a:stretch>
            <a:fillRect/>
          </a:stretch>
        </p:blipFill>
        <p:spPr>
          <a:xfrm>
            <a:off x="6492240" y="2829546"/>
            <a:ext cx="5394960" cy="1473228"/>
          </a:xfrm>
          <a:prstGeom prst="rect">
            <a:avLst/>
          </a:prstGeom>
        </p:spPr>
      </p:pic>
      <p:sp>
        <p:nvSpPr>
          <p:cNvPr id="7" name="Text 3"/>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8" name="Text 4"/>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What it uses, and is it healthy</a:t>
            </a:r>
            <a:endParaRPr lang="en-US" sz="3000" dirty="0"/>
          </a:p>
        </p:txBody>
      </p:sp>
      <p:pic>
        <p:nvPicPr>
          <p:cNvPr id="4" name="Image 0" descr="/home/claude/deck/figures/importance.png">    </p:cNvPr>
          <p:cNvPicPr>
            <a:picLocks noChangeAspect="1"/>
          </p:cNvPicPr>
          <p:nvPr/>
        </p:nvPicPr>
        <p:blipFill>
          <a:blip r:embed="rId1"/>
          <a:stretch>
            <a:fillRect/>
          </a:stretch>
        </p:blipFill>
        <p:spPr>
          <a:xfrm>
            <a:off x="693938" y="1737360"/>
            <a:ext cx="5287244" cy="4206240"/>
          </a:xfrm>
          <a:prstGeom prst="rect">
            <a:avLst/>
          </a:prstGeom>
        </p:spPr>
      </p:pic>
      <p:sp>
        <p:nvSpPr>
          <p:cNvPr id="5" name="Shape 2"/>
          <p:cNvSpPr/>
          <p:nvPr/>
        </p:nvSpPr>
        <p:spPr>
          <a:xfrm>
            <a:off x="6492240" y="1828800"/>
            <a:ext cx="5120640" cy="1874520"/>
          </a:xfrm>
          <a:prstGeom prst="roundRect">
            <a:avLst>
              <a:gd name="adj" fmla="val 3902"/>
            </a:avLst>
          </a:prstGeom>
          <a:solidFill>
            <a:srgbClr val="F0F7F8"/>
          </a:solidFill>
          <a:ln/>
          <a:effectLst>
            <a:outerShdw sx="100000" sy="100000" kx="0" ky="0" algn="bl" rotWithShape="0" blurRad="88900" dist="38100" dir="5400000">
              <a:srgbClr val="000000">
                <a:alpha val="12000"/>
              </a:srgbClr>
            </a:outerShdw>
          </a:effectLst>
        </p:spPr>
      </p:sp>
      <p:sp>
        <p:nvSpPr>
          <p:cNvPr id="6" name="Text 3"/>
          <p:cNvSpPr/>
          <p:nvPr/>
        </p:nvSpPr>
        <p:spPr>
          <a:xfrm>
            <a:off x="6720840" y="1965960"/>
            <a:ext cx="4572000" cy="320040"/>
          </a:xfrm>
          <a:prstGeom prst="rect">
            <a:avLst/>
          </a:prstGeom>
          <a:noFill/>
          <a:ln/>
        </p:spPr>
        <p:txBody>
          <a:bodyPr wrap="square" rtlCol="0" anchor="ctr"/>
          <a:lstStyle/>
          <a:p>
            <a:pPr indent="0" marL="0">
              <a:buNone/>
            </a:pPr>
            <a:r>
              <a:rPr lang="en-US" sz="1400" b="1" dirty="0">
                <a:solidFill>
                  <a:srgbClr val="0B3B44"/>
                </a:solidFill>
                <a:latin typeface="Calibri" pitchFamily="34" charset="0"/>
                <a:ea typeface="Calibri" pitchFamily="34" charset="-122"/>
                <a:cs typeface="Calibri" pitchFamily="34" charset="-120"/>
              </a:rPr>
              <a:t>Top drivers</a:t>
            </a:r>
            <a:endParaRPr lang="en-US" sz="1400" dirty="0"/>
          </a:p>
        </p:txBody>
      </p:sp>
      <p:sp>
        <p:nvSpPr>
          <p:cNvPr id="7" name="Text 4"/>
          <p:cNvSpPr/>
          <p:nvPr/>
        </p:nvSpPr>
        <p:spPr>
          <a:xfrm>
            <a:off x="6766560" y="2331720"/>
            <a:ext cx="4663440" cy="1280160"/>
          </a:xfrm>
          <a:prstGeom prst="rect">
            <a:avLst/>
          </a:prstGeom>
          <a:noFill/>
          <a:ln/>
        </p:spPr>
        <p:txBody>
          <a:bodyPr wrap="square" rtlCol="0" anchor="t"/>
          <a:lstStyle/>
          <a:p>
            <a:pPr marL="342900" indent="-342900">
              <a:spcAft>
                <a:spcPts val="500"/>
              </a:spcAft>
              <a:buSzPct val="100000"/>
              <a:buChar char="•"/>
            </a:pPr>
            <a:r>
              <a:rPr lang="en-US" sz="1300" dirty="0">
                <a:solidFill>
                  <a:srgbClr val="1C2B30"/>
                </a:solidFill>
                <a:latin typeface="Calibri" pitchFamily="34" charset="0"/>
                <a:ea typeface="Calibri" pitchFamily="34" charset="-122"/>
                <a:cs typeface="Calibri" pitchFamily="34" charset="-120"/>
              </a:rPr>
              <a:t>Room type — about 37%</a:t>
            </a:r>
            <a:endParaRPr lang="en-US" sz="1300" dirty="0"/>
          </a:p>
          <a:p>
            <a:pPr marL="342900" indent="-342900">
              <a:spcAft>
                <a:spcPts val="500"/>
              </a:spcAft>
              <a:buSzPct val="100000"/>
              <a:buChar char="•"/>
            </a:pPr>
            <a:r>
              <a:rPr lang="en-US" sz="1300" dirty="0">
                <a:solidFill>
                  <a:srgbClr val="1C2B30"/>
                </a:solidFill>
                <a:latin typeface="Calibri" pitchFamily="34" charset="0"/>
                <a:ea typeface="Calibri" pitchFamily="34" charset="-122"/>
                <a:cs typeface="Calibri" pitchFamily="34" charset="-120"/>
              </a:rPr>
              <a:t>Location (long + lat) — about 28%</a:t>
            </a:r>
            <a:endParaRPr lang="en-US" sz="1300" dirty="0"/>
          </a:p>
          <a:p>
            <a:pPr marL="342900" indent="-342900">
              <a:buSzPct val="100000"/>
              <a:buChar char="•"/>
            </a:pPr>
            <a:r>
              <a:rPr lang="en-US" sz="1300" dirty="0">
                <a:solidFill>
                  <a:srgbClr val="1C2B30"/>
                </a:solidFill>
                <a:latin typeface="Calibri" pitchFamily="34" charset="0"/>
                <a:ea typeface="Calibri" pitchFamily="34" charset="-122"/>
                <a:cs typeface="Calibri" pitchFamily="34" charset="-120"/>
              </a:rPr>
              <a:t>Bathrooms — about 12%</a:t>
            </a:r>
            <a:endParaRPr lang="en-US" sz="1300" dirty="0"/>
          </a:p>
        </p:txBody>
      </p:sp>
      <p:sp>
        <p:nvSpPr>
          <p:cNvPr id="8" name="Shape 5"/>
          <p:cNvSpPr/>
          <p:nvPr/>
        </p:nvSpPr>
        <p:spPr>
          <a:xfrm>
            <a:off x="6492240" y="3886200"/>
            <a:ext cx="5120640" cy="1874520"/>
          </a:xfrm>
          <a:prstGeom prst="roundRect">
            <a:avLst>
              <a:gd name="adj" fmla="val 3902"/>
            </a:avLst>
          </a:prstGeom>
          <a:solidFill>
            <a:srgbClr val="F0F7F8"/>
          </a:solidFill>
          <a:ln/>
          <a:effectLst>
            <a:outerShdw sx="100000" sy="100000" kx="0" ky="0" algn="bl" rotWithShape="0" blurRad="88900" dist="38100" dir="5400000">
              <a:srgbClr val="000000">
                <a:alpha val="12000"/>
              </a:srgbClr>
            </a:outerShdw>
          </a:effectLst>
        </p:spPr>
      </p:sp>
      <p:sp>
        <p:nvSpPr>
          <p:cNvPr id="9" name="Text 6"/>
          <p:cNvSpPr/>
          <p:nvPr/>
        </p:nvSpPr>
        <p:spPr>
          <a:xfrm>
            <a:off x="6720840" y="4023360"/>
            <a:ext cx="4572000" cy="320040"/>
          </a:xfrm>
          <a:prstGeom prst="rect">
            <a:avLst/>
          </a:prstGeom>
          <a:noFill/>
          <a:ln/>
        </p:spPr>
        <p:txBody>
          <a:bodyPr wrap="square" rtlCol="0" anchor="ctr"/>
          <a:lstStyle/>
          <a:p>
            <a:pPr indent="0" marL="0">
              <a:buNone/>
            </a:pPr>
            <a:r>
              <a:rPr lang="en-US" sz="1400" b="1" dirty="0">
                <a:solidFill>
                  <a:srgbClr val="0B3B44"/>
                </a:solidFill>
                <a:latin typeface="Calibri" pitchFamily="34" charset="0"/>
                <a:ea typeface="Calibri" pitchFamily="34" charset="-122"/>
                <a:cs typeface="Calibri" pitchFamily="34" charset="-120"/>
              </a:rPr>
              <a:t>Is the model healthy?</a:t>
            </a:r>
            <a:endParaRPr lang="en-US" sz="1400" dirty="0"/>
          </a:p>
        </p:txBody>
      </p:sp>
      <p:sp>
        <p:nvSpPr>
          <p:cNvPr id="10" name="Text 7"/>
          <p:cNvSpPr/>
          <p:nvPr/>
        </p:nvSpPr>
        <p:spPr>
          <a:xfrm>
            <a:off x="6766560" y="4389120"/>
            <a:ext cx="4663440" cy="1280160"/>
          </a:xfrm>
          <a:prstGeom prst="rect">
            <a:avLst/>
          </a:prstGeom>
          <a:noFill/>
          <a:ln/>
        </p:spPr>
        <p:txBody>
          <a:bodyPr wrap="square" rtlCol="0" anchor="t"/>
          <a:lstStyle/>
          <a:p>
            <a:pPr marL="342900" indent="-342900">
              <a:spcAft>
                <a:spcPts val="500"/>
              </a:spcAft>
              <a:buSzPct val="100000"/>
              <a:buChar char="•"/>
            </a:pPr>
            <a:r>
              <a:rPr lang="en-US" sz="1300" dirty="0">
                <a:solidFill>
                  <a:srgbClr val="1C2B30"/>
                </a:solidFill>
                <a:latin typeface="Calibri" pitchFamily="34" charset="0"/>
                <a:ea typeface="Calibri" pitchFamily="34" charset="-122"/>
                <a:cs typeface="Calibri" pitchFamily="34" charset="-120"/>
              </a:rPr>
              <a:t>Predictions line up along the diagonal.</a:t>
            </a:r>
            <a:endParaRPr lang="en-US" sz="1300" dirty="0"/>
          </a:p>
          <a:p>
            <a:pPr marL="342900" indent="-342900">
              <a:spcAft>
                <a:spcPts val="500"/>
              </a:spcAft>
              <a:buSzPct val="100000"/>
              <a:buChar char="•"/>
            </a:pPr>
            <a:r>
              <a:rPr lang="en-US" sz="1300" dirty="0">
                <a:solidFill>
                  <a:srgbClr val="1C2B30"/>
                </a:solidFill>
                <a:latin typeface="Calibri" pitchFamily="34" charset="0"/>
                <a:ea typeface="Calibri" pitchFamily="34" charset="-122"/>
                <a:cs typeface="Calibri" pitchFamily="34" charset="-120"/>
              </a:rPr>
              <a:t>Residuals are centered on zero, no pattern.</a:t>
            </a:r>
            <a:endParaRPr lang="en-US" sz="1300" dirty="0"/>
          </a:p>
          <a:p>
            <a:pPr marL="342900" indent="-342900">
              <a:buSzPct val="100000"/>
              <a:buChar char="•"/>
            </a:pPr>
            <a:r>
              <a:rPr lang="en-US" sz="1300" dirty="0">
                <a:solidFill>
                  <a:srgbClr val="1C2B30"/>
                </a:solidFill>
                <a:latin typeface="Calibri" pitchFamily="34" charset="0"/>
                <a:ea typeface="Calibri" pitchFamily="34" charset="-122"/>
                <a:cs typeface="Calibri" pitchFamily="34" charset="-120"/>
              </a:rPr>
              <a:t>So it isn't systematically over or under predicting.</a:t>
            </a:r>
            <a:endParaRPr lang="en-US" sz="1300" dirty="0"/>
          </a:p>
        </p:txBody>
      </p:sp>
      <p:sp>
        <p:nvSpPr>
          <p:cNvPr id="11" name="Text 8"/>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12" name="Text 9"/>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Predictions on the test file</a:t>
            </a:r>
            <a:endParaRPr lang="en-US" sz="3000" dirty="0"/>
          </a:p>
        </p:txBody>
      </p:sp>
      <p:pic>
        <p:nvPicPr>
          <p:cNvPr id="4" name="Image 0" descr="/home/claude/deck/figures/test_pred.png">    </p:cNvPr>
          <p:cNvPicPr>
            <a:picLocks noChangeAspect="1"/>
          </p:cNvPicPr>
          <p:nvPr/>
        </p:nvPicPr>
        <p:blipFill>
          <a:blip r:embed="rId1"/>
          <a:stretch>
            <a:fillRect/>
          </a:stretch>
        </p:blipFill>
        <p:spPr>
          <a:xfrm>
            <a:off x="1758391" y="2194560"/>
            <a:ext cx="8644738" cy="2651760"/>
          </a:xfrm>
          <a:prstGeom prst="rect">
            <a:avLst/>
          </a:prstGeom>
        </p:spPr>
      </p:pic>
      <p:sp>
        <p:nvSpPr>
          <p:cNvPr id="5" name="Text 2"/>
          <p:cNvSpPr/>
          <p:nvPr/>
        </p:nvSpPr>
        <p:spPr>
          <a:xfrm>
            <a:off x="822960" y="5029200"/>
            <a:ext cx="10515600" cy="914400"/>
          </a:xfrm>
          <a:prstGeom prst="rect">
            <a:avLst/>
          </a:prstGeom>
          <a:noFill/>
          <a:ln/>
        </p:spPr>
        <p:txBody>
          <a:bodyPr wrap="square" rtlCol="0" anchor="t"/>
          <a:lstStyle/>
          <a:p>
            <a:pPr algn="ctr" indent="0" marL="0">
              <a:buNone/>
            </a:pPr>
            <a:r>
              <a:rPr lang="en-US" sz="1350" dirty="0">
                <a:solidFill>
                  <a:srgbClr val="1C2B30"/>
                </a:solidFill>
                <a:latin typeface="Calibri" pitchFamily="34" charset="0"/>
                <a:ea typeface="Calibri" pitchFamily="34" charset="-122"/>
                <a:cs typeface="Calibri" pitchFamily="34" charset="-120"/>
              </a:rPr>
              <a:t>The test file has no real prices, so we can't score it. </a:t>
            </a:r>
            <a:pPr algn="ctr" indent="0" marL="0">
              <a:buNone/>
            </a:pPr>
            <a:r>
              <a:rPr lang="en-US" sz="1350" dirty="0">
                <a:solidFill>
                  <a:srgbClr val="1C2B30"/>
                </a:solidFill>
                <a:latin typeface="Calibri" pitchFamily="34" charset="0"/>
                <a:ea typeface="Calibri" pitchFamily="34" charset="-122"/>
                <a:cs typeface="Calibri" pitchFamily="34" charset="-120"/>
              </a:rPr>
              <a:t>But the prices the model predicts for it follow almost the same distribution as our validation predictions, so it behaves consistently on unseen data. We saved all 25,458 predictions to airbnb_predictions.csv.</a:t>
            </a:r>
            <a:endParaRPr lang="en-US" sz="1350" dirty="0"/>
          </a:p>
        </p:txBody>
      </p:sp>
      <p:sp>
        <p:nvSpPr>
          <p:cNvPr id="6" name="Text 3"/>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7" name="Text 4"/>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RESPONSIBLE AI</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Bias, privacy, and honest reporting</a:t>
            </a:r>
            <a:endParaRPr lang="en-US" sz="3000" dirty="0"/>
          </a:p>
        </p:txBody>
      </p:sp>
      <p:sp>
        <p:nvSpPr>
          <p:cNvPr id="4" name="Shape 2"/>
          <p:cNvSpPr/>
          <p:nvPr/>
        </p:nvSpPr>
        <p:spPr>
          <a:xfrm>
            <a:off x="548640" y="1783080"/>
            <a:ext cx="5440680" cy="1554480"/>
          </a:xfrm>
          <a:prstGeom prst="roundRect">
            <a:avLst>
              <a:gd name="adj" fmla="val 4706"/>
            </a:avLst>
          </a:prstGeom>
          <a:solidFill>
            <a:srgbClr val="F0F7F8"/>
          </a:solidFill>
          <a:ln/>
          <a:effectLst>
            <a:outerShdw sx="100000" sy="100000" kx="0" ky="0" algn="bl" rotWithShape="0" blurRad="88900" dist="38100" dir="5400000">
              <a:srgbClr val="000000">
                <a:alpha val="12000"/>
              </a:srgbClr>
            </a:outerShdw>
          </a:effectLst>
        </p:spPr>
      </p:sp>
      <p:sp>
        <p:nvSpPr>
          <p:cNvPr id="5" name="Shape 3"/>
          <p:cNvSpPr/>
          <p:nvPr/>
        </p:nvSpPr>
        <p:spPr>
          <a:xfrm>
            <a:off x="822960" y="2103120"/>
            <a:ext cx="502920" cy="502920"/>
          </a:xfrm>
          <a:prstGeom prst="ellipse">
            <a:avLst/>
          </a:prstGeom>
          <a:solidFill>
            <a:srgbClr val="02C39A"/>
          </a:solidFill>
          <a:ln/>
        </p:spPr>
      </p:sp>
      <p:sp>
        <p:nvSpPr>
          <p:cNvPr id="6" name="Text 4"/>
          <p:cNvSpPr/>
          <p:nvPr/>
        </p:nvSpPr>
        <p:spPr>
          <a:xfrm>
            <a:off x="1508760" y="2039112"/>
            <a:ext cx="4297680" cy="36576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Geographic bias</a:t>
            </a:r>
            <a:endParaRPr lang="en-US" sz="1500" dirty="0"/>
          </a:p>
        </p:txBody>
      </p:sp>
      <p:sp>
        <p:nvSpPr>
          <p:cNvPr id="7" name="Text 5"/>
          <p:cNvSpPr/>
          <p:nvPr/>
        </p:nvSpPr>
        <p:spPr>
          <a:xfrm>
            <a:off x="1508760" y="2441448"/>
            <a:ext cx="4343400" cy="777240"/>
          </a:xfrm>
          <a:prstGeom prst="rect">
            <a:avLst/>
          </a:prstGeom>
          <a:noFill/>
          <a:ln/>
        </p:spPr>
        <p:txBody>
          <a:bodyPr wrap="square" rtlCol="0" anchor="t"/>
          <a:lstStyle/>
          <a:p>
            <a:pPr indent="0" marL="0">
              <a:buNone/>
            </a:pPr>
            <a:r>
              <a:rPr lang="en-US" sz="1250" dirty="0">
                <a:solidFill>
                  <a:srgbClr val="5B7178"/>
                </a:solidFill>
                <a:latin typeface="Calibri" pitchFamily="34" charset="0"/>
                <a:ea typeface="Calibri" pitchFamily="34" charset="-122"/>
                <a:cs typeface="Calibri" pitchFamily="34" charset="-120"/>
              </a:rPr>
              <a:t>NYC and LA dominate, so the model is weaker for Boston and Chicago.</a:t>
            </a:r>
            <a:endParaRPr lang="en-US" sz="1250" dirty="0"/>
          </a:p>
        </p:txBody>
      </p:sp>
      <p:sp>
        <p:nvSpPr>
          <p:cNvPr id="8" name="Shape 6"/>
          <p:cNvSpPr/>
          <p:nvPr/>
        </p:nvSpPr>
        <p:spPr>
          <a:xfrm>
            <a:off x="6172200" y="1783080"/>
            <a:ext cx="5440680" cy="1554480"/>
          </a:xfrm>
          <a:prstGeom prst="roundRect">
            <a:avLst>
              <a:gd name="adj" fmla="val 4706"/>
            </a:avLst>
          </a:prstGeom>
          <a:solidFill>
            <a:srgbClr val="F0F7F8"/>
          </a:solidFill>
          <a:ln/>
          <a:effectLst>
            <a:outerShdw sx="100000" sy="100000" kx="0" ky="0" algn="bl" rotWithShape="0" blurRad="88900" dist="38100" dir="5400000">
              <a:srgbClr val="000000">
                <a:alpha val="12000"/>
              </a:srgbClr>
            </a:outerShdw>
          </a:effectLst>
        </p:spPr>
      </p:sp>
      <p:sp>
        <p:nvSpPr>
          <p:cNvPr id="9" name="Shape 7"/>
          <p:cNvSpPr/>
          <p:nvPr/>
        </p:nvSpPr>
        <p:spPr>
          <a:xfrm>
            <a:off x="6446520" y="2103120"/>
            <a:ext cx="502920" cy="502920"/>
          </a:xfrm>
          <a:prstGeom prst="ellipse">
            <a:avLst/>
          </a:prstGeom>
          <a:solidFill>
            <a:srgbClr val="00A896"/>
          </a:solidFill>
          <a:ln/>
        </p:spPr>
      </p:sp>
      <p:sp>
        <p:nvSpPr>
          <p:cNvPr id="10" name="Text 8"/>
          <p:cNvSpPr/>
          <p:nvPr/>
        </p:nvSpPr>
        <p:spPr>
          <a:xfrm>
            <a:off x="7132320" y="2039112"/>
            <a:ext cx="4297680" cy="36576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No personal data</a:t>
            </a:r>
            <a:endParaRPr lang="en-US" sz="1500" dirty="0"/>
          </a:p>
        </p:txBody>
      </p:sp>
      <p:sp>
        <p:nvSpPr>
          <p:cNvPr id="11" name="Text 9"/>
          <p:cNvSpPr/>
          <p:nvPr/>
        </p:nvSpPr>
        <p:spPr>
          <a:xfrm>
            <a:off x="7132320" y="2441448"/>
            <a:ext cx="4343400" cy="777240"/>
          </a:xfrm>
          <a:prstGeom prst="rect">
            <a:avLst/>
          </a:prstGeom>
          <a:noFill/>
          <a:ln/>
        </p:spPr>
        <p:txBody>
          <a:bodyPr wrap="square" rtlCol="0" anchor="t"/>
          <a:lstStyle/>
          <a:p>
            <a:pPr indent="0" marL="0">
              <a:buNone/>
            </a:pPr>
            <a:r>
              <a:rPr lang="en-US" sz="1250" dirty="0">
                <a:solidFill>
                  <a:srgbClr val="5B7178"/>
                </a:solidFill>
                <a:latin typeface="Calibri" pitchFamily="34" charset="0"/>
                <a:ea typeface="Calibri" pitchFamily="34" charset="-122"/>
                <a:cs typeface="Calibri" pitchFamily="34" charset="-120"/>
              </a:rPr>
              <a:t>Host and free-text columns were removed before training.</a:t>
            </a:r>
            <a:endParaRPr lang="en-US" sz="1250" dirty="0"/>
          </a:p>
        </p:txBody>
      </p:sp>
      <p:sp>
        <p:nvSpPr>
          <p:cNvPr id="12" name="Shape 10"/>
          <p:cNvSpPr/>
          <p:nvPr/>
        </p:nvSpPr>
        <p:spPr>
          <a:xfrm>
            <a:off x="548640" y="3566160"/>
            <a:ext cx="5440680" cy="1554480"/>
          </a:xfrm>
          <a:prstGeom prst="roundRect">
            <a:avLst>
              <a:gd name="adj" fmla="val 4706"/>
            </a:avLst>
          </a:prstGeom>
          <a:solidFill>
            <a:srgbClr val="F0F7F8"/>
          </a:solidFill>
          <a:ln/>
          <a:effectLst>
            <a:outerShdw sx="100000" sy="100000" kx="0" ky="0" algn="bl" rotWithShape="0" blurRad="88900" dist="38100" dir="5400000">
              <a:srgbClr val="000000">
                <a:alpha val="12000"/>
              </a:srgbClr>
            </a:outerShdw>
          </a:effectLst>
        </p:spPr>
      </p:sp>
      <p:sp>
        <p:nvSpPr>
          <p:cNvPr id="13" name="Shape 11"/>
          <p:cNvSpPr/>
          <p:nvPr/>
        </p:nvSpPr>
        <p:spPr>
          <a:xfrm>
            <a:off x="822960" y="3886200"/>
            <a:ext cx="502920" cy="502920"/>
          </a:xfrm>
          <a:prstGeom prst="ellipse">
            <a:avLst/>
          </a:prstGeom>
          <a:solidFill>
            <a:srgbClr val="028090"/>
          </a:solidFill>
          <a:ln/>
        </p:spPr>
      </p:sp>
      <p:sp>
        <p:nvSpPr>
          <p:cNvPr id="14" name="Text 12"/>
          <p:cNvSpPr/>
          <p:nvPr/>
        </p:nvSpPr>
        <p:spPr>
          <a:xfrm>
            <a:off x="1508760" y="3822192"/>
            <a:ext cx="4297680" cy="36576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No leakage</a:t>
            </a:r>
            <a:endParaRPr lang="en-US" sz="1500" dirty="0"/>
          </a:p>
        </p:txBody>
      </p:sp>
      <p:sp>
        <p:nvSpPr>
          <p:cNvPr id="15" name="Text 13"/>
          <p:cNvSpPr/>
          <p:nvPr/>
        </p:nvSpPr>
        <p:spPr>
          <a:xfrm>
            <a:off x="1508760" y="4224528"/>
            <a:ext cx="4343400" cy="777240"/>
          </a:xfrm>
          <a:prstGeom prst="rect">
            <a:avLst/>
          </a:prstGeom>
          <a:noFill/>
          <a:ln/>
        </p:spPr>
        <p:txBody>
          <a:bodyPr wrap="square" rtlCol="0" anchor="t"/>
          <a:lstStyle/>
          <a:p>
            <a:pPr indent="0" marL="0">
              <a:buNone/>
            </a:pPr>
            <a:r>
              <a:rPr lang="en-US" sz="1250" dirty="0">
                <a:solidFill>
                  <a:srgbClr val="5B7178"/>
                </a:solidFill>
                <a:latin typeface="Calibri" pitchFamily="34" charset="0"/>
                <a:ea typeface="Calibri" pitchFamily="34" charset="-122"/>
                <a:cs typeface="Calibri" pitchFamily="34" charset="-120"/>
              </a:rPr>
              <a:t>Cleaning and encoders fitted on training data only.</a:t>
            </a:r>
            <a:endParaRPr lang="en-US" sz="1250" dirty="0"/>
          </a:p>
        </p:txBody>
      </p:sp>
      <p:sp>
        <p:nvSpPr>
          <p:cNvPr id="16" name="Shape 14"/>
          <p:cNvSpPr/>
          <p:nvPr/>
        </p:nvSpPr>
        <p:spPr>
          <a:xfrm>
            <a:off x="6172200" y="3566160"/>
            <a:ext cx="5440680" cy="1554480"/>
          </a:xfrm>
          <a:prstGeom prst="roundRect">
            <a:avLst>
              <a:gd name="adj" fmla="val 4706"/>
            </a:avLst>
          </a:prstGeom>
          <a:solidFill>
            <a:srgbClr val="F0F7F8"/>
          </a:solidFill>
          <a:ln/>
          <a:effectLst>
            <a:outerShdw sx="100000" sy="100000" kx="0" ky="0" algn="bl" rotWithShape="0" blurRad="88900" dist="38100" dir="5400000">
              <a:srgbClr val="000000">
                <a:alpha val="12000"/>
              </a:srgbClr>
            </a:outerShdw>
          </a:effectLst>
        </p:spPr>
      </p:sp>
      <p:sp>
        <p:nvSpPr>
          <p:cNvPr id="17" name="Shape 15"/>
          <p:cNvSpPr/>
          <p:nvPr/>
        </p:nvSpPr>
        <p:spPr>
          <a:xfrm>
            <a:off x="6446520" y="3886200"/>
            <a:ext cx="502920" cy="502920"/>
          </a:xfrm>
          <a:prstGeom prst="ellipse">
            <a:avLst/>
          </a:prstGeom>
          <a:solidFill>
            <a:srgbClr val="0B3B44"/>
          </a:solidFill>
          <a:ln/>
        </p:spPr>
      </p:sp>
      <p:sp>
        <p:nvSpPr>
          <p:cNvPr id="18" name="Text 16"/>
          <p:cNvSpPr/>
          <p:nvPr/>
        </p:nvSpPr>
        <p:spPr>
          <a:xfrm>
            <a:off x="7132320" y="3822192"/>
            <a:ext cx="4297680" cy="365760"/>
          </a:xfrm>
          <a:prstGeom prst="rect">
            <a:avLst/>
          </a:prstGeom>
          <a:noFill/>
          <a:ln/>
        </p:spPr>
        <p:txBody>
          <a:bodyPr wrap="square" rtlCol="0" anchor="ctr"/>
          <a:lstStyle/>
          <a:p>
            <a:pPr indent="0" marL="0">
              <a:buNone/>
            </a:pPr>
            <a:r>
              <a:rPr lang="en-US" sz="1500" b="1" dirty="0">
                <a:solidFill>
                  <a:srgbClr val="0B3B44"/>
                </a:solidFill>
                <a:latin typeface="Calibri" pitchFamily="34" charset="0"/>
                <a:ea typeface="Calibri" pitchFamily="34" charset="-122"/>
                <a:cs typeface="Calibri" pitchFamily="34" charset="-120"/>
              </a:rPr>
              <a:t>Honest reporting</a:t>
            </a:r>
            <a:endParaRPr lang="en-US" sz="1500" dirty="0"/>
          </a:p>
        </p:txBody>
      </p:sp>
      <p:sp>
        <p:nvSpPr>
          <p:cNvPr id="19" name="Text 17"/>
          <p:cNvSpPr/>
          <p:nvPr/>
        </p:nvSpPr>
        <p:spPr>
          <a:xfrm>
            <a:off x="7132320" y="4224528"/>
            <a:ext cx="4343400" cy="777240"/>
          </a:xfrm>
          <a:prstGeom prst="rect">
            <a:avLst/>
          </a:prstGeom>
          <a:noFill/>
          <a:ln/>
        </p:spPr>
        <p:txBody>
          <a:bodyPr wrap="square" rtlCol="0" anchor="t"/>
          <a:lstStyle/>
          <a:p>
            <a:pPr indent="0" marL="0">
              <a:buNone/>
            </a:pPr>
            <a:r>
              <a:rPr lang="en-US" sz="1250" dirty="0">
                <a:solidFill>
                  <a:srgbClr val="5B7178"/>
                </a:solidFill>
                <a:latin typeface="Calibri" pitchFamily="34" charset="0"/>
                <a:ea typeface="Calibri" pitchFamily="34" charset="-122"/>
                <a:cs typeface="Calibri" pitchFamily="34" charset="-120"/>
              </a:rPr>
              <a:t>Scores on a validation set; no invented metrics for the unlabeled test file.</a:t>
            </a:r>
            <a:endParaRPr lang="en-US" sz="1250" dirty="0"/>
          </a:p>
        </p:txBody>
      </p:sp>
      <p:sp>
        <p:nvSpPr>
          <p:cNvPr id="20" name="Text 18"/>
          <p:cNvSpPr/>
          <p:nvPr/>
        </p:nvSpPr>
        <p:spPr>
          <a:xfrm>
            <a:off x="548640" y="5623560"/>
            <a:ext cx="10972800" cy="365760"/>
          </a:xfrm>
          <a:prstGeom prst="rect">
            <a:avLst/>
          </a:prstGeom>
          <a:noFill/>
          <a:ln/>
        </p:spPr>
        <p:txBody>
          <a:bodyPr wrap="square" rtlCol="0" anchor="ctr"/>
          <a:lstStyle/>
          <a:p>
            <a:pPr indent="0" marL="0">
              <a:buNone/>
            </a:pPr>
            <a:r>
              <a:rPr lang="en-US" sz="1300" i="1" dirty="0">
                <a:solidFill>
                  <a:srgbClr val="5B7178"/>
                </a:solidFill>
                <a:latin typeface="Calibri" pitchFamily="34" charset="0"/>
                <a:ea typeface="Calibri" pitchFamily="34" charset="-122"/>
                <a:cs typeface="Calibri" pitchFamily="34" charset="-120"/>
              </a:rPr>
              <a:t>Prices are from 2017-2018, so the model must not be read as current market values.</a:t>
            </a:r>
            <a:endParaRPr lang="en-US" sz="1300" dirty="0"/>
          </a:p>
        </p:txBody>
      </p:sp>
      <p:sp>
        <p:nvSpPr>
          <p:cNvPr id="21" name="Text 19"/>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22" name="Text 20"/>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713232"/>
            <a:ext cx="11064240" cy="822960"/>
          </a:xfrm>
          <a:prstGeom prst="rect">
            <a:avLst/>
          </a:prstGeom>
          <a:noFill/>
          <a:ln/>
        </p:spPr>
        <p:txBody>
          <a:bodyPr wrap="square" rtlCol="0" anchor="ctr"/>
          <a:lstStyle/>
          <a:p>
            <a:pPr indent="0" marL="0">
              <a:buNone/>
            </a:pPr>
            <a:r>
              <a:rPr lang="en-US" sz="3000" b="1" dirty="0">
                <a:solidFill>
                  <a:srgbClr val="0B3B44"/>
                </a:solidFill>
                <a:latin typeface="Cambria" pitchFamily="34" charset="0"/>
                <a:ea typeface="Cambria" pitchFamily="34" charset="-122"/>
                <a:cs typeface="Cambria" pitchFamily="34" charset="-120"/>
              </a:rPr>
              <a:t>What we found and what's next</a:t>
            </a:r>
            <a:endParaRPr lang="en-US" sz="3000" dirty="0"/>
          </a:p>
        </p:txBody>
      </p:sp>
      <p:sp>
        <p:nvSpPr>
          <p:cNvPr id="4" name="Shape 2"/>
          <p:cNvSpPr/>
          <p:nvPr/>
        </p:nvSpPr>
        <p:spPr>
          <a:xfrm>
            <a:off x="548640" y="1783080"/>
            <a:ext cx="5440680" cy="3657600"/>
          </a:xfrm>
          <a:prstGeom prst="roundRect">
            <a:avLst>
              <a:gd name="adj" fmla="val 2000"/>
            </a:avLst>
          </a:prstGeom>
          <a:solidFill>
            <a:srgbClr val="0B3B44"/>
          </a:solidFill>
          <a:ln/>
          <a:effectLst>
            <a:outerShdw sx="100000" sy="100000" kx="0" ky="0" algn="bl" rotWithShape="0" blurRad="88900" dist="38100" dir="5400000">
              <a:srgbClr val="000000">
                <a:alpha val="12000"/>
              </a:srgbClr>
            </a:outerShdw>
          </a:effectLst>
        </p:spPr>
      </p:sp>
      <p:sp>
        <p:nvSpPr>
          <p:cNvPr id="5" name="Text 3"/>
          <p:cNvSpPr/>
          <p:nvPr/>
        </p:nvSpPr>
        <p:spPr>
          <a:xfrm>
            <a:off x="822960" y="1965960"/>
            <a:ext cx="4572000" cy="365760"/>
          </a:xfrm>
          <a:prstGeom prst="rect">
            <a:avLst/>
          </a:prstGeom>
          <a:noFill/>
          <a:ln/>
        </p:spPr>
        <p:txBody>
          <a:bodyPr wrap="square"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Findings</a:t>
            </a:r>
            <a:endParaRPr lang="en-US" sz="1700" dirty="0"/>
          </a:p>
        </p:txBody>
      </p:sp>
      <p:sp>
        <p:nvSpPr>
          <p:cNvPr id="6" name="Text 4"/>
          <p:cNvSpPr/>
          <p:nvPr/>
        </p:nvSpPr>
        <p:spPr>
          <a:xfrm>
            <a:off x="868680" y="2423160"/>
            <a:ext cx="4937760" cy="2834640"/>
          </a:xfrm>
          <a:prstGeom prst="rect">
            <a:avLst/>
          </a:prstGeom>
          <a:noFill/>
          <a:ln/>
        </p:spPr>
        <p:txBody>
          <a:bodyPr wrap="square"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Full pipeline from two raw files to test predictions.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Random Forest reached R² ≈ 0.70, boosting close behind.</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Room type, location, and bathrooms drive the price.</a:t>
            </a:r>
            <a:endParaRPr lang="en-US" sz="1400" dirty="0"/>
          </a:p>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Most of the work was cleaning, not modeling.</a:t>
            </a:r>
            <a:endParaRPr lang="en-US" sz="1400" dirty="0"/>
          </a:p>
        </p:txBody>
      </p:sp>
      <p:sp>
        <p:nvSpPr>
          <p:cNvPr id="7" name="Shape 5"/>
          <p:cNvSpPr/>
          <p:nvPr/>
        </p:nvSpPr>
        <p:spPr>
          <a:xfrm>
            <a:off x="6172200" y="1783080"/>
            <a:ext cx="5440680" cy="3657600"/>
          </a:xfrm>
          <a:prstGeom prst="roundRect">
            <a:avLst>
              <a:gd name="adj" fmla="val 2000"/>
            </a:avLst>
          </a:prstGeom>
          <a:solidFill>
            <a:srgbClr val="F0F7F8"/>
          </a:solidFill>
          <a:ln/>
          <a:effectLst>
            <a:outerShdw sx="100000" sy="100000" kx="0" ky="0" algn="bl" rotWithShape="0" blurRad="88900" dist="38100" dir="5400000">
              <a:srgbClr val="000000">
                <a:alpha val="12000"/>
              </a:srgbClr>
            </a:outerShdw>
          </a:effectLst>
        </p:spPr>
      </p:sp>
      <p:sp>
        <p:nvSpPr>
          <p:cNvPr id="8" name="Text 6"/>
          <p:cNvSpPr/>
          <p:nvPr/>
        </p:nvSpPr>
        <p:spPr>
          <a:xfrm>
            <a:off x="6446520" y="1965960"/>
            <a:ext cx="4572000" cy="365760"/>
          </a:xfrm>
          <a:prstGeom prst="rect">
            <a:avLst/>
          </a:prstGeom>
          <a:noFill/>
          <a:ln/>
        </p:spPr>
        <p:txBody>
          <a:bodyPr wrap="square"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Future work</a:t>
            </a:r>
            <a:endParaRPr lang="en-US" sz="1700" dirty="0"/>
          </a:p>
        </p:txBody>
      </p:sp>
      <p:sp>
        <p:nvSpPr>
          <p:cNvPr id="9" name="Text 7"/>
          <p:cNvSpPr/>
          <p:nvPr/>
        </p:nvSpPr>
        <p:spPr>
          <a:xfrm>
            <a:off x="6492240" y="2423160"/>
            <a:ext cx="4937760" cy="2834640"/>
          </a:xfrm>
          <a:prstGeom prst="rect">
            <a:avLst/>
          </a:prstGeom>
          <a:noFill/>
          <a:ln/>
        </p:spPr>
        <p:txBody>
          <a:bodyPr wrap="square" rtlCol="0" anchor="t"/>
          <a:lstStyle/>
          <a:p>
            <a:pPr marL="342900" indent="-342900">
              <a:spcAft>
                <a:spcPts val="900"/>
              </a:spcAft>
              <a:buSzPct val="100000"/>
              <a:buChar char="•"/>
            </a:pPr>
            <a:r>
              <a:rPr lang="en-US" sz="1400" dirty="0">
                <a:solidFill>
                  <a:srgbClr val="1C2B30"/>
                </a:solidFill>
                <a:latin typeface="Calibri" pitchFamily="34" charset="0"/>
                <a:ea typeface="Calibri" pitchFamily="34" charset="-122"/>
                <a:cs typeface="Calibri" pitchFamily="34" charset="-120"/>
              </a:rPr>
              <a:t>Mine amenities and description text with NLP.</a:t>
            </a:r>
            <a:endParaRPr lang="en-US" sz="1400" dirty="0"/>
          </a:p>
          <a:p>
            <a:pPr marL="342900" indent="-342900">
              <a:spcAft>
                <a:spcPts val="900"/>
              </a:spcAft>
              <a:buSzPct val="100000"/>
              <a:buChar char="•"/>
            </a:pPr>
            <a:r>
              <a:rPr lang="en-US" sz="1400" dirty="0">
                <a:solidFill>
                  <a:srgbClr val="1C2B30"/>
                </a:solidFill>
                <a:latin typeface="Calibri" pitchFamily="34" charset="0"/>
                <a:ea typeface="Calibri" pitchFamily="34" charset="-122"/>
                <a:cs typeface="Calibri" pitchFamily="34" charset="-120"/>
              </a:rPr>
              <a:t>Bring back neighbourhood with target encoding.</a:t>
            </a:r>
            <a:endParaRPr lang="en-US" sz="1400" dirty="0"/>
          </a:p>
          <a:p>
            <a:pPr marL="342900" indent="-342900">
              <a:spcAft>
                <a:spcPts val="900"/>
              </a:spcAft>
              <a:buSzPct val="100000"/>
              <a:buChar char="•"/>
            </a:pPr>
            <a:r>
              <a:rPr lang="en-US" sz="1400" dirty="0">
                <a:solidFill>
                  <a:srgbClr val="1C2B30"/>
                </a:solidFill>
                <a:latin typeface="Calibri" pitchFamily="34" charset="0"/>
                <a:ea typeface="Calibri" pitchFamily="34" charset="-122"/>
                <a:cs typeface="Calibri" pitchFamily="34" charset="-120"/>
              </a:rPr>
              <a:t>Tune the tree models; boosting may overtake the forest.</a:t>
            </a:r>
            <a:endParaRPr lang="en-US" sz="1400" dirty="0"/>
          </a:p>
          <a:p>
            <a:pPr marL="342900" indent="-342900">
              <a:buSzPct val="100000"/>
              <a:buChar char="•"/>
            </a:pPr>
            <a:r>
              <a:rPr lang="en-US" sz="1400" dirty="0">
                <a:solidFill>
                  <a:srgbClr val="1C2B30"/>
                </a:solidFill>
                <a:latin typeface="Calibri" pitchFamily="34" charset="0"/>
                <a:ea typeface="Calibri" pitchFamily="34" charset="-122"/>
                <a:cs typeface="Calibri" pitchFamily="34" charset="-120"/>
              </a:rPr>
              <a:t>Add demand and seasonality data.</a:t>
            </a:r>
            <a:endParaRPr lang="en-US" sz="1400" dirty="0"/>
          </a:p>
        </p:txBody>
      </p:sp>
      <p:sp>
        <p:nvSpPr>
          <p:cNvPr id="10" name="Text 8"/>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5B7178"/>
                </a:solidFill>
                <a:latin typeface="Calibri" pitchFamily="34" charset="0"/>
                <a:ea typeface="Calibri" pitchFamily="34" charset="-122"/>
                <a:cs typeface="Calibri" pitchFamily="34" charset="-120"/>
              </a:rPr>
              <a:t>CPE393  |  Group 15</a:t>
            </a:r>
            <a:endParaRPr lang="en-US" sz="900" dirty="0"/>
          </a:p>
        </p:txBody>
      </p:sp>
      <p:sp>
        <p:nvSpPr>
          <p:cNvPr id="11" name="Text 9"/>
          <p:cNvSpPr/>
          <p:nvPr/>
        </p:nvSpPr>
        <p:spPr>
          <a:xfrm>
            <a:off x="11338560" y="6446520"/>
            <a:ext cx="365760" cy="274320"/>
          </a:xfrm>
          <a:prstGeom prst="rect">
            <a:avLst/>
          </a:prstGeom>
          <a:noFill/>
          <a:ln/>
        </p:spPr>
        <p:txBody>
          <a:bodyPr wrap="square" rtlCol="0" anchor="ctr"/>
          <a:lstStyle/>
          <a:p>
            <a:pPr algn="r" indent="0" marL="0">
              <a:buNone/>
            </a:pPr>
            <a:r>
              <a:rPr lang="en-US" sz="900" dirty="0">
                <a:solidFill>
                  <a:srgbClr val="5B71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B44"/>
        </a:solidFill>
      </p:bgPr>
    </p:bg>
    <p:spTree>
      <p:nvGrpSpPr>
        <p:cNvPr id="1" name=""/>
        <p:cNvGrpSpPr/>
        <p:nvPr/>
      </p:nvGrpSpPr>
      <p:grpSpPr>
        <a:xfrm>
          <a:off x="0" y="0"/>
          <a:ext cx="0" cy="0"/>
          <a:chOff x="0" y="0"/>
          <a:chExt cx="0" cy="0"/>
        </a:xfrm>
      </p:grpSpPr>
      <p:sp>
        <p:nvSpPr>
          <p:cNvPr id="2" name="Shape 0"/>
          <p:cNvSpPr/>
          <p:nvPr/>
        </p:nvSpPr>
        <p:spPr>
          <a:xfrm>
            <a:off x="-1828800" y="3200400"/>
            <a:ext cx="5486400" cy="5486400"/>
          </a:xfrm>
          <a:prstGeom prst="ellipse">
            <a:avLst/>
          </a:prstGeom>
          <a:solidFill>
            <a:srgbClr val="028090">
              <a:alpha val="40000"/>
            </a:srgbClr>
          </a:solidFill>
          <a:ln/>
        </p:spPr>
      </p:sp>
      <p:sp>
        <p:nvSpPr>
          <p:cNvPr id="3" name="Shape 1"/>
          <p:cNvSpPr/>
          <p:nvPr/>
        </p:nvSpPr>
        <p:spPr>
          <a:xfrm>
            <a:off x="9601200" y="-2286000"/>
            <a:ext cx="5486400" cy="5486400"/>
          </a:xfrm>
          <a:prstGeom prst="ellipse">
            <a:avLst/>
          </a:prstGeom>
          <a:solidFill>
            <a:srgbClr val="00A896">
              <a:alpha val="35000"/>
            </a:srgbClr>
          </a:solidFill>
          <a:ln/>
        </p:spPr>
      </p:sp>
      <p:sp>
        <p:nvSpPr>
          <p:cNvPr id="4" name="Text 2"/>
          <p:cNvSpPr/>
          <p:nvPr/>
        </p:nvSpPr>
        <p:spPr>
          <a:xfrm>
            <a:off x="640080" y="2286000"/>
            <a:ext cx="10972800" cy="1097280"/>
          </a:xfrm>
          <a:prstGeom prst="rect">
            <a:avLst/>
          </a:prstGeom>
          <a:noFill/>
          <a:ln/>
        </p:spPr>
        <p:txBody>
          <a:bodyPr wrap="square"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640080" y="3474720"/>
            <a:ext cx="10972800" cy="640080"/>
          </a:xfrm>
          <a:prstGeom prst="rect">
            <a:avLst/>
          </a:prstGeom>
          <a:noFill/>
          <a:ln/>
        </p:spPr>
        <p:txBody>
          <a:bodyPr wrap="square" rtlCol="0" anchor="ctr"/>
          <a:lstStyle/>
          <a:p>
            <a:pPr algn="ctr" indent="0" marL="0">
              <a:buNone/>
            </a:pPr>
            <a:r>
              <a:rPr lang="en-US" sz="2400" i="1" dirty="0">
                <a:solidFill>
                  <a:srgbClr val="02C39A"/>
                </a:solidFill>
                <a:latin typeface="Cambria" pitchFamily="34" charset="0"/>
                <a:ea typeface="Cambria" pitchFamily="34" charset="-122"/>
                <a:cs typeface="Cambria" pitchFamily="34" charset="-120"/>
              </a:rPr>
              <a:t>Questions?</a:t>
            </a:r>
            <a:endParaRPr lang="en-US" sz="2400" dirty="0"/>
          </a:p>
        </p:txBody>
      </p:sp>
      <p:sp>
        <p:nvSpPr>
          <p:cNvPr id="6" name="Text 4"/>
          <p:cNvSpPr/>
          <p:nvPr/>
        </p:nvSpPr>
        <p:spPr>
          <a:xfrm>
            <a:off x="640080" y="4572000"/>
            <a:ext cx="10972800" cy="365760"/>
          </a:xfrm>
          <a:prstGeom prst="rect">
            <a:avLst/>
          </a:prstGeom>
          <a:noFill/>
          <a:ln/>
        </p:spPr>
        <p:txBody>
          <a:bodyPr wrap="square" rtlCol="0" anchor="ctr"/>
          <a:lstStyle/>
          <a:p>
            <a:pPr algn="ctr" indent="0" marL="0">
              <a:buNone/>
            </a:pPr>
            <a:r>
              <a:rPr lang="en-US" sz="1400" dirty="0">
                <a:solidFill>
                  <a:srgbClr val="CFE9E6"/>
                </a:solidFill>
                <a:latin typeface="Calibri" pitchFamily="34" charset="0"/>
                <a:ea typeface="Calibri" pitchFamily="34" charset="-122"/>
                <a:cs typeface="Calibri" pitchFamily="34" charset="-120"/>
              </a:rPr>
              <a:t>Group 15  ·  Mathieu · Serghei · Samy  ·  CPE393 · KMUTT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Airbnb Listing Prices</dc:title>
  <dc:subject>PptxGenJS Presentation</dc:subject>
  <dc:creator>Group 15</dc:creator>
  <cp:lastModifiedBy>Group 15</cp:lastModifiedBy>
  <cp:revision>1</cp:revision>
  <dcterms:created xsi:type="dcterms:W3CDTF">2026-07-06T11:18:43Z</dcterms:created>
  <dcterms:modified xsi:type="dcterms:W3CDTF">2026-07-06T11:18:43Z</dcterms:modified>
</cp:coreProperties>
</file>