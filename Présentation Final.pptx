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177907-DCF4-4989-ACDF-E9BE43938A7B}">
  <a:tblStyle styleId="{78177907-DCF4-4989-ACDF-E9BE43938A7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7b756300f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7b756300f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All three introduce themselves. Hook: predict Airbnb prices from listing features. Regression, target log_price.</a:t>
            </a:r>
            <a:endParaRPr/>
          </a:p>
        </p:txBody>
      </p:sp>
      <p:sp>
        <p:nvSpPr>
          <p:cNvPr id="55" name="Google Shape;55;g3f7b756300f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7b756300f_2_1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f7b756300f_2_1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Mathieu. Frame the problem and the goal: a clean pipeline, honest about limits.</a:t>
            </a:r>
            <a:endParaRPr/>
          </a:p>
        </p:txBody>
      </p:sp>
      <p:sp>
        <p:nvSpPr>
          <p:cNvPr id="67" name="Google Shape;67;g3f7b756300f_2_1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7b756300f_2_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7b756300f_2_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Mathieu. Stress the two-file setup: test has no price, so we can't score on it.</a:t>
            </a:r>
            <a:endParaRPr/>
          </a:p>
        </p:txBody>
      </p:sp>
      <p:sp>
        <p:nvSpPr>
          <p:cNvPr id="90" name="Google Shape;90;g3f7b756300f_2_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7b756300f_2_5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f7b756300f_2_5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Mathieu. Emphasize anti-leakage. Graders care about this.</a:t>
            </a:r>
            <a:endParaRPr/>
          </a:p>
        </p:txBody>
      </p:sp>
      <p:sp>
        <p:nvSpPr>
          <p:cNvPr id="112" name="Google Shape;112;g3f7b756300f_2_5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7b756300f_2_8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f7b756300f_2_8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Serghei. Mention it's interactive in the notebook. Distributions: most listings small, ratings near the top.</a:t>
            </a:r>
            <a:endParaRPr/>
          </a:p>
        </p:txBody>
      </p:sp>
      <p:sp>
        <p:nvSpPr>
          <p:cNvPr id="143" name="Google Shape;143;g3f7b756300f_2_8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7b756300f_2_9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f7b756300f_2_9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Serghei. Top-left is the target. Bottom is price by city and room type. Both look like strong predictors.</a:t>
            </a:r>
            <a:endParaRPr/>
          </a:p>
        </p:txBody>
      </p:sp>
      <p:sp>
        <p:nvSpPr>
          <p:cNvPr id="156" name="Google Shape;156;g3f7b756300f_2_9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7b756300f_2_1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f7b756300f_2_1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Serghei. Note the gap: coordinates look weak here but matter to the forest.</a:t>
            </a:r>
            <a:endParaRPr/>
          </a:p>
        </p:txBody>
      </p:sp>
      <p:sp>
        <p:nvSpPr>
          <p:cNvPr id="169" name="Google Shape;169;g3f7b756300f_2_1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7b756300f_2_1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f7b756300f_2_1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Samy. Two linear, two tree-based. Forest averages trees; boosting builds them in sequence.</a:t>
            </a:r>
            <a:endParaRPr/>
          </a:p>
        </p:txBody>
      </p:sp>
      <p:sp>
        <p:nvSpPr>
          <p:cNvPr id="196" name="Google Shape;196;g3f7b756300f_2_1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7b756300f_2_1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f7b756300f_2_1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Samy. RF best, GB close. Linear/Ridge identical. We chose RF by hand.</a:t>
            </a:r>
            <a:endParaRPr/>
          </a:p>
        </p:txBody>
      </p:sp>
      <p:sp>
        <p:nvSpPr>
          <p:cNvPr id="222" name="Google Shape;222;g3f7b756300f_2_1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7b756300f_2_17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f7b756300f_2_17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Samy. Location matters to the tree despite weak correlation. Residuals centered = healthy model.</a:t>
            </a:r>
            <a:endParaRPr/>
          </a:p>
        </p:txBody>
      </p:sp>
      <p:sp>
        <p:nvSpPr>
          <p:cNvPr id="235" name="Google Shape;235;g3f7b756300f_2_17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7b756300f_2_1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f7b756300f_2_1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Samy. No labels on test, so no metrics. Distributions match, which is the sign we want.</a:t>
            </a:r>
            <a:endParaRPr/>
          </a:p>
        </p:txBody>
      </p:sp>
      <p:sp>
        <p:nvSpPr>
          <p:cNvPr id="251" name="Google Shape;251;g3f7b756300f_2_1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7b756300f_2_19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f7b756300f_2_19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Serghei. Imbalance, leakage prevention, honesty about no test labels, dated prices.</a:t>
            </a:r>
            <a:endParaRPr/>
          </a:p>
        </p:txBody>
      </p:sp>
      <p:sp>
        <p:nvSpPr>
          <p:cNvPr id="262" name="Google Shape;262;g3f7b756300f_2_19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7b756300f_2_2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f7b756300f_2_2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Mathieu. Share the close, hand to Q&amp;A.</a:t>
            </a:r>
            <a:endParaRPr/>
          </a:p>
        </p:txBody>
      </p:sp>
      <p:sp>
        <p:nvSpPr>
          <p:cNvPr id="288" name="Google Shape;288;g3f7b756300f_2_2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7b756300f_2_2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f7b756300f_2_2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
              <a:t>Thank Ajan Aye and Ajan Naveed. Open for questions.</a:t>
            </a:r>
            <a:endParaRPr/>
          </a:p>
        </p:txBody>
      </p:sp>
      <p:sp>
        <p:nvSpPr>
          <p:cNvPr id="303" name="Google Shape;303;g3f7b756300f_2_2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B44"/>
        </a:solidFill>
      </p:bgPr>
    </p:bg>
    <p:spTree>
      <p:nvGrpSpPr>
        <p:cNvPr id="56" name="Shape 56"/>
        <p:cNvGrpSpPr/>
        <p:nvPr/>
      </p:nvGrpSpPr>
      <p:grpSpPr>
        <a:xfrm>
          <a:off x="0" y="0"/>
          <a:ext cx="0" cy="0"/>
          <a:chOff x="0" y="0"/>
          <a:chExt cx="0" cy="0"/>
        </a:xfrm>
      </p:grpSpPr>
      <p:sp>
        <p:nvSpPr>
          <p:cNvPr id="57" name="Google Shape;57;p15"/>
          <p:cNvSpPr/>
          <p:nvPr/>
        </p:nvSpPr>
        <p:spPr>
          <a:xfrm>
            <a:off x="7063740" y="-1508760"/>
            <a:ext cx="4114800" cy="4114800"/>
          </a:xfrm>
          <a:prstGeom prst="ellipse">
            <a:avLst/>
          </a:prstGeom>
          <a:solidFill>
            <a:srgbClr val="028090">
              <a:alpha val="45098"/>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7955280" y="2880360"/>
            <a:ext cx="3154680" cy="3154680"/>
          </a:xfrm>
          <a:prstGeom prst="ellipse">
            <a:avLst/>
          </a:prstGeom>
          <a:solidFill>
            <a:srgbClr val="00A896">
              <a:alpha val="3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5"/>
          <p:cNvSpPr/>
          <p:nvPr/>
        </p:nvSpPr>
        <p:spPr>
          <a:xfrm>
            <a:off x="480060" y="480060"/>
            <a:ext cx="75438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900"/>
              <a:buFont typeface="Calibri"/>
              <a:buNone/>
            </a:pPr>
            <a:r>
              <a:rPr b="1" i="0" lang="fr" sz="900" u="none" cap="none" strike="noStrike">
                <a:solidFill>
                  <a:srgbClr val="02C39A"/>
                </a:solidFill>
                <a:latin typeface="Calibri"/>
                <a:ea typeface="Calibri"/>
                <a:cs typeface="Calibri"/>
                <a:sym typeface="Calibri"/>
              </a:rPr>
              <a:t>CPE393  ·  DATA SCIENCE WITH PYTHON  ·  KMUTT  ·  SUMMER 2026</a:t>
            </a:r>
            <a:endParaRPr b="0" i="0" sz="900" u="none" cap="none" strike="noStrike">
              <a:solidFill>
                <a:schemeClr val="dk1"/>
              </a:solidFill>
              <a:latin typeface="Calibri"/>
              <a:ea typeface="Calibri"/>
              <a:cs typeface="Calibri"/>
              <a:sym typeface="Calibri"/>
            </a:endParaRPr>
          </a:p>
        </p:txBody>
      </p:sp>
      <p:sp>
        <p:nvSpPr>
          <p:cNvPr id="60" name="Google Shape;60;p15"/>
          <p:cNvSpPr/>
          <p:nvPr/>
        </p:nvSpPr>
        <p:spPr>
          <a:xfrm>
            <a:off x="480060" y="1303020"/>
            <a:ext cx="7543800" cy="13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3900"/>
              <a:buFont typeface="Cambria"/>
              <a:buNone/>
            </a:pPr>
            <a:r>
              <a:rPr b="1" i="0" lang="fr" sz="3900" u="none" cap="none" strike="noStrike">
                <a:solidFill>
                  <a:srgbClr val="FFFFFF"/>
                </a:solidFill>
                <a:latin typeface="Cambria"/>
                <a:ea typeface="Cambria"/>
                <a:cs typeface="Cambria"/>
                <a:sym typeface="Cambria"/>
              </a:rPr>
              <a:t>Predicting Airbnb</a:t>
            </a:r>
            <a:endParaRPr b="0" i="0" sz="3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900"/>
              <a:buFont typeface="Cambria"/>
              <a:buNone/>
            </a:pPr>
            <a:r>
              <a:rPr b="1" i="0" lang="fr" sz="3900" u="none" cap="none" strike="noStrike">
                <a:solidFill>
                  <a:srgbClr val="FFFFFF"/>
                </a:solidFill>
                <a:latin typeface="Cambria"/>
                <a:ea typeface="Cambria"/>
                <a:cs typeface="Cambria"/>
                <a:sym typeface="Cambria"/>
              </a:rPr>
              <a:t>Listing Prices</a:t>
            </a:r>
            <a:endParaRPr b="0" i="0" sz="3900" u="none" cap="none" strike="noStrike">
              <a:solidFill>
                <a:schemeClr val="dk1"/>
              </a:solidFill>
              <a:latin typeface="Calibri"/>
              <a:ea typeface="Calibri"/>
              <a:cs typeface="Calibri"/>
              <a:sym typeface="Calibri"/>
            </a:endParaRPr>
          </a:p>
        </p:txBody>
      </p:sp>
      <p:sp>
        <p:nvSpPr>
          <p:cNvPr id="61" name="Google Shape;61;p15"/>
          <p:cNvSpPr/>
          <p:nvPr/>
        </p:nvSpPr>
        <p:spPr>
          <a:xfrm>
            <a:off x="493776" y="2640330"/>
            <a:ext cx="75438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800"/>
              <a:buFont typeface="Cambria"/>
              <a:buNone/>
            </a:pPr>
            <a:r>
              <a:rPr b="0" i="1" lang="fr" sz="1800" u="none" cap="none" strike="noStrike">
                <a:solidFill>
                  <a:srgbClr val="02C39A"/>
                </a:solidFill>
                <a:latin typeface="Cambria"/>
                <a:ea typeface="Cambria"/>
                <a:cs typeface="Cambria"/>
                <a:sym typeface="Cambria"/>
              </a:rPr>
              <a:t>in six major US cities</a:t>
            </a:r>
            <a:endParaRPr b="0" i="0" sz="1800" u="none" cap="none" strike="noStrike">
              <a:solidFill>
                <a:schemeClr val="dk1"/>
              </a:solidFill>
              <a:latin typeface="Calibri"/>
              <a:ea typeface="Calibri"/>
              <a:cs typeface="Calibri"/>
              <a:sym typeface="Calibri"/>
            </a:endParaRPr>
          </a:p>
        </p:txBody>
      </p:sp>
      <p:sp>
        <p:nvSpPr>
          <p:cNvPr id="62" name="Google Shape;62;p15"/>
          <p:cNvSpPr/>
          <p:nvPr/>
        </p:nvSpPr>
        <p:spPr>
          <a:xfrm>
            <a:off x="480060" y="3429000"/>
            <a:ext cx="4800600" cy="8915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200"/>
              <a:buFont typeface="Calibri"/>
              <a:buNone/>
            </a:pPr>
            <a:r>
              <a:rPr b="1" i="0" lang="fr" sz="1200" u="none" cap="none" strike="noStrike">
                <a:solidFill>
                  <a:srgbClr val="FFFFFF"/>
                </a:solidFill>
                <a:latin typeface="Calibri"/>
                <a:ea typeface="Calibri"/>
                <a:cs typeface="Calibri"/>
                <a:sym typeface="Calibri"/>
              </a:rPr>
              <a:t>Group 15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FE9E6"/>
              </a:buClr>
              <a:buSzPts val="1200"/>
              <a:buFont typeface="Calibri"/>
              <a:buNone/>
            </a:pPr>
            <a:r>
              <a:rPr b="0" i="0" lang="fr" sz="1200" u="none" cap="none" strike="noStrike">
                <a:solidFill>
                  <a:srgbClr val="CFE9E6"/>
                </a:solidFill>
                <a:latin typeface="Calibri"/>
                <a:ea typeface="Calibri"/>
                <a:cs typeface="Calibri"/>
                <a:sym typeface="Calibri"/>
              </a:rPr>
              <a:t>Mathieu  ·  Serghei  ·  Samy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FC7C4"/>
              </a:buClr>
              <a:buSzPts val="1000"/>
              <a:buFont typeface="Calibri"/>
              <a:buNone/>
            </a:pPr>
            <a:r>
              <a:rPr b="0" i="0" lang="fr" sz="1000" u="none" cap="none" strike="noStrike">
                <a:solidFill>
                  <a:srgbClr val="9FC7C4"/>
                </a:solidFill>
                <a:latin typeface="Calibri"/>
                <a:ea typeface="Calibri"/>
                <a:cs typeface="Calibri"/>
                <a:sym typeface="Calibri"/>
              </a:rPr>
              <a:t>Exchange students from EISEA</a:t>
            </a:r>
            <a:endParaRPr b="0" i="0" sz="1200" u="none" cap="none" strike="noStrike">
              <a:solidFill>
                <a:schemeClr val="dk1"/>
              </a:solidFill>
              <a:latin typeface="Calibri"/>
              <a:ea typeface="Calibri"/>
              <a:cs typeface="Calibri"/>
              <a:sym typeface="Calibri"/>
            </a:endParaRPr>
          </a:p>
        </p:txBody>
      </p:sp>
      <p:sp>
        <p:nvSpPr>
          <p:cNvPr id="63" name="Google Shape;63;p15"/>
          <p:cNvSpPr/>
          <p:nvPr/>
        </p:nvSpPr>
        <p:spPr>
          <a:xfrm>
            <a:off x="6583680" y="3669030"/>
            <a:ext cx="2194560" cy="8229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900"/>
              <a:buFont typeface="Calibri"/>
              <a:buNone/>
            </a:pPr>
            <a:r>
              <a:rPr b="1" i="0" lang="fr" sz="900" u="none" cap="none" strike="noStrike">
                <a:solidFill>
                  <a:srgbClr val="02C39A"/>
                </a:solidFill>
                <a:latin typeface="Calibri"/>
                <a:ea typeface="Calibri"/>
                <a:cs typeface="Calibri"/>
                <a:sym typeface="Calibri"/>
              </a:rPr>
              <a:t>Instructors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FE9E6"/>
              </a:buClr>
              <a:buSzPts val="1100"/>
              <a:buFont typeface="Calibri"/>
              <a:buNone/>
            </a:pPr>
            <a:r>
              <a:rPr b="0" i="0" lang="fr" sz="1100" u="none" cap="none" strike="noStrike">
                <a:solidFill>
                  <a:srgbClr val="CFE9E6"/>
                </a:solidFill>
                <a:latin typeface="Calibri"/>
                <a:ea typeface="Calibri"/>
                <a:cs typeface="Calibri"/>
                <a:sym typeface="Calibri"/>
              </a:rPr>
              <a:t>Ajan Aye Hninn Khine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FE9E6"/>
              </a:buClr>
              <a:buSzPts val="1100"/>
              <a:buFont typeface="Calibri"/>
              <a:buNone/>
            </a:pPr>
            <a:r>
              <a:rPr b="0" i="0" lang="fr" sz="1100" u="none" cap="none" strike="noStrike">
                <a:solidFill>
                  <a:srgbClr val="CFE9E6"/>
                </a:solidFill>
                <a:latin typeface="Calibri"/>
                <a:ea typeface="Calibri"/>
                <a:cs typeface="Calibri"/>
                <a:sym typeface="Calibri"/>
              </a:rPr>
              <a:t>Ajan Naveed Sultan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16"/>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THE PROBLEM</a:t>
            </a:r>
            <a:endParaRPr b="0" i="0" sz="900" u="none" cap="none" strike="noStrike">
              <a:solidFill>
                <a:schemeClr val="dk1"/>
              </a:solidFill>
              <a:latin typeface="Calibri"/>
              <a:ea typeface="Calibri"/>
              <a:cs typeface="Calibri"/>
              <a:sym typeface="Calibri"/>
            </a:endParaRPr>
          </a:p>
        </p:txBody>
      </p:sp>
      <p:sp>
        <p:nvSpPr>
          <p:cNvPr id="70" name="Google Shape;70;p16"/>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What should a listing cost per night?</a:t>
            </a:r>
            <a:endParaRPr b="0" i="0" sz="2300" u="none" cap="none" strike="noStrike">
              <a:solidFill>
                <a:schemeClr val="dk1"/>
              </a:solidFill>
              <a:latin typeface="Calibri"/>
              <a:ea typeface="Calibri"/>
              <a:cs typeface="Calibri"/>
              <a:sym typeface="Calibri"/>
            </a:endParaRPr>
          </a:p>
        </p:txBody>
      </p:sp>
      <p:sp>
        <p:nvSpPr>
          <p:cNvPr id="71" name="Google Shape;71;p16"/>
          <p:cNvSpPr/>
          <p:nvPr/>
        </p:nvSpPr>
        <p:spPr>
          <a:xfrm>
            <a:off x="411480" y="1268730"/>
            <a:ext cx="4457700" cy="16459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C2B30"/>
              </a:buClr>
              <a:buSzPts val="1200"/>
              <a:buFont typeface="Calibri"/>
              <a:buNone/>
            </a:pPr>
            <a:r>
              <a:rPr b="0" i="0" lang="fr" sz="1200" u="none" cap="none" strike="noStrike">
                <a:solidFill>
                  <a:srgbClr val="1C2B30"/>
                </a:solidFill>
                <a:latin typeface="Calibri"/>
                <a:ea typeface="Calibri"/>
                <a:cs typeface="Calibri"/>
                <a:sym typeface="Calibri"/>
              </a:rPr>
              <a:t>Hosts want a price that fills the calendar without losing income. Guests want to know if a listing is fair. Airbnb's own tool is a black box.</a:t>
            </a:r>
            <a:endParaRPr b="0" i="0" sz="12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C2B30"/>
              </a:buClr>
              <a:buSzPts val="1200"/>
              <a:buFont typeface="Calibri"/>
              <a:buNone/>
            </a:pPr>
            <a:r>
              <a:rPr b="0" i="0" lang="fr" sz="1200" u="none" cap="none" strike="noStrike">
                <a:solidFill>
                  <a:srgbClr val="1C2B30"/>
                </a:solidFill>
                <a:latin typeface="Calibri"/>
                <a:ea typeface="Calibri"/>
                <a:cs typeface="Calibri"/>
                <a:sym typeface="Calibri"/>
              </a:rPr>
              <a:t>We ask a simpler question: using only public listing features, how well can standard models predict the price?</a:t>
            </a:r>
            <a:endParaRPr b="0" i="0" sz="1200" u="none" cap="none" strike="noStrike">
              <a:solidFill>
                <a:schemeClr val="dk1"/>
              </a:solidFill>
              <a:latin typeface="Calibri"/>
              <a:ea typeface="Calibri"/>
              <a:cs typeface="Calibri"/>
              <a:sym typeface="Calibri"/>
            </a:endParaRPr>
          </a:p>
        </p:txBody>
      </p:sp>
      <p:sp>
        <p:nvSpPr>
          <p:cNvPr id="72" name="Google Shape;72;p16"/>
          <p:cNvSpPr/>
          <p:nvPr/>
        </p:nvSpPr>
        <p:spPr>
          <a:xfrm>
            <a:off x="5212080" y="1303020"/>
            <a:ext cx="3497580" cy="788670"/>
          </a:xfrm>
          <a:prstGeom prst="roundRect">
            <a:avLst>
              <a:gd fmla="val 6957"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p:nvPr/>
        </p:nvSpPr>
        <p:spPr>
          <a:xfrm>
            <a:off x="5383530" y="1529334"/>
            <a:ext cx="342900" cy="342900"/>
          </a:xfrm>
          <a:prstGeom prst="ellipse">
            <a:avLst/>
          </a:prstGeom>
          <a:solidFill>
            <a:srgbClr val="02C39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p:nvPr/>
        </p:nvSpPr>
        <p:spPr>
          <a:xfrm>
            <a:off x="5863590" y="1426464"/>
            <a:ext cx="267462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Task</a:t>
            </a:r>
            <a:endParaRPr b="0" i="0" sz="1100" u="none" cap="none" strike="noStrike">
              <a:solidFill>
                <a:schemeClr val="dk1"/>
              </a:solidFill>
              <a:latin typeface="Calibri"/>
              <a:ea typeface="Calibri"/>
              <a:cs typeface="Calibri"/>
              <a:sym typeface="Calibri"/>
            </a:endParaRPr>
          </a:p>
        </p:txBody>
      </p:sp>
      <p:sp>
        <p:nvSpPr>
          <p:cNvPr id="75" name="Google Shape;75;p16"/>
          <p:cNvSpPr/>
          <p:nvPr/>
        </p:nvSpPr>
        <p:spPr>
          <a:xfrm>
            <a:off x="5863590" y="1680210"/>
            <a:ext cx="270891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Supervised regression</a:t>
            </a:r>
            <a:endParaRPr b="0" i="0" sz="900" u="none" cap="none" strike="noStrike">
              <a:solidFill>
                <a:schemeClr val="dk1"/>
              </a:solidFill>
              <a:latin typeface="Calibri"/>
              <a:ea typeface="Calibri"/>
              <a:cs typeface="Calibri"/>
              <a:sym typeface="Calibri"/>
            </a:endParaRPr>
          </a:p>
        </p:txBody>
      </p:sp>
      <p:sp>
        <p:nvSpPr>
          <p:cNvPr id="76" name="Google Shape;76;p16"/>
          <p:cNvSpPr/>
          <p:nvPr/>
        </p:nvSpPr>
        <p:spPr>
          <a:xfrm>
            <a:off x="5212080" y="2228850"/>
            <a:ext cx="3497580" cy="788670"/>
          </a:xfrm>
          <a:prstGeom prst="roundRect">
            <a:avLst>
              <a:gd fmla="val 6957"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6"/>
          <p:cNvSpPr/>
          <p:nvPr/>
        </p:nvSpPr>
        <p:spPr>
          <a:xfrm>
            <a:off x="5383530" y="2455164"/>
            <a:ext cx="342900" cy="342900"/>
          </a:xfrm>
          <a:prstGeom prst="ellipse">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6"/>
          <p:cNvSpPr/>
          <p:nvPr/>
        </p:nvSpPr>
        <p:spPr>
          <a:xfrm>
            <a:off x="5863590" y="2352294"/>
            <a:ext cx="267462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Target</a:t>
            </a:r>
            <a:endParaRPr b="0" i="0" sz="1100" u="none" cap="none" strike="noStrike">
              <a:solidFill>
                <a:schemeClr val="dk1"/>
              </a:solidFill>
              <a:latin typeface="Calibri"/>
              <a:ea typeface="Calibri"/>
              <a:cs typeface="Calibri"/>
              <a:sym typeface="Calibri"/>
            </a:endParaRPr>
          </a:p>
        </p:txBody>
      </p:sp>
      <p:sp>
        <p:nvSpPr>
          <p:cNvPr id="79" name="Google Shape;79;p16"/>
          <p:cNvSpPr/>
          <p:nvPr/>
        </p:nvSpPr>
        <p:spPr>
          <a:xfrm>
            <a:off x="5863590" y="2606040"/>
            <a:ext cx="270891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log_price (log of the nightly price)</a:t>
            </a:r>
            <a:endParaRPr b="0" i="0" sz="900" u="none" cap="none" strike="noStrike">
              <a:solidFill>
                <a:schemeClr val="dk1"/>
              </a:solidFill>
              <a:latin typeface="Calibri"/>
              <a:ea typeface="Calibri"/>
              <a:cs typeface="Calibri"/>
              <a:sym typeface="Calibri"/>
            </a:endParaRPr>
          </a:p>
        </p:txBody>
      </p:sp>
      <p:sp>
        <p:nvSpPr>
          <p:cNvPr id="80" name="Google Shape;80;p16"/>
          <p:cNvSpPr/>
          <p:nvPr/>
        </p:nvSpPr>
        <p:spPr>
          <a:xfrm>
            <a:off x="5212080" y="3154680"/>
            <a:ext cx="3497580" cy="788670"/>
          </a:xfrm>
          <a:prstGeom prst="roundRect">
            <a:avLst>
              <a:gd fmla="val 6957"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6"/>
          <p:cNvSpPr/>
          <p:nvPr/>
        </p:nvSpPr>
        <p:spPr>
          <a:xfrm>
            <a:off x="5383530" y="3380994"/>
            <a:ext cx="342900" cy="34290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6"/>
          <p:cNvSpPr/>
          <p:nvPr/>
        </p:nvSpPr>
        <p:spPr>
          <a:xfrm>
            <a:off x="5863590" y="3278124"/>
            <a:ext cx="267462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Why log?</a:t>
            </a:r>
            <a:endParaRPr b="0" i="0" sz="1100" u="none" cap="none" strike="noStrike">
              <a:solidFill>
                <a:schemeClr val="dk1"/>
              </a:solidFill>
              <a:latin typeface="Calibri"/>
              <a:ea typeface="Calibri"/>
              <a:cs typeface="Calibri"/>
              <a:sym typeface="Calibri"/>
            </a:endParaRPr>
          </a:p>
        </p:txBody>
      </p:sp>
      <p:sp>
        <p:nvSpPr>
          <p:cNvPr id="83" name="Google Shape;83;p16"/>
          <p:cNvSpPr/>
          <p:nvPr/>
        </p:nvSpPr>
        <p:spPr>
          <a:xfrm>
            <a:off x="5863590" y="3531870"/>
            <a:ext cx="270891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Raw prices are skewed; the log is close to symmetric</a:t>
            </a:r>
            <a:endParaRPr b="0" i="0" sz="900" u="none" cap="none" strike="noStrike">
              <a:solidFill>
                <a:schemeClr val="dk1"/>
              </a:solidFill>
              <a:latin typeface="Calibri"/>
              <a:ea typeface="Calibri"/>
              <a:cs typeface="Calibri"/>
              <a:sym typeface="Calibri"/>
            </a:endParaRPr>
          </a:p>
        </p:txBody>
      </p:sp>
      <p:sp>
        <p:nvSpPr>
          <p:cNvPr id="84" name="Google Shape;84;p16"/>
          <p:cNvSpPr/>
          <p:nvPr/>
        </p:nvSpPr>
        <p:spPr>
          <a:xfrm>
            <a:off x="411480" y="3840480"/>
            <a:ext cx="82296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1000"/>
              <a:buFont typeface="Calibri"/>
              <a:buNone/>
            </a:pPr>
            <a:r>
              <a:rPr b="0" i="1" lang="fr" sz="1000" u="none" cap="none" strike="noStrike">
                <a:solidFill>
                  <a:srgbClr val="5B7178"/>
                </a:solidFill>
                <a:latin typeface="Calibri"/>
                <a:ea typeface="Calibri"/>
                <a:cs typeface="Calibri"/>
                <a:sym typeface="Calibri"/>
              </a:rPr>
              <a:t>Prices are from 2017-2018, so this is a study, not a live pricing tool.</a:t>
            </a:r>
            <a:endParaRPr b="0" i="0" sz="1000" u="none" cap="none" strike="noStrike">
              <a:solidFill>
                <a:schemeClr val="dk1"/>
              </a:solidFill>
              <a:latin typeface="Calibri"/>
              <a:ea typeface="Calibri"/>
              <a:cs typeface="Calibri"/>
              <a:sym typeface="Calibri"/>
            </a:endParaRPr>
          </a:p>
        </p:txBody>
      </p:sp>
      <p:sp>
        <p:nvSpPr>
          <p:cNvPr id="85" name="Google Shape;85;p16"/>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86" name="Google Shape;86;p16"/>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7"/>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THE DATA</a:t>
            </a:r>
            <a:endParaRPr b="0" i="0" sz="900" u="none" cap="none" strike="noStrike">
              <a:solidFill>
                <a:schemeClr val="dk1"/>
              </a:solidFill>
              <a:latin typeface="Calibri"/>
              <a:ea typeface="Calibri"/>
              <a:cs typeface="Calibri"/>
              <a:sym typeface="Calibri"/>
            </a:endParaRPr>
          </a:p>
        </p:txBody>
      </p:sp>
      <p:sp>
        <p:nvSpPr>
          <p:cNvPr id="93" name="Google Shape;93;p17"/>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Two files, six cities</a:t>
            </a:r>
            <a:endParaRPr b="0" i="0" sz="2300" u="none" cap="none" strike="noStrike">
              <a:solidFill>
                <a:schemeClr val="dk1"/>
              </a:solidFill>
              <a:latin typeface="Calibri"/>
              <a:ea typeface="Calibri"/>
              <a:cs typeface="Calibri"/>
              <a:sym typeface="Calibri"/>
            </a:endParaRPr>
          </a:p>
        </p:txBody>
      </p:sp>
      <p:sp>
        <p:nvSpPr>
          <p:cNvPr id="94" name="Google Shape;94;p17"/>
          <p:cNvSpPr/>
          <p:nvPr/>
        </p:nvSpPr>
        <p:spPr>
          <a:xfrm>
            <a:off x="411480" y="1268730"/>
            <a:ext cx="4046220" cy="1165860"/>
          </a:xfrm>
          <a:prstGeom prst="roundRect">
            <a:avLst>
              <a:gd fmla="val 4706"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7"/>
          <p:cNvSpPr/>
          <p:nvPr/>
        </p:nvSpPr>
        <p:spPr>
          <a:xfrm>
            <a:off x="617220" y="137160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400"/>
              <a:buFont typeface="Cambria"/>
              <a:buNone/>
            </a:pPr>
            <a:r>
              <a:rPr b="1" i="0" lang="fr" sz="1400" u="none" cap="none" strike="noStrike">
                <a:solidFill>
                  <a:srgbClr val="028090"/>
                </a:solidFill>
                <a:latin typeface="Cambria"/>
                <a:ea typeface="Cambria"/>
                <a:cs typeface="Cambria"/>
                <a:sym typeface="Cambria"/>
              </a:rPr>
              <a:t>train.csv</a:t>
            </a:r>
            <a:endParaRPr b="0" i="0" sz="1400" u="none" cap="none" strike="noStrike">
              <a:solidFill>
                <a:schemeClr val="dk1"/>
              </a:solidFill>
              <a:latin typeface="Calibri"/>
              <a:ea typeface="Calibri"/>
              <a:cs typeface="Calibri"/>
              <a:sym typeface="Calibri"/>
            </a:endParaRPr>
          </a:p>
        </p:txBody>
      </p:sp>
      <p:sp>
        <p:nvSpPr>
          <p:cNvPr id="96" name="Google Shape;96;p17"/>
          <p:cNvSpPr/>
          <p:nvPr/>
        </p:nvSpPr>
        <p:spPr>
          <a:xfrm>
            <a:off x="617220" y="1680210"/>
            <a:ext cx="363474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1" i="0" lang="fr" sz="1000" u="none" cap="none" strike="noStrike">
                <a:solidFill>
                  <a:srgbClr val="1C2B30"/>
                </a:solidFill>
                <a:latin typeface="Calibri"/>
                <a:ea typeface="Calibri"/>
                <a:cs typeface="Calibri"/>
                <a:sym typeface="Calibri"/>
              </a:rPr>
              <a:t>74,111 rows · has the price</a:t>
            </a:r>
            <a:endParaRPr b="0" i="0" sz="1000" u="none" cap="none" strike="noStrike">
              <a:solidFill>
                <a:schemeClr val="dk1"/>
              </a:solidFill>
              <a:latin typeface="Calibri"/>
              <a:ea typeface="Calibri"/>
              <a:cs typeface="Calibri"/>
              <a:sym typeface="Calibri"/>
            </a:endParaRPr>
          </a:p>
        </p:txBody>
      </p:sp>
      <p:sp>
        <p:nvSpPr>
          <p:cNvPr id="97" name="Google Shape;97;p17"/>
          <p:cNvSpPr/>
          <p:nvPr/>
        </p:nvSpPr>
        <p:spPr>
          <a:xfrm>
            <a:off x="617220" y="1920240"/>
            <a:ext cx="370332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Used for exploration, cleaning, training, and validation.</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4629150" y="1268730"/>
            <a:ext cx="4046220" cy="1165860"/>
          </a:xfrm>
          <a:prstGeom prst="roundRect">
            <a:avLst>
              <a:gd fmla="val 4706"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7"/>
          <p:cNvSpPr/>
          <p:nvPr/>
        </p:nvSpPr>
        <p:spPr>
          <a:xfrm>
            <a:off x="4834890" y="1371600"/>
            <a:ext cx="36347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400"/>
              <a:buFont typeface="Cambria"/>
              <a:buNone/>
            </a:pPr>
            <a:r>
              <a:rPr b="1" i="0" lang="fr" sz="1400" u="none" cap="none" strike="noStrike">
                <a:solidFill>
                  <a:srgbClr val="0B3B44"/>
                </a:solidFill>
                <a:latin typeface="Cambria"/>
                <a:ea typeface="Cambria"/>
                <a:cs typeface="Cambria"/>
                <a:sym typeface="Cambria"/>
              </a:rPr>
              <a:t>test.csv</a:t>
            </a:r>
            <a:endParaRPr b="0" i="0" sz="1400" u="none" cap="none" strike="noStrike">
              <a:solidFill>
                <a:schemeClr val="dk1"/>
              </a:solidFill>
              <a:latin typeface="Calibri"/>
              <a:ea typeface="Calibri"/>
              <a:cs typeface="Calibri"/>
              <a:sym typeface="Calibri"/>
            </a:endParaRPr>
          </a:p>
        </p:txBody>
      </p:sp>
      <p:sp>
        <p:nvSpPr>
          <p:cNvPr id="100" name="Google Shape;100;p17"/>
          <p:cNvSpPr/>
          <p:nvPr/>
        </p:nvSpPr>
        <p:spPr>
          <a:xfrm>
            <a:off x="4834890" y="1680210"/>
            <a:ext cx="363474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1" i="0" lang="fr" sz="1000" u="none" cap="none" strike="noStrike">
                <a:solidFill>
                  <a:srgbClr val="1C2B30"/>
                </a:solidFill>
                <a:latin typeface="Calibri"/>
                <a:ea typeface="Calibri"/>
                <a:cs typeface="Calibri"/>
                <a:sym typeface="Calibri"/>
              </a:rPr>
              <a:t>25,458 rows · no price</a:t>
            </a:r>
            <a:endParaRPr b="0" i="0" sz="1000" u="none" cap="none" strike="noStrike">
              <a:solidFill>
                <a:schemeClr val="dk1"/>
              </a:solidFill>
              <a:latin typeface="Calibri"/>
              <a:ea typeface="Calibri"/>
              <a:cs typeface="Calibri"/>
              <a:sym typeface="Calibri"/>
            </a:endParaRPr>
          </a:p>
        </p:txBody>
      </p:sp>
      <p:sp>
        <p:nvSpPr>
          <p:cNvPr id="101" name="Google Shape;101;p17"/>
          <p:cNvSpPr/>
          <p:nvPr/>
        </p:nvSpPr>
        <p:spPr>
          <a:xfrm>
            <a:off x="4834890" y="1920240"/>
            <a:ext cx="370332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Used only to generate predictions for unseen listings.</a:t>
            </a:r>
            <a:endParaRPr b="0" i="0" sz="900" u="none" cap="none" strike="noStrike">
              <a:solidFill>
                <a:schemeClr val="dk1"/>
              </a:solidFill>
              <a:latin typeface="Calibri"/>
              <a:ea typeface="Calibri"/>
              <a:cs typeface="Calibri"/>
              <a:sym typeface="Calibri"/>
            </a:endParaRPr>
          </a:p>
        </p:txBody>
      </p:sp>
      <p:sp>
        <p:nvSpPr>
          <p:cNvPr id="102" name="Google Shape;102;p17"/>
          <p:cNvSpPr/>
          <p:nvPr/>
        </p:nvSpPr>
        <p:spPr>
          <a:xfrm>
            <a:off x="411480" y="2571750"/>
            <a:ext cx="41148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Listings per city (train.csv)</a:t>
            </a:r>
            <a:endParaRPr b="0" i="0" sz="1100" u="none" cap="none" strike="noStrike">
              <a:solidFill>
                <a:schemeClr val="dk1"/>
              </a:solidFill>
              <a:latin typeface="Calibri"/>
              <a:ea typeface="Calibri"/>
              <a:cs typeface="Calibri"/>
              <a:sym typeface="Calibri"/>
            </a:endParaRPr>
          </a:p>
        </p:txBody>
      </p:sp>
      <p:graphicFrame>
        <p:nvGraphicFramePr>
          <p:cNvPr id="103" name="Google Shape;103;p17"/>
          <p:cNvGraphicFramePr/>
          <p:nvPr/>
        </p:nvGraphicFramePr>
        <p:xfrm>
          <a:off x="411480" y="2846070"/>
          <a:ext cx="3000000" cy="3000000"/>
        </p:xfrm>
        <a:graphic>
          <a:graphicData uri="http://schemas.openxmlformats.org/drawingml/2006/table">
            <a:tbl>
              <a:tblPr>
                <a:noFill/>
                <a:tableStyleId>{78177907-DCF4-4989-ACDF-E9BE43938A7B}</a:tableStyleId>
              </a:tblPr>
              <a:tblGrid>
                <a:gridCol w="2331700"/>
                <a:gridCol w="1234425"/>
              </a:tblGrid>
              <a:tr h="205725">
                <a:tc>
                  <a:txBody>
                    <a:bodyPr/>
                    <a:lstStyle/>
                    <a:p>
                      <a:pPr indent="0" lvl="0" marL="0" marR="0" rtl="0" algn="l">
                        <a:spcBef>
                          <a:spcPts val="0"/>
                        </a:spcBef>
                        <a:spcAft>
                          <a:spcPts val="0"/>
                        </a:spcAft>
                        <a:buClr>
                          <a:srgbClr val="FFFFFF"/>
                        </a:buClr>
                        <a:buSzPts val="900"/>
                        <a:buFont typeface="Calibri"/>
                        <a:buNone/>
                      </a:pPr>
                      <a:r>
                        <a:rPr b="1" lang="fr" sz="900" u="none" cap="none" strike="noStrike">
                          <a:solidFill>
                            <a:srgbClr val="FFFFFF"/>
                          </a:solidFill>
                          <a:latin typeface="Calibri"/>
                          <a:ea typeface="Calibri"/>
                          <a:cs typeface="Calibri"/>
                          <a:sym typeface="Calibri"/>
                        </a:rPr>
                        <a:t>City</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028090"/>
                    </a:solidFill>
                  </a:tcPr>
                </a:tc>
                <a:tc>
                  <a:txBody>
                    <a:bodyPr/>
                    <a:lstStyle/>
                    <a:p>
                      <a:pPr indent="0" lvl="0" marL="0" marR="0" rtl="0" algn="r">
                        <a:spcBef>
                          <a:spcPts val="0"/>
                        </a:spcBef>
                        <a:spcAft>
                          <a:spcPts val="0"/>
                        </a:spcAft>
                        <a:buClr>
                          <a:srgbClr val="FFFFFF"/>
                        </a:buClr>
                        <a:buSzPts val="900"/>
                        <a:buFont typeface="Calibri"/>
                        <a:buNone/>
                      </a:pPr>
                      <a:r>
                        <a:rPr b="1" lang="fr" sz="900" u="none" cap="none" strike="noStrike">
                          <a:solidFill>
                            <a:srgbClr val="FFFFFF"/>
                          </a:solidFill>
                          <a:latin typeface="Calibri"/>
                          <a:ea typeface="Calibri"/>
                          <a:cs typeface="Calibri"/>
                          <a:sym typeface="Calibri"/>
                        </a:rPr>
                        <a:t>Listings</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028090"/>
                    </a:solidFill>
                  </a:tcPr>
                </a:tc>
              </a:tr>
              <a:tr h="205725">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New York City</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32,349</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205725">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Los Angeles</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22,453</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205725">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San Francisco</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6,434</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205725">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Washington DC</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5,688</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205725">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Chicago</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3,719</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205725">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Boston</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3,468</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bl>
          </a:graphicData>
        </a:graphic>
      </p:graphicFrame>
      <p:sp>
        <p:nvSpPr>
          <p:cNvPr id="104" name="Google Shape;104;p17"/>
          <p:cNvSpPr/>
          <p:nvPr/>
        </p:nvSpPr>
        <p:spPr>
          <a:xfrm>
            <a:off x="4389120" y="2846070"/>
            <a:ext cx="4320540" cy="1748790"/>
          </a:xfrm>
          <a:prstGeom prst="roundRect">
            <a:avLst>
              <a:gd fmla="val 3137"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7"/>
          <p:cNvSpPr/>
          <p:nvPr/>
        </p:nvSpPr>
        <p:spPr>
          <a:xfrm>
            <a:off x="4594860" y="2948940"/>
            <a:ext cx="390906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What's inside</a:t>
            </a:r>
            <a:endParaRPr b="0" i="0" sz="1100" u="none" cap="none" strike="noStrike">
              <a:solidFill>
                <a:schemeClr val="dk1"/>
              </a:solidFill>
              <a:latin typeface="Calibri"/>
              <a:ea typeface="Calibri"/>
              <a:cs typeface="Calibri"/>
              <a:sym typeface="Calibri"/>
            </a:endParaRPr>
          </a:p>
        </p:txBody>
      </p:sp>
      <p:sp>
        <p:nvSpPr>
          <p:cNvPr id="106" name="Google Shape;106;p17"/>
          <p:cNvSpPr/>
          <p:nvPr/>
        </p:nvSpPr>
        <p:spPr>
          <a:xfrm>
            <a:off x="4629150" y="3188970"/>
            <a:ext cx="3943350" cy="1371600"/>
          </a:xfrm>
          <a:prstGeom prst="rect">
            <a:avLst/>
          </a:prstGeom>
          <a:noFill/>
          <a:ln>
            <a:noFill/>
          </a:ln>
        </p:spPr>
        <p:txBody>
          <a:bodyPr anchorCtr="0" anchor="t" bIns="34275" lIns="68575" spcFirstLastPara="1" rIns="68575" wrap="square" tIns="34275">
            <a:noAutofit/>
          </a:bodyPr>
          <a:lstStyle/>
          <a:p>
            <a:pPr indent="-247650" lvl="0" marL="254000" marR="0" rtl="0" algn="l">
              <a:spcBef>
                <a:spcPts val="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Numeric: capacity, bedrooms, bathrooms, beds, reviews, rating</a:t>
            </a:r>
            <a:endParaRPr b="0" i="0" sz="900" u="none" cap="none" strike="noStrike">
              <a:solidFill>
                <a:schemeClr val="dk1"/>
              </a:solidFill>
              <a:latin typeface="Calibri"/>
              <a:ea typeface="Calibri"/>
              <a:cs typeface="Calibri"/>
              <a:sym typeface="Calibri"/>
            </a:endParaRPr>
          </a:p>
          <a:p>
            <a:pPr indent="-247650" lvl="0" marL="254000" marR="0" rtl="0" algn="l">
              <a:spcBef>
                <a:spcPts val="4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Categorical: room type, property type, cancellation policy, city</a:t>
            </a:r>
            <a:endParaRPr b="0" i="0" sz="900" u="none" cap="none" strike="noStrike">
              <a:solidFill>
                <a:schemeClr val="dk1"/>
              </a:solidFill>
              <a:latin typeface="Calibri"/>
              <a:ea typeface="Calibri"/>
              <a:cs typeface="Calibri"/>
              <a:sym typeface="Calibri"/>
            </a:endParaRPr>
          </a:p>
          <a:p>
            <a:pPr indent="-247650" lvl="0" marL="254000" marR="0" rtl="0" algn="l">
              <a:spcBef>
                <a:spcPts val="4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Location: exact latitude and longitude</a:t>
            </a:r>
            <a:endParaRPr b="0" i="0" sz="900" u="none" cap="none" strike="noStrike">
              <a:solidFill>
                <a:schemeClr val="dk1"/>
              </a:solidFill>
              <a:latin typeface="Calibri"/>
              <a:ea typeface="Calibri"/>
              <a:cs typeface="Calibri"/>
              <a:sym typeface="Calibri"/>
            </a:endParaRPr>
          </a:p>
          <a:p>
            <a:pPr indent="-247650" lvl="0" marL="254000" marR="0" rtl="0" algn="l">
              <a:spcBef>
                <a:spcPts val="4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NYC and LA are about three quarters of the data</a:t>
            </a:r>
            <a:endParaRPr b="0" i="0" sz="900" u="none" cap="none" strike="noStrike">
              <a:solidFill>
                <a:schemeClr val="dk1"/>
              </a:solidFill>
              <a:latin typeface="Calibri"/>
              <a:ea typeface="Calibri"/>
              <a:cs typeface="Calibri"/>
              <a:sym typeface="Calibri"/>
            </a:endParaRPr>
          </a:p>
        </p:txBody>
      </p:sp>
      <p:sp>
        <p:nvSpPr>
          <p:cNvPr id="107" name="Google Shape;107;p17"/>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108" name="Google Shape;108;p17"/>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18"/>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CLEANING</a:t>
            </a:r>
            <a:endParaRPr b="0" i="0" sz="900" u="none" cap="none" strike="noStrike">
              <a:solidFill>
                <a:schemeClr val="dk1"/>
              </a:solidFill>
              <a:latin typeface="Calibri"/>
              <a:ea typeface="Calibri"/>
              <a:cs typeface="Calibri"/>
              <a:sym typeface="Calibri"/>
            </a:endParaRPr>
          </a:p>
        </p:txBody>
      </p:sp>
      <p:sp>
        <p:nvSpPr>
          <p:cNvPr id="115" name="Google Shape;115;p18"/>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One pipeline, fitted on training data only</a:t>
            </a:r>
            <a:endParaRPr b="0" i="0" sz="2300" u="none" cap="none" strike="noStrike">
              <a:solidFill>
                <a:schemeClr val="dk1"/>
              </a:solidFill>
              <a:latin typeface="Calibri"/>
              <a:ea typeface="Calibri"/>
              <a:cs typeface="Calibri"/>
              <a:sym typeface="Calibri"/>
            </a:endParaRPr>
          </a:p>
        </p:txBody>
      </p:sp>
      <p:sp>
        <p:nvSpPr>
          <p:cNvPr id="116" name="Google Shape;116;p18"/>
          <p:cNvSpPr/>
          <p:nvPr/>
        </p:nvSpPr>
        <p:spPr>
          <a:xfrm>
            <a:off x="411480" y="1303020"/>
            <a:ext cx="2023110" cy="1714500"/>
          </a:xfrm>
          <a:prstGeom prst="roundRect">
            <a:avLst>
              <a:gd fmla="val 3200"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8"/>
          <p:cNvSpPr/>
          <p:nvPr/>
        </p:nvSpPr>
        <p:spPr>
          <a:xfrm>
            <a:off x="617220" y="1508760"/>
            <a:ext cx="480060" cy="48006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8"/>
          <p:cNvSpPr/>
          <p:nvPr/>
        </p:nvSpPr>
        <p:spPr>
          <a:xfrm>
            <a:off x="617220" y="1563624"/>
            <a:ext cx="48006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0" lang="fr" sz="1700" u="none" cap="none" strike="noStrike">
                <a:solidFill>
                  <a:srgbClr val="FFFFFF"/>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119" name="Google Shape;119;p18"/>
          <p:cNvSpPr/>
          <p:nvPr/>
        </p:nvSpPr>
        <p:spPr>
          <a:xfrm>
            <a:off x="603504" y="2091690"/>
            <a:ext cx="17830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Split train.csv</a:t>
            </a:r>
            <a:endParaRPr b="0" i="0" sz="1100" u="none" cap="none" strike="noStrike">
              <a:solidFill>
                <a:schemeClr val="dk1"/>
              </a:solidFill>
              <a:latin typeface="Calibri"/>
              <a:ea typeface="Calibri"/>
              <a:cs typeface="Calibri"/>
              <a:sym typeface="Calibri"/>
            </a:endParaRPr>
          </a:p>
        </p:txBody>
      </p:sp>
      <p:sp>
        <p:nvSpPr>
          <p:cNvPr id="120" name="Google Shape;120;p18"/>
          <p:cNvSpPr/>
          <p:nvPr/>
        </p:nvSpPr>
        <p:spPr>
          <a:xfrm>
            <a:off x="603504" y="2400300"/>
            <a:ext cx="178308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80/20 train/validation, seed 42 (test has no price)</a:t>
            </a:r>
            <a:endParaRPr b="0" i="0" sz="900" u="none" cap="none" strike="noStrike">
              <a:solidFill>
                <a:schemeClr val="dk1"/>
              </a:solidFill>
              <a:latin typeface="Calibri"/>
              <a:ea typeface="Calibri"/>
              <a:cs typeface="Calibri"/>
              <a:sym typeface="Calibri"/>
            </a:endParaRPr>
          </a:p>
        </p:txBody>
      </p:sp>
      <p:sp>
        <p:nvSpPr>
          <p:cNvPr id="121" name="Google Shape;121;p18"/>
          <p:cNvSpPr/>
          <p:nvPr/>
        </p:nvSpPr>
        <p:spPr>
          <a:xfrm>
            <a:off x="2523744" y="1303020"/>
            <a:ext cx="2023110" cy="1714500"/>
          </a:xfrm>
          <a:prstGeom prst="roundRect">
            <a:avLst>
              <a:gd fmla="val 3200"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8"/>
          <p:cNvSpPr/>
          <p:nvPr/>
        </p:nvSpPr>
        <p:spPr>
          <a:xfrm>
            <a:off x="2729484" y="1508760"/>
            <a:ext cx="480060" cy="48006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8"/>
          <p:cNvSpPr/>
          <p:nvPr/>
        </p:nvSpPr>
        <p:spPr>
          <a:xfrm>
            <a:off x="2729484" y="1563624"/>
            <a:ext cx="48006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0" lang="fr" sz="1700" u="none" cap="none" strike="noStrike">
                <a:solidFill>
                  <a:srgbClr val="FFFFFF"/>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124" name="Google Shape;124;p18"/>
          <p:cNvSpPr/>
          <p:nvPr/>
        </p:nvSpPr>
        <p:spPr>
          <a:xfrm>
            <a:off x="2715768" y="2091690"/>
            <a:ext cx="17830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Missing values</a:t>
            </a:r>
            <a:endParaRPr b="0" i="0" sz="1100" u="none" cap="none" strike="noStrike">
              <a:solidFill>
                <a:schemeClr val="dk1"/>
              </a:solidFill>
              <a:latin typeface="Calibri"/>
              <a:ea typeface="Calibri"/>
              <a:cs typeface="Calibri"/>
              <a:sym typeface="Calibri"/>
            </a:endParaRPr>
          </a:p>
        </p:txBody>
      </p:sp>
      <p:sp>
        <p:nvSpPr>
          <p:cNvPr id="125" name="Google Shape;125;p18"/>
          <p:cNvSpPr/>
          <p:nvPr/>
        </p:nvSpPr>
        <p:spPr>
          <a:xfrm>
            <a:off x="2715768" y="2400300"/>
            <a:ext cx="178308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Median for numbers, a 'missing' category for text</a:t>
            </a:r>
            <a:endParaRPr b="0" i="0" sz="900" u="none" cap="none" strike="noStrike">
              <a:solidFill>
                <a:schemeClr val="dk1"/>
              </a:solidFill>
              <a:latin typeface="Calibri"/>
              <a:ea typeface="Calibri"/>
              <a:cs typeface="Calibri"/>
              <a:sym typeface="Calibri"/>
            </a:endParaRPr>
          </a:p>
        </p:txBody>
      </p:sp>
      <p:sp>
        <p:nvSpPr>
          <p:cNvPr id="126" name="Google Shape;126;p18"/>
          <p:cNvSpPr/>
          <p:nvPr/>
        </p:nvSpPr>
        <p:spPr>
          <a:xfrm>
            <a:off x="4636008" y="1303020"/>
            <a:ext cx="2023110" cy="1714500"/>
          </a:xfrm>
          <a:prstGeom prst="roundRect">
            <a:avLst>
              <a:gd fmla="val 3200"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8"/>
          <p:cNvSpPr/>
          <p:nvPr/>
        </p:nvSpPr>
        <p:spPr>
          <a:xfrm>
            <a:off x="4841748" y="1508760"/>
            <a:ext cx="480060" cy="48006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8"/>
          <p:cNvSpPr/>
          <p:nvPr/>
        </p:nvSpPr>
        <p:spPr>
          <a:xfrm>
            <a:off x="4841748" y="1563624"/>
            <a:ext cx="48006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0" lang="fr" sz="1700" u="none" cap="none" strike="noStrike">
                <a:solidFill>
                  <a:srgbClr val="FFFFFF"/>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129" name="Google Shape;129;p18"/>
          <p:cNvSpPr/>
          <p:nvPr/>
        </p:nvSpPr>
        <p:spPr>
          <a:xfrm>
            <a:off x="4828032" y="2091690"/>
            <a:ext cx="17830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Encoding</a:t>
            </a:r>
            <a:endParaRPr b="0" i="0" sz="1100" u="none" cap="none" strike="noStrike">
              <a:solidFill>
                <a:schemeClr val="dk1"/>
              </a:solidFill>
              <a:latin typeface="Calibri"/>
              <a:ea typeface="Calibri"/>
              <a:cs typeface="Calibri"/>
              <a:sym typeface="Calibri"/>
            </a:endParaRPr>
          </a:p>
        </p:txBody>
      </p:sp>
      <p:sp>
        <p:nvSpPr>
          <p:cNvPr id="130" name="Google Shape;130;p18"/>
          <p:cNvSpPr/>
          <p:nvPr/>
        </p:nvSpPr>
        <p:spPr>
          <a:xfrm>
            <a:off x="4828032" y="2400300"/>
            <a:ext cx="178308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LabelEncoder turns categories into integers</a:t>
            </a:r>
            <a:endParaRPr b="0" i="0" sz="900" u="none" cap="none" strike="noStrike">
              <a:solidFill>
                <a:schemeClr val="dk1"/>
              </a:solidFill>
              <a:latin typeface="Calibri"/>
              <a:ea typeface="Calibri"/>
              <a:cs typeface="Calibri"/>
              <a:sym typeface="Calibri"/>
            </a:endParaRPr>
          </a:p>
        </p:txBody>
      </p:sp>
      <p:sp>
        <p:nvSpPr>
          <p:cNvPr id="131" name="Google Shape;131;p18"/>
          <p:cNvSpPr/>
          <p:nvPr/>
        </p:nvSpPr>
        <p:spPr>
          <a:xfrm>
            <a:off x="6748272" y="1303020"/>
            <a:ext cx="2023110" cy="1714500"/>
          </a:xfrm>
          <a:prstGeom prst="roundRect">
            <a:avLst>
              <a:gd fmla="val 3200"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8"/>
          <p:cNvSpPr/>
          <p:nvPr/>
        </p:nvSpPr>
        <p:spPr>
          <a:xfrm>
            <a:off x="6954012" y="1508760"/>
            <a:ext cx="480060" cy="48006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8"/>
          <p:cNvSpPr/>
          <p:nvPr/>
        </p:nvSpPr>
        <p:spPr>
          <a:xfrm>
            <a:off x="6954012" y="1563624"/>
            <a:ext cx="48006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0" lang="fr" sz="1700" u="none" cap="none" strike="noStrike">
                <a:solidFill>
                  <a:srgbClr val="FFFFFF"/>
                </a:solidFill>
                <a:latin typeface="Cambria"/>
                <a:ea typeface="Cambria"/>
                <a:cs typeface="Cambria"/>
                <a:sym typeface="Cambria"/>
              </a:rPr>
              <a:t>4</a:t>
            </a:r>
            <a:endParaRPr b="0" i="0" sz="1700" u="none" cap="none" strike="noStrike">
              <a:solidFill>
                <a:schemeClr val="dk1"/>
              </a:solidFill>
              <a:latin typeface="Calibri"/>
              <a:ea typeface="Calibri"/>
              <a:cs typeface="Calibri"/>
              <a:sym typeface="Calibri"/>
            </a:endParaRPr>
          </a:p>
        </p:txBody>
      </p:sp>
      <p:sp>
        <p:nvSpPr>
          <p:cNvPr id="134" name="Google Shape;134;p18"/>
          <p:cNvSpPr/>
          <p:nvPr/>
        </p:nvSpPr>
        <p:spPr>
          <a:xfrm>
            <a:off x="6940296" y="2091690"/>
            <a:ext cx="17830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Scaling</a:t>
            </a:r>
            <a:endParaRPr b="0" i="0" sz="1100" u="none" cap="none" strike="noStrike">
              <a:solidFill>
                <a:schemeClr val="dk1"/>
              </a:solidFill>
              <a:latin typeface="Calibri"/>
              <a:ea typeface="Calibri"/>
              <a:cs typeface="Calibri"/>
              <a:sym typeface="Calibri"/>
            </a:endParaRPr>
          </a:p>
        </p:txBody>
      </p:sp>
      <p:sp>
        <p:nvSpPr>
          <p:cNvPr id="135" name="Google Shape;135;p18"/>
          <p:cNvSpPr/>
          <p:nvPr/>
        </p:nvSpPr>
        <p:spPr>
          <a:xfrm>
            <a:off x="6940296" y="2400300"/>
            <a:ext cx="178308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StandardScaler on the numeric features</a:t>
            </a:r>
            <a:endParaRPr b="0" i="0" sz="900" u="none" cap="none" strike="noStrike">
              <a:solidFill>
                <a:schemeClr val="dk1"/>
              </a:solidFill>
              <a:latin typeface="Calibri"/>
              <a:ea typeface="Calibri"/>
              <a:cs typeface="Calibri"/>
              <a:sym typeface="Calibri"/>
            </a:endParaRPr>
          </a:p>
        </p:txBody>
      </p:sp>
      <p:sp>
        <p:nvSpPr>
          <p:cNvPr id="136" name="Google Shape;136;p18"/>
          <p:cNvSpPr/>
          <p:nvPr/>
        </p:nvSpPr>
        <p:spPr>
          <a:xfrm>
            <a:off x="411480" y="3223260"/>
            <a:ext cx="8298180" cy="788670"/>
          </a:xfrm>
          <a:prstGeom prst="roundRect">
            <a:avLst>
              <a:gd fmla="val 6957" name="adj"/>
            </a:avLst>
          </a:prstGeom>
          <a:solidFill>
            <a:srgbClr val="0B3B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18"/>
          <p:cNvSpPr/>
          <p:nvPr/>
        </p:nvSpPr>
        <p:spPr>
          <a:xfrm>
            <a:off x="651510" y="3360420"/>
            <a:ext cx="781812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100"/>
              <a:buFont typeface="Calibri"/>
              <a:buNone/>
            </a:pPr>
            <a:r>
              <a:rPr b="1" i="0" lang="fr" sz="1100" u="none" cap="none" strike="noStrike">
                <a:solidFill>
                  <a:srgbClr val="02C39A"/>
                </a:solidFill>
                <a:latin typeface="Calibri"/>
                <a:ea typeface="Calibri"/>
                <a:cs typeface="Calibri"/>
                <a:sym typeface="Calibri"/>
              </a:rPr>
              <a:t>No data leakage.  </a:t>
            </a:r>
            <a:r>
              <a:rPr b="0" i="0" lang="fr" sz="1100" u="none" cap="none" strike="noStrike">
                <a:solidFill>
                  <a:srgbClr val="E8F4F3"/>
                </a:solidFill>
                <a:latin typeface="Calibri"/>
                <a:ea typeface="Calibri"/>
                <a:cs typeface="Calibri"/>
                <a:sym typeface="Calibri"/>
              </a:rPr>
              <a:t>Medians, encoders, and the scaler are all fitted on training data, then applied unchanged to the validation and test sets.</a:t>
            </a:r>
            <a:endParaRPr b="0" i="0" sz="1100" u="none" cap="none" strike="noStrike">
              <a:solidFill>
                <a:schemeClr val="dk1"/>
              </a:solidFill>
              <a:latin typeface="Calibri"/>
              <a:ea typeface="Calibri"/>
              <a:cs typeface="Calibri"/>
              <a:sym typeface="Calibri"/>
            </a:endParaRPr>
          </a:p>
        </p:txBody>
      </p:sp>
      <p:sp>
        <p:nvSpPr>
          <p:cNvPr id="138" name="Google Shape;138;p18"/>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139" name="Google Shape;139;p18"/>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19"/>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EXPLORATION</a:t>
            </a:r>
            <a:endParaRPr b="0" i="0" sz="900" u="none" cap="none" strike="noStrike">
              <a:solidFill>
                <a:schemeClr val="dk1"/>
              </a:solidFill>
              <a:latin typeface="Calibri"/>
              <a:ea typeface="Calibri"/>
              <a:cs typeface="Calibri"/>
              <a:sym typeface="Calibri"/>
            </a:endParaRPr>
          </a:p>
        </p:txBody>
      </p:sp>
      <p:sp>
        <p:nvSpPr>
          <p:cNvPr id="146" name="Google Shape;146;p19"/>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Where the listings are</a:t>
            </a:r>
            <a:endParaRPr b="0" i="0" sz="2300" u="none" cap="none" strike="noStrike">
              <a:solidFill>
                <a:schemeClr val="dk1"/>
              </a:solidFill>
              <a:latin typeface="Calibri"/>
              <a:ea typeface="Calibri"/>
              <a:cs typeface="Calibri"/>
              <a:sym typeface="Calibri"/>
            </a:endParaRPr>
          </a:p>
        </p:txBody>
      </p:sp>
      <p:pic>
        <p:nvPicPr>
          <p:cNvPr descr="/home/claude/deck/figures/geo_map.png" id="147" name="Google Shape;147;p19"/>
          <p:cNvPicPr preferRelativeResize="0"/>
          <p:nvPr/>
        </p:nvPicPr>
        <p:blipFill rotWithShape="1">
          <a:blip r:embed="rId3">
            <a:alphaModFix/>
          </a:blip>
          <a:srcRect b="0" l="0" r="0" t="0"/>
          <a:stretch/>
        </p:blipFill>
        <p:spPr>
          <a:xfrm>
            <a:off x="815279" y="1268730"/>
            <a:ext cx="4404482" cy="3291840"/>
          </a:xfrm>
          <a:prstGeom prst="rect">
            <a:avLst/>
          </a:prstGeom>
          <a:noFill/>
          <a:ln>
            <a:noFill/>
          </a:ln>
        </p:spPr>
      </p:pic>
      <p:sp>
        <p:nvSpPr>
          <p:cNvPr id="148" name="Google Shape;148;p19"/>
          <p:cNvSpPr/>
          <p:nvPr/>
        </p:nvSpPr>
        <p:spPr>
          <a:xfrm>
            <a:off x="5829300" y="1508760"/>
            <a:ext cx="2880360" cy="2606040"/>
          </a:xfrm>
          <a:prstGeom prst="roundRect">
            <a:avLst>
              <a:gd fmla="val 2105"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9"/>
          <p:cNvSpPr/>
          <p:nvPr/>
        </p:nvSpPr>
        <p:spPr>
          <a:xfrm>
            <a:off x="6000750" y="1645920"/>
            <a:ext cx="25374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On the map</a:t>
            </a:r>
            <a:endParaRPr b="0" i="0" sz="1100" u="none" cap="none" strike="noStrike">
              <a:solidFill>
                <a:schemeClr val="dk1"/>
              </a:solidFill>
              <a:latin typeface="Calibri"/>
              <a:ea typeface="Calibri"/>
              <a:cs typeface="Calibri"/>
              <a:sym typeface="Calibri"/>
            </a:endParaRPr>
          </a:p>
        </p:txBody>
      </p:sp>
      <p:sp>
        <p:nvSpPr>
          <p:cNvPr id="150" name="Google Shape;150;p19"/>
          <p:cNvSpPr/>
          <p:nvPr/>
        </p:nvSpPr>
        <p:spPr>
          <a:xfrm>
            <a:off x="6035040" y="1954530"/>
            <a:ext cx="2537460" cy="2057400"/>
          </a:xfrm>
          <a:prstGeom prst="rect">
            <a:avLst/>
          </a:prstGeom>
          <a:noFill/>
          <a:ln>
            <a:noFill/>
          </a:ln>
        </p:spPr>
        <p:txBody>
          <a:bodyPr anchorCtr="0" anchor="t" bIns="34275" lIns="68575" spcFirstLastPara="1" rIns="68575" wrap="square" tIns="34275">
            <a:noAutofit/>
          </a:bodyPr>
          <a:lstStyle/>
          <a:p>
            <a:pPr indent="-247650" lvl="0" marL="254000" marR="0" rtl="0" algn="l">
              <a:spcBef>
                <a:spcPts val="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The notebook has an interactive Folium map you can zoom and click.</a:t>
            </a:r>
            <a:endParaRPr b="0" i="0" sz="900" u="none" cap="none" strike="noStrike">
              <a:solidFill>
                <a:schemeClr val="dk1"/>
              </a:solidFill>
              <a:latin typeface="Calibri"/>
              <a:ea typeface="Calibri"/>
              <a:cs typeface="Calibri"/>
              <a:sym typeface="Calibri"/>
            </a:endParaRPr>
          </a:p>
          <a:p>
            <a:pPr indent="-247650" lvl="0" marL="254000" marR="0" rtl="0" algn="l">
              <a:spcBef>
                <a:spcPts val="6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Six clear clusters, one per city.</a:t>
            </a:r>
            <a:endParaRPr b="0" i="0" sz="900" u="none" cap="none" strike="noStrike">
              <a:solidFill>
                <a:schemeClr val="dk1"/>
              </a:solidFill>
              <a:latin typeface="Calibri"/>
              <a:ea typeface="Calibri"/>
              <a:cs typeface="Calibri"/>
              <a:sym typeface="Calibri"/>
            </a:endParaRPr>
          </a:p>
          <a:p>
            <a:pPr indent="-247650" lvl="0" marL="254000" marR="0" rtl="0" algn="l">
              <a:spcBef>
                <a:spcPts val="6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Inside each city, pricier listings sit in the central and coastal areas.</a:t>
            </a:r>
            <a:endParaRPr b="0" i="0" sz="900" u="none" cap="none" strike="noStrike">
              <a:solidFill>
                <a:schemeClr val="dk1"/>
              </a:solidFill>
              <a:latin typeface="Calibri"/>
              <a:ea typeface="Calibri"/>
              <a:cs typeface="Calibri"/>
              <a:sym typeface="Calibri"/>
            </a:endParaRPr>
          </a:p>
        </p:txBody>
      </p:sp>
      <p:sp>
        <p:nvSpPr>
          <p:cNvPr id="151" name="Google Shape;151;p19"/>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152" name="Google Shape;152;p19"/>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20"/>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EXPLORATION</a:t>
            </a:r>
            <a:endParaRPr b="0" i="0" sz="900" u="none" cap="none" strike="noStrike">
              <a:solidFill>
                <a:schemeClr val="dk1"/>
              </a:solidFill>
              <a:latin typeface="Calibri"/>
              <a:ea typeface="Calibri"/>
              <a:cs typeface="Calibri"/>
              <a:sym typeface="Calibri"/>
            </a:endParaRPr>
          </a:p>
        </p:txBody>
      </p:sp>
      <p:sp>
        <p:nvSpPr>
          <p:cNvPr id="159" name="Google Shape;159;p20"/>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The log price, and what moves it</a:t>
            </a:r>
            <a:endParaRPr b="0" i="0" sz="2300" u="none" cap="none" strike="noStrike">
              <a:solidFill>
                <a:schemeClr val="dk1"/>
              </a:solidFill>
              <a:latin typeface="Calibri"/>
              <a:ea typeface="Calibri"/>
              <a:cs typeface="Calibri"/>
              <a:sym typeface="Calibri"/>
            </a:endParaRPr>
          </a:p>
        </p:txBody>
      </p:sp>
      <p:pic>
        <p:nvPicPr>
          <p:cNvPr descr="/home/claude/deck/figures/target.png" id="160" name="Google Shape;160;p20"/>
          <p:cNvPicPr preferRelativeResize="0"/>
          <p:nvPr/>
        </p:nvPicPr>
        <p:blipFill rotWithShape="1">
          <a:blip r:embed="rId3">
            <a:alphaModFix/>
          </a:blip>
          <a:srcRect b="0" l="0" r="0" t="0"/>
          <a:stretch/>
        </p:blipFill>
        <p:spPr>
          <a:xfrm>
            <a:off x="1042416" y="1234440"/>
            <a:ext cx="2784348" cy="1371600"/>
          </a:xfrm>
          <a:prstGeom prst="rect">
            <a:avLst/>
          </a:prstGeom>
          <a:noFill/>
          <a:ln>
            <a:noFill/>
          </a:ln>
        </p:spPr>
      </p:pic>
      <p:pic>
        <p:nvPicPr>
          <p:cNvPr descr="/home/claude/deck/figures/price_city_room.png" id="161" name="Google Shape;161;p20"/>
          <p:cNvPicPr preferRelativeResize="0"/>
          <p:nvPr/>
        </p:nvPicPr>
        <p:blipFill rotWithShape="1">
          <a:blip r:embed="rId4">
            <a:alphaModFix/>
          </a:blip>
          <a:srcRect b="0" l="0" r="0" t="0"/>
          <a:stretch/>
        </p:blipFill>
        <p:spPr>
          <a:xfrm>
            <a:off x="1951958" y="2708910"/>
            <a:ext cx="5217223" cy="1714500"/>
          </a:xfrm>
          <a:prstGeom prst="rect">
            <a:avLst/>
          </a:prstGeom>
          <a:noFill/>
          <a:ln>
            <a:noFill/>
          </a:ln>
        </p:spPr>
      </p:pic>
      <p:sp>
        <p:nvSpPr>
          <p:cNvPr id="162" name="Google Shape;162;p20"/>
          <p:cNvSpPr/>
          <p:nvPr/>
        </p:nvSpPr>
        <p:spPr>
          <a:xfrm>
            <a:off x="4663440" y="1234440"/>
            <a:ext cx="4046220" cy="1371600"/>
          </a:xfrm>
          <a:prstGeom prst="roundRect">
            <a:avLst>
              <a:gd fmla="val 4000"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0"/>
          <p:cNvSpPr/>
          <p:nvPr/>
        </p:nvSpPr>
        <p:spPr>
          <a:xfrm>
            <a:off x="4834890" y="1371600"/>
            <a:ext cx="3771900" cy="1165860"/>
          </a:xfrm>
          <a:prstGeom prst="rect">
            <a:avLst/>
          </a:prstGeom>
          <a:noFill/>
          <a:ln>
            <a:noFill/>
          </a:ln>
        </p:spPr>
        <p:txBody>
          <a:bodyPr anchorCtr="0" anchor="t" bIns="34275" lIns="68575" spcFirstLastPara="1" rIns="68575" wrap="square" tIns="34275">
            <a:noAutofit/>
          </a:bodyPr>
          <a:lstStyle/>
          <a:p>
            <a:pPr indent="-247650" lvl="0" marL="254000" marR="0" rtl="0" algn="l">
              <a:spcBef>
                <a:spcPts val="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The target is roughly bell-shaped after the log.</a:t>
            </a:r>
            <a:endParaRPr b="0" i="0" sz="900" u="none" cap="none" strike="noStrike">
              <a:solidFill>
                <a:schemeClr val="dk1"/>
              </a:solidFill>
              <a:latin typeface="Calibri"/>
              <a:ea typeface="Calibri"/>
              <a:cs typeface="Calibri"/>
              <a:sym typeface="Calibri"/>
            </a:endParaRPr>
          </a:p>
          <a:p>
            <a:pPr indent="-247650" lvl="0" marL="254000" marR="0" rtl="0" algn="l">
              <a:spcBef>
                <a:spcPts val="5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SF and Boston are priciest, Chicago the cheapest.</a:t>
            </a:r>
            <a:endParaRPr b="0" i="0" sz="900" u="none" cap="none" strike="noStrike">
              <a:solidFill>
                <a:schemeClr val="dk1"/>
              </a:solidFill>
              <a:latin typeface="Calibri"/>
              <a:ea typeface="Calibri"/>
              <a:cs typeface="Calibri"/>
              <a:sym typeface="Calibri"/>
            </a:endParaRPr>
          </a:p>
          <a:p>
            <a:pPr indent="-247650" lvl="0" marL="254000" marR="0" rtl="0" algn="l">
              <a:spcBef>
                <a:spcPts val="500"/>
              </a:spcBef>
              <a:spcAft>
                <a:spcPts val="0"/>
              </a:spcAft>
              <a:buClr>
                <a:srgbClr val="1C2B30"/>
              </a:buClr>
              <a:buSzPts val="900"/>
              <a:buFont typeface="Calibri"/>
              <a:buChar char="•"/>
            </a:pPr>
            <a:r>
              <a:rPr b="0" i="0" lang="fr" sz="900" u="none" cap="none" strike="noStrike">
                <a:solidFill>
                  <a:srgbClr val="1C2B30"/>
                </a:solidFill>
                <a:latin typeface="Calibri"/>
                <a:ea typeface="Calibri"/>
                <a:cs typeface="Calibri"/>
                <a:sym typeface="Calibri"/>
              </a:rPr>
              <a:t>Entire home &gt; private room &gt; shared room.</a:t>
            </a:r>
            <a:endParaRPr b="0" i="0" sz="900" u="none" cap="none" strike="noStrike">
              <a:solidFill>
                <a:schemeClr val="dk1"/>
              </a:solidFill>
              <a:latin typeface="Calibri"/>
              <a:ea typeface="Calibri"/>
              <a:cs typeface="Calibri"/>
              <a:sym typeface="Calibri"/>
            </a:endParaRPr>
          </a:p>
        </p:txBody>
      </p:sp>
      <p:sp>
        <p:nvSpPr>
          <p:cNvPr id="164" name="Google Shape;164;p20"/>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165" name="Google Shape;165;p20"/>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1"/>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EXPLORATION</a:t>
            </a:r>
            <a:endParaRPr b="0" i="0" sz="900" u="none" cap="none" strike="noStrike">
              <a:solidFill>
                <a:schemeClr val="dk1"/>
              </a:solidFill>
              <a:latin typeface="Calibri"/>
              <a:ea typeface="Calibri"/>
              <a:cs typeface="Calibri"/>
              <a:sym typeface="Calibri"/>
            </a:endParaRPr>
          </a:p>
        </p:txBody>
      </p:sp>
      <p:sp>
        <p:nvSpPr>
          <p:cNvPr id="172" name="Google Shape;172;p21"/>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What correlates with price</a:t>
            </a:r>
            <a:endParaRPr b="0" i="0" sz="2300" u="none" cap="none" strike="noStrike">
              <a:solidFill>
                <a:schemeClr val="dk1"/>
              </a:solidFill>
              <a:latin typeface="Calibri"/>
              <a:ea typeface="Calibri"/>
              <a:cs typeface="Calibri"/>
              <a:sym typeface="Calibri"/>
            </a:endParaRPr>
          </a:p>
        </p:txBody>
      </p:sp>
      <p:pic>
        <p:nvPicPr>
          <p:cNvPr descr="/home/claude/deck/figures/corr.png" id="173" name="Google Shape;173;p21"/>
          <p:cNvPicPr preferRelativeResize="0"/>
          <p:nvPr/>
        </p:nvPicPr>
        <p:blipFill rotWithShape="1">
          <a:blip r:embed="rId3">
            <a:alphaModFix/>
          </a:blip>
          <a:srcRect b="0" l="0" r="0" t="0"/>
          <a:stretch/>
        </p:blipFill>
        <p:spPr>
          <a:xfrm>
            <a:off x="514556" y="1234440"/>
            <a:ext cx="4388708" cy="3360420"/>
          </a:xfrm>
          <a:prstGeom prst="rect">
            <a:avLst/>
          </a:prstGeom>
          <a:noFill/>
          <a:ln>
            <a:noFill/>
          </a:ln>
        </p:spPr>
      </p:pic>
      <p:sp>
        <p:nvSpPr>
          <p:cNvPr id="174" name="Google Shape;174;p21"/>
          <p:cNvSpPr/>
          <p:nvPr/>
        </p:nvSpPr>
        <p:spPr>
          <a:xfrm>
            <a:off x="5212080" y="1440180"/>
            <a:ext cx="34975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Strongest linear links to log_price</a:t>
            </a:r>
            <a:endParaRPr b="0" i="0" sz="1100" u="none" cap="none" strike="noStrike">
              <a:solidFill>
                <a:schemeClr val="dk1"/>
              </a:solidFill>
              <a:latin typeface="Calibri"/>
              <a:ea typeface="Calibri"/>
              <a:cs typeface="Calibri"/>
              <a:sym typeface="Calibri"/>
            </a:endParaRPr>
          </a:p>
        </p:txBody>
      </p:sp>
      <p:sp>
        <p:nvSpPr>
          <p:cNvPr id="175" name="Google Shape;175;p21"/>
          <p:cNvSpPr/>
          <p:nvPr/>
        </p:nvSpPr>
        <p:spPr>
          <a:xfrm>
            <a:off x="5212080" y="1817370"/>
            <a:ext cx="3497580" cy="411480"/>
          </a:xfrm>
          <a:prstGeom prst="roundRect">
            <a:avLst>
              <a:gd fmla="val 10000" name="adj"/>
            </a:avLst>
          </a:prstGeom>
          <a:solidFill>
            <a:srgbClr val="F0F7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 name="Google Shape;176;p21"/>
          <p:cNvSpPr/>
          <p:nvPr/>
        </p:nvSpPr>
        <p:spPr>
          <a:xfrm>
            <a:off x="5349240" y="1817370"/>
            <a:ext cx="21945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0" i="0" lang="fr" sz="1000" u="none" cap="none" strike="noStrike">
                <a:solidFill>
                  <a:srgbClr val="1C2B30"/>
                </a:solidFill>
                <a:latin typeface="Calibri"/>
                <a:ea typeface="Calibri"/>
                <a:cs typeface="Calibri"/>
                <a:sym typeface="Calibri"/>
              </a:rPr>
              <a:t>room_type</a:t>
            </a:r>
            <a:endParaRPr b="0" i="0" sz="1000" u="none" cap="none" strike="noStrike">
              <a:solidFill>
                <a:schemeClr val="dk1"/>
              </a:solidFill>
              <a:latin typeface="Calibri"/>
              <a:ea typeface="Calibri"/>
              <a:cs typeface="Calibri"/>
              <a:sym typeface="Calibri"/>
            </a:endParaRPr>
          </a:p>
        </p:txBody>
      </p:sp>
      <p:sp>
        <p:nvSpPr>
          <p:cNvPr id="177" name="Google Shape;177;p21"/>
          <p:cNvSpPr/>
          <p:nvPr/>
        </p:nvSpPr>
        <p:spPr>
          <a:xfrm>
            <a:off x="7475220" y="1817370"/>
            <a:ext cx="1097280" cy="41148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028090"/>
              </a:buClr>
              <a:buSzPts val="1100"/>
              <a:buFont typeface="Cambria"/>
              <a:buNone/>
            </a:pPr>
            <a:r>
              <a:rPr b="1" i="0" lang="fr" sz="1100" u="none" cap="none" strike="noStrike">
                <a:solidFill>
                  <a:srgbClr val="028090"/>
                </a:solidFill>
                <a:latin typeface="Cambria"/>
                <a:ea typeface="Cambria"/>
                <a:cs typeface="Cambria"/>
                <a:sym typeface="Cambria"/>
              </a:rPr>
              <a:t>-0.61</a:t>
            </a:r>
            <a:endParaRPr b="0" i="0" sz="1100" u="none" cap="none" strike="noStrike">
              <a:solidFill>
                <a:schemeClr val="dk1"/>
              </a:solidFill>
              <a:latin typeface="Calibri"/>
              <a:ea typeface="Calibri"/>
              <a:cs typeface="Calibri"/>
              <a:sym typeface="Calibri"/>
            </a:endParaRPr>
          </a:p>
        </p:txBody>
      </p:sp>
      <p:sp>
        <p:nvSpPr>
          <p:cNvPr id="178" name="Google Shape;178;p21"/>
          <p:cNvSpPr/>
          <p:nvPr/>
        </p:nvSpPr>
        <p:spPr>
          <a:xfrm>
            <a:off x="5212080" y="2311146"/>
            <a:ext cx="3497580" cy="411480"/>
          </a:xfrm>
          <a:prstGeom prst="roundRect">
            <a:avLst>
              <a:gd fmla="val 10000" name="adj"/>
            </a:avLst>
          </a:prstGeom>
          <a:solidFill>
            <a:srgbClr val="F0F7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1"/>
          <p:cNvSpPr/>
          <p:nvPr/>
        </p:nvSpPr>
        <p:spPr>
          <a:xfrm>
            <a:off x="5349240" y="2311146"/>
            <a:ext cx="21945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0" i="0" lang="fr" sz="1000" u="none" cap="none" strike="noStrike">
                <a:solidFill>
                  <a:srgbClr val="1C2B30"/>
                </a:solidFill>
                <a:latin typeface="Calibri"/>
                <a:ea typeface="Calibri"/>
                <a:cs typeface="Calibri"/>
                <a:sym typeface="Calibri"/>
              </a:rPr>
              <a:t>accommodates</a:t>
            </a:r>
            <a:endParaRPr b="0" i="0" sz="1000" u="none" cap="none" strike="noStrike">
              <a:solidFill>
                <a:schemeClr val="dk1"/>
              </a:solidFill>
              <a:latin typeface="Calibri"/>
              <a:ea typeface="Calibri"/>
              <a:cs typeface="Calibri"/>
              <a:sym typeface="Calibri"/>
            </a:endParaRPr>
          </a:p>
        </p:txBody>
      </p:sp>
      <p:sp>
        <p:nvSpPr>
          <p:cNvPr id="180" name="Google Shape;180;p21"/>
          <p:cNvSpPr/>
          <p:nvPr/>
        </p:nvSpPr>
        <p:spPr>
          <a:xfrm>
            <a:off x="7475220" y="2311146"/>
            <a:ext cx="1097280" cy="41148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028090"/>
              </a:buClr>
              <a:buSzPts val="1100"/>
              <a:buFont typeface="Cambria"/>
              <a:buNone/>
            </a:pPr>
            <a:r>
              <a:rPr b="1" i="0" lang="fr" sz="1100" u="none" cap="none" strike="noStrike">
                <a:solidFill>
                  <a:srgbClr val="028090"/>
                </a:solidFill>
                <a:latin typeface="Cambria"/>
                <a:ea typeface="Cambria"/>
                <a:cs typeface="Cambria"/>
                <a:sym typeface="Cambria"/>
              </a:rPr>
              <a:t>+0.57</a:t>
            </a:r>
            <a:endParaRPr b="0" i="0" sz="1100" u="none" cap="none" strike="noStrike">
              <a:solidFill>
                <a:schemeClr val="dk1"/>
              </a:solidFill>
              <a:latin typeface="Calibri"/>
              <a:ea typeface="Calibri"/>
              <a:cs typeface="Calibri"/>
              <a:sym typeface="Calibri"/>
            </a:endParaRPr>
          </a:p>
        </p:txBody>
      </p:sp>
      <p:sp>
        <p:nvSpPr>
          <p:cNvPr id="181" name="Google Shape;181;p21"/>
          <p:cNvSpPr/>
          <p:nvPr/>
        </p:nvSpPr>
        <p:spPr>
          <a:xfrm>
            <a:off x="5212080" y="2804922"/>
            <a:ext cx="3497580" cy="411480"/>
          </a:xfrm>
          <a:prstGeom prst="roundRect">
            <a:avLst>
              <a:gd fmla="val 10000" name="adj"/>
            </a:avLst>
          </a:prstGeom>
          <a:solidFill>
            <a:srgbClr val="F0F7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1"/>
          <p:cNvSpPr/>
          <p:nvPr/>
        </p:nvSpPr>
        <p:spPr>
          <a:xfrm>
            <a:off x="5349240" y="2804922"/>
            <a:ext cx="21945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0" i="0" lang="fr" sz="1000" u="none" cap="none" strike="noStrike">
                <a:solidFill>
                  <a:srgbClr val="1C2B30"/>
                </a:solidFill>
                <a:latin typeface="Calibri"/>
                <a:ea typeface="Calibri"/>
                <a:cs typeface="Calibri"/>
                <a:sym typeface="Calibri"/>
              </a:rPr>
              <a:t>bedrooms</a:t>
            </a:r>
            <a:endParaRPr b="0" i="0" sz="1000" u="none" cap="none" strike="noStrike">
              <a:solidFill>
                <a:schemeClr val="dk1"/>
              </a:solidFill>
              <a:latin typeface="Calibri"/>
              <a:ea typeface="Calibri"/>
              <a:cs typeface="Calibri"/>
              <a:sym typeface="Calibri"/>
            </a:endParaRPr>
          </a:p>
        </p:txBody>
      </p:sp>
      <p:sp>
        <p:nvSpPr>
          <p:cNvPr id="183" name="Google Shape;183;p21"/>
          <p:cNvSpPr/>
          <p:nvPr/>
        </p:nvSpPr>
        <p:spPr>
          <a:xfrm>
            <a:off x="7475220" y="2804922"/>
            <a:ext cx="1097280" cy="41148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028090"/>
              </a:buClr>
              <a:buSzPts val="1100"/>
              <a:buFont typeface="Cambria"/>
              <a:buNone/>
            </a:pPr>
            <a:r>
              <a:rPr b="1" i="0" lang="fr" sz="1100" u="none" cap="none" strike="noStrike">
                <a:solidFill>
                  <a:srgbClr val="028090"/>
                </a:solidFill>
                <a:latin typeface="Cambria"/>
                <a:ea typeface="Cambria"/>
                <a:cs typeface="Cambria"/>
                <a:sym typeface="Cambria"/>
              </a:rPr>
              <a:t>+0.47</a:t>
            </a:r>
            <a:endParaRPr b="0" i="0" sz="1100" u="none" cap="none" strike="noStrike">
              <a:solidFill>
                <a:schemeClr val="dk1"/>
              </a:solidFill>
              <a:latin typeface="Calibri"/>
              <a:ea typeface="Calibri"/>
              <a:cs typeface="Calibri"/>
              <a:sym typeface="Calibri"/>
            </a:endParaRPr>
          </a:p>
        </p:txBody>
      </p:sp>
      <p:sp>
        <p:nvSpPr>
          <p:cNvPr id="184" name="Google Shape;184;p21"/>
          <p:cNvSpPr/>
          <p:nvPr/>
        </p:nvSpPr>
        <p:spPr>
          <a:xfrm>
            <a:off x="5212080" y="3298698"/>
            <a:ext cx="3497580" cy="411480"/>
          </a:xfrm>
          <a:prstGeom prst="roundRect">
            <a:avLst>
              <a:gd fmla="val 10000" name="adj"/>
            </a:avLst>
          </a:prstGeom>
          <a:solidFill>
            <a:srgbClr val="F0F7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21"/>
          <p:cNvSpPr/>
          <p:nvPr/>
        </p:nvSpPr>
        <p:spPr>
          <a:xfrm>
            <a:off x="5349240" y="3298698"/>
            <a:ext cx="21945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0" i="0" lang="fr" sz="1000" u="none" cap="none" strike="noStrike">
                <a:solidFill>
                  <a:srgbClr val="1C2B30"/>
                </a:solidFill>
                <a:latin typeface="Calibri"/>
                <a:ea typeface="Calibri"/>
                <a:cs typeface="Calibri"/>
                <a:sym typeface="Calibri"/>
              </a:rPr>
              <a:t>beds</a:t>
            </a:r>
            <a:endParaRPr b="0" i="0" sz="1000" u="none" cap="none" strike="noStrike">
              <a:solidFill>
                <a:schemeClr val="dk1"/>
              </a:solidFill>
              <a:latin typeface="Calibri"/>
              <a:ea typeface="Calibri"/>
              <a:cs typeface="Calibri"/>
              <a:sym typeface="Calibri"/>
            </a:endParaRPr>
          </a:p>
        </p:txBody>
      </p:sp>
      <p:sp>
        <p:nvSpPr>
          <p:cNvPr id="186" name="Google Shape;186;p21"/>
          <p:cNvSpPr/>
          <p:nvPr/>
        </p:nvSpPr>
        <p:spPr>
          <a:xfrm>
            <a:off x="7475220" y="3298698"/>
            <a:ext cx="1097280" cy="41148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028090"/>
              </a:buClr>
              <a:buSzPts val="1100"/>
              <a:buFont typeface="Cambria"/>
              <a:buNone/>
            </a:pPr>
            <a:r>
              <a:rPr b="1" i="0" lang="fr" sz="1100" u="none" cap="none" strike="noStrike">
                <a:solidFill>
                  <a:srgbClr val="028090"/>
                </a:solidFill>
                <a:latin typeface="Cambria"/>
                <a:ea typeface="Cambria"/>
                <a:cs typeface="Cambria"/>
                <a:sym typeface="Cambria"/>
              </a:rPr>
              <a:t>+0.44</a:t>
            </a:r>
            <a:endParaRPr b="0" i="0" sz="1100" u="none" cap="none" strike="noStrike">
              <a:solidFill>
                <a:schemeClr val="dk1"/>
              </a:solidFill>
              <a:latin typeface="Calibri"/>
              <a:ea typeface="Calibri"/>
              <a:cs typeface="Calibri"/>
              <a:sym typeface="Calibri"/>
            </a:endParaRPr>
          </a:p>
        </p:txBody>
      </p:sp>
      <p:sp>
        <p:nvSpPr>
          <p:cNvPr id="187" name="Google Shape;187;p21"/>
          <p:cNvSpPr/>
          <p:nvPr/>
        </p:nvSpPr>
        <p:spPr>
          <a:xfrm>
            <a:off x="5212080" y="3792474"/>
            <a:ext cx="3497580" cy="411480"/>
          </a:xfrm>
          <a:prstGeom prst="roundRect">
            <a:avLst>
              <a:gd fmla="val 10000" name="adj"/>
            </a:avLst>
          </a:prstGeom>
          <a:solidFill>
            <a:srgbClr val="F0F7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1"/>
          <p:cNvSpPr/>
          <p:nvPr/>
        </p:nvSpPr>
        <p:spPr>
          <a:xfrm>
            <a:off x="5349240" y="3792474"/>
            <a:ext cx="21945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B30"/>
              </a:buClr>
              <a:buSzPts val="1000"/>
              <a:buFont typeface="Calibri"/>
              <a:buNone/>
            </a:pPr>
            <a:r>
              <a:rPr b="0" i="0" lang="fr" sz="1000" u="none" cap="none" strike="noStrike">
                <a:solidFill>
                  <a:srgbClr val="1C2B30"/>
                </a:solidFill>
                <a:latin typeface="Calibri"/>
                <a:ea typeface="Calibri"/>
                <a:cs typeface="Calibri"/>
                <a:sym typeface="Calibri"/>
              </a:rPr>
              <a:t>bathrooms</a:t>
            </a:r>
            <a:endParaRPr b="0" i="0" sz="1000" u="none" cap="none" strike="noStrike">
              <a:solidFill>
                <a:schemeClr val="dk1"/>
              </a:solidFill>
              <a:latin typeface="Calibri"/>
              <a:ea typeface="Calibri"/>
              <a:cs typeface="Calibri"/>
              <a:sym typeface="Calibri"/>
            </a:endParaRPr>
          </a:p>
        </p:txBody>
      </p:sp>
      <p:sp>
        <p:nvSpPr>
          <p:cNvPr id="189" name="Google Shape;189;p21"/>
          <p:cNvSpPr/>
          <p:nvPr/>
        </p:nvSpPr>
        <p:spPr>
          <a:xfrm>
            <a:off x="7475220" y="3792474"/>
            <a:ext cx="1097280" cy="41148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028090"/>
              </a:buClr>
              <a:buSzPts val="1100"/>
              <a:buFont typeface="Cambria"/>
              <a:buNone/>
            </a:pPr>
            <a:r>
              <a:rPr b="1" i="0" lang="fr" sz="1100" u="none" cap="none" strike="noStrike">
                <a:solidFill>
                  <a:srgbClr val="028090"/>
                </a:solidFill>
                <a:latin typeface="Cambria"/>
                <a:ea typeface="Cambria"/>
                <a:cs typeface="Cambria"/>
                <a:sym typeface="Cambria"/>
              </a:rPr>
              <a:t>+0.36</a:t>
            </a:r>
            <a:endParaRPr b="0" i="0" sz="1100" u="none" cap="none" strike="noStrike">
              <a:solidFill>
                <a:schemeClr val="dk1"/>
              </a:solidFill>
              <a:latin typeface="Calibri"/>
              <a:ea typeface="Calibri"/>
              <a:cs typeface="Calibri"/>
              <a:sym typeface="Calibri"/>
            </a:endParaRPr>
          </a:p>
        </p:txBody>
      </p:sp>
      <p:sp>
        <p:nvSpPr>
          <p:cNvPr id="190" name="Google Shape;190;p21"/>
          <p:cNvSpPr/>
          <p:nvPr/>
        </p:nvSpPr>
        <p:spPr>
          <a:xfrm>
            <a:off x="5212080" y="4354830"/>
            <a:ext cx="349758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1" lang="fr" sz="900" u="none" cap="none" strike="noStrike">
                <a:solidFill>
                  <a:srgbClr val="5B7178"/>
                </a:solidFill>
                <a:latin typeface="Calibri"/>
                <a:ea typeface="Calibri"/>
                <a:cs typeface="Calibri"/>
                <a:sym typeface="Calibri"/>
              </a:rPr>
              <a:t>Latitude and longitude look flat here, but a tree can still use them.</a:t>
            </a:r>
            <a:endParaRPr b="0" i="0" sz="900" u="none" cap="none" strike="noStrike">
              <a:solidFill>
                <a:schemeClr val="dk1"/>
              </a:solidFill>
              <a:latin typeface="Calibri"/>
              <a:ea typeface="Calibri"/>
              <a:cs typeface="Calibri"/>
              <a:sym typeface="Calibri"/>
            </a:endParaRPr>
          </a:p>
        </p:txBody>
      </p:sp>
      <p:sp>
        <p:nvSpPr>
          <p:cNvPr id="191" name="Google Shape;191;p21"/>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192" name="Google Shape;192;p21"/>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22"/>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MODELING</a:t>
            </a:r>
            <a:endParaRPr b="0" i="0" sz="900" u="none" cap="none" strike="noStrike">
              <a:solidFill>
                <a:schemeClr val="dk1"/>
              </a:solidFill>
              <a:latin typeface="Calibri"/>
              <a:ea typeface="Calibri"/>
              <a:cs typeface="Calibri"/>
              <a:sym typeface="Calibri"/>
            </a:endParaRPr>
          </a:p>
        </p:txBody>
      </p:sp>
      <p:sp>
        <p:nvSpPr>
          <p:cNvPr id="199" name="Google Shape;199;p22"/>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Four models, from simple to strong</a:t>
            </a:r>
            <a:endParaRPr b="0" i="0" sz="2300" u="none" cap="none" strike="noStrike">
              <a:solidFill>
                <a:schemeClr val="dk1"/>
              </a:solidFill>
              <a:latin typeface="Calibri"/>
              <a:ea typeface="Calibri"/>
              <a:cs typeface="Calibri"/>
              <a:sym typeface="Calibri"/>
            </a:endParaRPr>
          </a:p>
        </p:txBody>
      </p:sp>
      <p:sp>
        <p:nvSpPr>
          <p:cNvPr id="200" name="Google Shape;200;p22"/>
          <p:cNvSpPr/>
          <p:nvPr/>
        </p:nvSpPr>
        <p:spPr>
          <a:xfrm>
            <a:off x="411480" y="1371600"/>
            <a:ext cx="2023110" cy="2263140"/>
          </a:xfrm>
          <a:prstGeom prst="roundRect">
            <a:avLst>
              <a:gd fmla="val 2712"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2"/>
          <p:cNvSpPr/>
          <p:nvPr/>
        </p:nvSpPr>
        <p:spPr>
          <a:xfrm>
            <a:off x="617220" y="1577340"/>
            <a:ext cx="377190" cy="377190"/>
          </a:xfrm>
          <a:prstGeom prst="ellipse">
            <a:avLst/>
          </a:prstGeom>
          <a:solidFill>
            <a:srgbClr val="02C39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2"/>
          <p:cNvSpPr/>
          <p:nvPr/>
        </p:nvSpPr>
        <p:spPr>
          <a:xfrm>
            <a:off x="603504" y="2057400"/>
            <a:ext cx="17830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200"/>
              <a:buFont typeface="Cambria"/>
              <a:buNone/>
            </a:pPr>
            <a:r>
              <a:rPr b="1" i="0" lang="fr" sz="1200" u="none" cap="none" strike="noStrike">
                <a:solidFill>
                  <a:srgbClr val="0B3B44"/>
                </a:solidFill>
                <a:latin typeface="Cambria"/>
                <a:ea typeface="Cambria"/>
                <a:cs typeface="Cambria"/>
                <a:sym typeface="Cambria"/>
              </a:rPr>
              <a:t>Linear</a:t>
            </a:r>
            <a:endParaRPr b="0" i="0" sz="1200" u="none" cap="none" strike="noStrike">
              <a:solidFill>
                <a:schemeClr val="dk1"/>
              </a:solidFill>
              <a:latin typeface="Calibri"/>
              <a:ea typeface="Calibri"/>
              <a:cs typeface="Calibri"/>
              <a:sym typeface="Calibri"/>
            </a:endParaRPr>
          </a:p>
        </p:txBody>
      </p:sp>
      <p:sp>
        <p:nvSpPr>
          <p:cNvPr id="203" name="Google Shape;203;p22"/>
          <p:cNvSpPr/>
          <p:nvPr/>
        </p:nvSpPr>
        <p:spPr>
          <a:xfrm>
            <a:off x="617220" y="2537460"/>
            <a:ext cx="1783080" cy="9601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Plain straight-line baseline.</a:t>
            </a:r>
            <a:endParaRPr b="0" i="0" sz="900" u="none" cap="none" strike="noStrike">
              <a:solidFill>
                <a:schemeClr val="dk1"/>
              </a:solidFill>
              <a:latin typeface="Calibri"/>
              <a:ea typeface="Calibri"/>
              <a:cs typeface="Calibri"/>
              <a:sym typeface="Calibri"/>
            </a:endParaRPr>
          </a:p>
        </p:txBody>
      </p:sp>
      <p:sp>
        <p:nvSpPr>
          <p:cNvPr id="204" name="Google Shape;204;p22"/>
          <p:cNvSpPr/>
          <p:nvPr/>
        </p:nvSpPr>
        <p:spPr>
          <a:xfrm>
            <a:off x="2523744" y="1371600"/>
            <a:ext cx="2023110" cy="2263140"/>
          </a:xfrm>
          <a:prstGeom prst="roundRect">
            <a:avLst>
              <a:gd fmla="val 2712"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22"/>
          <p:cNvSpPr/>
          <p:nvPr/>
        </p:nvSpPr>
        <p:spPr>
          <a:xfrm>
            <a:off x="2729484" y="1577340"/>
            <a:ext cx="377190" cy="377190"/>
          </a:xfrm>
          <a:prstGeom prst="ellipse">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6" name="Google Shape;206;p22"/>
          <p:cNvSpPr/>
          <p:nvPr/>
        </p:nvSpPr>
        <p:spPr>
          <a:xfrm>
            <a:off x="2715768" y="2057400"/>
            <a:ext cx="17830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200"/>
              <a:buFont typeface="Cambria"/>
              <a:buNone/>
            </a:pPr>
            <a:r>
              <a:rPr b="1" i="0" lang="fr" sz="1200" u="none" cap="none" strike="noStrike">
                <a:solidFill>
                  <a:srgbClr val="0B3B44"/>
                </a:solidFill>
                <a:latin typeface="Cambria"/>
                <a:ea typeface="Cambria"/>
                <a:cs typeface="Cambria"/>
                <a:sym typeface="Cambria"/>
              </a:rPr>
              <a:t>Ridge</a:t>
            </a:r>
            <a:endParaRPr b="0" i="0" sz="1200" u="none" cap="none" strike="noStrike">
              <a:solidFill>
                <a:schemeClr val="dk1"/>
              </a:solidFill>
              <a:latin typeface="Calibri"/>
              <a:ea typeface="Calibri"/>
              <a:cs typeface="Calibri"/>
              <a:sym typeface="Calibri"/>
            </a:endParaRPr>
          </a:p>
        </p:txBody>
      </p:sp>
      <p:sp>
        <p:nvSpPr>
          <p:cNvPr id="207" name="Google Shape;207;p22"/>
          <p:cNvSpPr/>
          <p:nvPr/>
        </p:nvSpPr>
        <p:spPr>
          <a:xfrm>
            <a:off x="2729484" y="2537460"/>
            <a:ext cx="1783080" cy="9601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Linear with a penalty on large coefficients.</a:t>
            </a:r>
            <a:endParaRPr b="0" i="0" sz="900" u="none" cap="none" strike="noStrike">
              <a:solidFill>
                <a:schemeClr val="dk1"/>
              </a:solidFill>
              <a:latin typeface="Calibri"/>
              <a:ea typeface="Calibri"/>
              <a:cs typeface="Calibri"/>
              <a:sym typeface="Calibri"/>
            </a:endParaRPr>
          </a:p>
        </p:txBody>
      </p:sp>
      <p:sp>
        <p:nvSpPr>
          <p:cNvPr id="208" name="Google Shape;208;p22"/>
          <p:cNvSpPr/>
          <p:nvPr/>
        </p:nvSpPr>
        <p:spPr>
          <a:xfrm>
            <a:off x="4636008" y="1371600"/>
            <a:ext cx="2023110" cy="2263140"/>
          </a:xfrm>
          <a:prstGeom prst="roundRect">
            <a:avLst>
              <a:gd fmla="val 2712"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22"/>
          <p:cNvSpPr/>
          <p:nvPr/>
        </p:nvSpPr>
        <p:spPr>
          <a:xfrm>
            <a:off x="4841748" y="1577340"/>
            <a:ext cx="377190" cy="37719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2"/>
          <p:cNvSpPr/>
          <p:nvPr/>
        </p:nvSpPr>
        <p:spPr>
          <a:xfrm>
            <a:off x="4828032" y="2057400"/>
            <a:ext cx="17830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200"/>
              <a:buFont typeface="Cambria"/>
              <a:buNone/>
            </a:pPr>
            <a:r>
              <a:rPr b="1" i="0" lang="fr" sz="1200" u="none" cap="none" strike="noStrike">
                <a:solidFill>
                  <a:srgbClr val="0B3B44"/>
                </a:solidFill>
                <a:latin typeface="Cambria"/>
                <a:ea typeface="Cambria"/>
                <a:cs typeface="Cambria"/>
                <a:sym typeface="Cambria"/>
              </a:rPr>
              <a:t>Random Forest</a:t>
            </a:r>
            <a:endParaRPr b="0" i="0" sz="1200" u="none" cap="none" strike="noStrike">
              <a:solidFill>
                <a:schemeClr val="dk1"/>
              </a:solidFill>
              <a:latin typeface="Calibri"/>
              <a:ea typeface="Calibri"/>
              <a:cs typeface="Calibri"/>
              <a:sym typeface="Calibri"/>
            </a:endParaRPr>
          </a:p>
        </p:txBody>
      </p:sp>
      <p:sp>
        <p:nvSpPr>
          <p:cNvPr id="211" name="Google Shape;211;p22"/>
          <p:cNvSpPr/>
          <p:nvPr/>
        </p:nvSpPr>
        <p:spPr>
          <a:xfrm>
            <a:off x="4841748" y="2537460"/>
            <a:ext cx="1783080" cy="9601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Many independent trees, averaged.</a:t>
            </a:r>
            <a:endParaRPr b="0" i="0" sz="900" u="none" cap="none" strike="noStrike">
              <a:solidFill>
                <a:schemeClr val="dk1"/>
              </a:solidFill>
              <a:latin typeface="Calibri"/>
              <a:ea typeface="Calibri"/>
              <a:cs typeface="Calibri"/>
              <a:sym typeface="Calibri"/>
            </a:endParaRPr>
          </a:p>
        </p:txBody>
      </p:sp>
      <p:sp>
        <p:nvSpPr>
          <p:cNvPr id="212" name="Google Shape;212;p22"/>
          <p:cNvSpPr/>
          <p:nvPr/>
        </p:nvSpPr>
        <p:spPr>
          <a:xfrm>
            <a:off x="6748272" y="1371600"/>
            <a:ext cx="2023110" cy="2263140"/>
          </a:xfrm>
          <a:prstGeom prst="roundRect">
            <a:avLst>
              <a:gd fmla="val 2712"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2"/>
          <p:cNvSpPr/>
          <p:nvPr/>
        </p:nvSpPr>
        <p:spPr>
          <a:xfrm>
            <a:off x="6954012" y="1577340"/>
            <a:ext cx="377190" cy="377190"/>
          </a:xfrm>
          <a:prstGeom prst="ellipse">
            <a:avLst/>
          </a:prstGeom>
          <a:solidFill>
            <a:srgbClr val="0B3B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2"/>
          <p:cNvSpPr/>
          <p:nvPr/>
        </p:nvSpPr>
        <p:spPr>
          <a:xfrm>
            <a:off x="6940296" y="2057400"/>
            <a:ext cx="17830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200"/>
              <a:buFont typeface="Cambria"/>
              <a:buNone/>
            </a:pPr>
            <a:r>
              <a:rPr b="1" i="0" lang="fr" sz="1200" u="none" cap="none" strike="noStrike">
                <a:solidFill>
                  <a:srgbClr val="0B3B44"/>
                </a:solidFill>
                <a:latin typeface="Cambria"/>
                <a:ea typeface="Cambria"/>
                <a:cs typeface="Cambria"/>
                <a:sym typeface="Cambria"/>
              </a:rPr>
              <a:t>Gradient Boosting</a:t>
            </a:r>
            <a:endParaRPr b="0" i="0" sz="1200" u="none" cap="none" strike="noStrike">
              <a:solidFill>
                <a:schemeClr val="dk1"/>
              </a:solidFill>
              <a:latin typeface="Calibri"/>
              <a:ea typeface="Calibri"/>
              <a:cs typeface="Calibri"/>
              <a:sym typeface="Calibri"/>
            </a:endParaRPr>
          </a:p>
        </p:txBody>
      </p:sp>
      <p:sp>
        <p:nvSpPr>
          <p:cNvPr id="215" name="Google Shape;215;p22"/>
          <p:cNvSpPr/>
          <p:nvPr/>
        </p:nvSpPr>
        <p:spPr>
          <a:xfrm>
            <a:off x="6954012" y="2537460"/>
            <a:ext cx="1783080" cy="9601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Trees built in sequence, each fixing the last.</a:t>
            </a:r>
            <a:endParaRPr b="0" i="0" sz="900" u="none" cap="none" strike="noStrike">
              <a:solidFill>
                <a:schemeClr val="dk1"/>
              </a:solidFill>
              <a:latin typeface="Calibri"/>
              <a:ea typeface="Calibri"/>
              <a:cs typeface="Calibri"/>
              <a:sym typeface="Calibri"/>
            </a:endParaRPr>
          </a:p>
        </p:txBody>
      </p:sp>
      <p:sp>
        <p:nvSpPr>
          <p:cNvPr id="216" name="Google Shape;216;p22"/>
          <p:cNvSpPr/>
          <p:nvPr/>
        </p:nvSpPr>
        <p:spPr>
          <a:xfrm>
            <a:off x="411480" y="3840480"/>
            <a:ext cx="82296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1000"/>
              <a:buFont typeface="Calibri"/>
              <a:buNone/>
            </a:pPr>
            <a:r>
              <a:rPr b="0" i="1" lang="fr" sz="1000" u="none" cap="none" strike="noStrike">
                <a:solidFill>
                  <a:srgbClr val="5B7178"/>
                </a:solidFill>
                <a:latin typeface="Calibri"/>
                <a:ea typeface="Calibri"/>
                <a:cs typeface="Calibri"/>
                <a:sym typeface="Calibri"/>
              </a:rPr>
              <a:t>Same split (seed 42), same three metrics. We pick the final model by hand, not automatically.</a:t>
            </a:r>
            <a:endParaRPr b="0" i="0" sz="1000" u="none" cap="none" strike="noStrike">
              <a:solidFill>
                <a:schemeClr val="dk1"/>
              </a:solidFill>
              <a:latin typeface="Calibri"/>
              <a:ea typeface="Calibri"/>
              <a:cs typeface="Calibri"/>
              <a:sym typeface="Calibri"/>
            </a:endParaRPr>
          </a:p>
        </p:txBody>
      </p:sp>
      <p:sp>
        <p:nvSpPr>
          <p:cNvPr id="217" name="Google Shape;217;p22"/>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218" name="Google Shape;218;p22"/>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23"/>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RESULTS</a:t>
            </a:r>
            <a:endParaRPr b="0" i="0" sz="900" u="none" cap="none" strike="noStrike">
              <a:solidFill>
                <a:schemeClr val="dk1"/>
              </a:solidFill>
              <a:latin typeface="Calibri"/>
              <a:ea typeface="Calibri"/>
              <a:cs typeface="Calibri"/>
              <a:sym typeface="Calibri"/>
            </a:endParaRPr>
          </a:p>
        </p:txBody>
      </p:sp>
      <p:sp>
        <p:nvSpPr>
          <p:cNvPr id="225" name="Google Shape;225;p23"/>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The tree models win, Random Forest first</a:t>
            </a:r>
            <a:endParaRPr b="0" i="0" sz="2300" u="none" cap="none" strike="noStrike">
              <a:solidFill>
                <a:schemeClr val="dk1"/>
              </a:solidFill>
              <a:latin typeface="Calibri"/>
              <a:ea typeface="Calibri"/>
              <a:cs typeface="Calibri"/>
              <a:sym typeface="Calibri"/>
            </a:endParaRPr>
          </a:p>
        </p:txBody>
      </p:sp>
      <p:graphicFrame>
        <p:nvGraphicFramePr>
          <p:cNvPr id="226" name="Google Shape;226;p23"/>
          <p:cNvGraphicFramePr/>
          <p:nvPr/>
        </p:nvGraphicFramePr>
        <p:xfrm>
          <a:off x="411480" y="1337310"/>
          <a:ext cx="3000000" cy="3000000"/>
        </p:xfrm>
        <a:graphic>
          <a:graphicData uri="http://schemas.openxmlformats.org/drawingml/2006/table">
            <a:tbl>
              <a:tblPr>
                <a:noFill/>
                <a:tableStyleId>{78177907-DCF4-4989-ACDF-E9BE43938A7B}</a:tableStyleId>
              </a:tblPr>
              <a:tblGrid>
                <a:gridCol w="1851650"/>
                <a:gridCol w="822950"/>
                <a:gridCol w="822950"/>
                <a:gridCol w="822950"/>
              </a:tblGrid>
              <a:tr h="342900">
                <a:tc>
                  <a:txBody>
                    <a:bodyPr/>
                    <a:lstStyle/>
                    <a:p>
                      <a:pPr indent="0" lvl="0" marL="0" marR="0" rtl="0" algn="l">
                        <a:spcBef>
                          <a:spcPts val="0"/>
                        </a:spcBef>
                        <a:spcAft>
                          <a:spcPts val="0"/>
                        </a:spcAft>
                        <a:buClr>
                          <a:srgbClr val="FFFFFF"/>
                        </a:buClr>
                        <a:buSzPts val="900"/>
                        <a:buFont typeface="Calibri"/>
                        <a:buNone/>
                      </a:pPr>
                      <a:r>
                        <a:rPr b="1" lang="fr" sz="900" u="none" cap="none" strike="noStrike">
                          <a:solidFill>
                            <a:srgbClr val="FFFFFF"/>
                          </a:solidFill>
                          <a:latin typeface="Calibri"/>
                          <a:ea typeface="Calibri"/>
                          <a:cs typeface="Calibri"/>
                          <a:sym typeface="Calibri"/>
                        </a:rPr>
                        <a:t>Model</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0B3B44"/>
                    </a:solidFill>
                  </a:tcPr>
                </a:tc>
                <a:tc>
                  <a:txBody>
                    <a:bodyPr/>
                    <a:lstStyle/>
                    <a:p>
                      <a:pPr indent="0" lvl="0" marL="0" marR="0" rtl="0" algn="ctr">
                        <a:spcBef>
                          <a:spcPts val="0"/>
                        </a:spcBef>
                        <a:spcAft>
                          <a:spcPts val="0"/>
                        </a:spcAft>
                        <a:buClr>
                          <a:srgbClr val="FFFFFF"/>
                        </a:buClr>
                        <a:buSzPts val="900"/>
                        <a:buFont typeface="Calibri"/>
                        <a:buNone/>
                      </a:pPr>
                      <a:r>
                        <a:rPr b="1" lang="fr" sz="900" u="none" cap="none" strike="noStrike">
                          <a:solidFill>
                            <a:srgbClr val="FFFFFF"/>
                          </a:solidFill>
                          <a:latin typeface="Calibri"/>
                          <a:ea typeface="Calibri"/>
                          <a:cs typeface="Calibri"/>
                          <a:sym typeface="Calibri"/>
                        </a:rPr>
                        <a:t>MAE</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0B3B44"/>
                    </a:solidFill>
                  </a:tcPr>
                </a:tc>
                <a:tc>
                  <a:txBody>
                    <a:bodyPr/>
                    <a:lstStyle/>
                    <a:p>
                      <a:pPr indent="0" lvl="0" marL="0" marR="0" rtl="0" algn="ctr">
                        <a:spcBef>
                          <a:spcPts val="0"/>
                        </a:spcBef>
                        <a:spcAft>
                          <a:spcPts val="0"/>
                        </a:spcAft>
                        <a:buClr>
                          <a:srgbClr val="FFFFFF"/>
                        </a:buClr>
                        <a:buSzPts val="900"/>
                        <a:buFont typeface="Calibri"/>
                        <a:buNone/>
                      </a:pPr>
                      <a:r>
                        <a:rPr b="1" lang="fr" sz="900" u="none" cap="none" strike="noStrike">
                          <a:solidFill>
                            <a:srgbClr val="FFFFFF"/>
                          </a:solidFill>
                          <a:latin typeface="Calibri"/>
                          <a:ea typeface="Calibri"/>
                          <a:cs typeface="Calibri"/>
                          <a:sym typeface="Calibri"/>
                        </a:rPr>
                        <a:t>RMSE</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0B3B44"/>
                    </a:solidFill>
                  </a:tcPr>
                </a:tc>
                <a:tc>
                  <a:txBody>
                    <a:bodyPr/>
                    <a:lstStyle/>
                    <a:p>
                      <a:pPr indent="0" lvl="0" marL="0" marR="0" rtl="0" algn="ctr">
                        <a:spcBef>
                          <a:spcPts val="0"/>
                        </a:spcBef>
                        <a:spcAft>
                          <a:spcPts val="0"/>
                        </a:spcAft>
                        <a:buClr>
                          <a:srgbClr val="FFFFFF"/>
                        </a:buClr>
                        <a:buSzPts val="900"/>
                        <a:buFont typeface="Calibri"/>
                        <a:buNone/>
                      </a:pPr>
                      <a:r>
                        <a:rPr b="1" lang="fr" sz="900" u="none" cap="none" strike="noStrike">
                          <a:solidFill>
                            <a:srgbClr val="FFFFFF"/>
                          </a:solidFill>
                          <a:latin typeface="Calibri"/>
                          <a:ea typeface="Calibri"/>
                          <a:cs typeface="Calibri"/>
                          <a:sym typeface="Calibri"/>
                        </a:rPr>
                        <a:t>R²</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0B3B44"/>
                    </a:solidFill>
                  </a:tcPr>
                </a:tc>
              </a:tr>
              <a:tr h="342900">
                <a:tc>
                  <a:txBody>
                    <a:bodyPr/>
                    <a:lstStyle/>
                    <a:p>
                      <a:pPr indent="0" lvl="0" marL="0" marR="0" rtl="0" algn="l">
                        <a:spcBef>
                          <a:spcPts val="0"/>
                        </a:spcBef>
                        <a:spcAft>
                          <a:spcPts val="0"/>
                        </a:spcAft>
                        <a:buClr>
                          <a:srgbClr val="1C2B30"/>
                        </a:buClr>
                        <a:buSzPts val="900"/>
                        <a:buFont typeface="Calibri"/>
                        <a:buNone/>
                      </a:pPr>
                      <a:r>
                        <a:rPr b="1" lang="fr" sz="900" u="none" cap="none" strike="noStrike">
                          <a:solidFill>
                            <a:srgbClr val="1C2B30"/>
                          </a:solidFill>
                          <a:latin typeface="Calibri"/>
                          <a:ea typeface="Calibri"/>
                          <a:cs typeface="Calibri"/>
                          <a:sym typeface="Calibri"/>
                        </a:rPr>
                        <a:t>Random Forest</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DDF2EF"/>
                    </a:solidFill>
                  </a:tcPr>
                </a:tc>
                <a:tc>
                  <a:txBody>
                    <a:bodyPr/>
                    <a:lstStyle/>
                    <a:p>
                      <a:pPr indent="0" lvl="0" marL="0" marR="0" rtl="0" algn="ctr">
                        <a:spcBef>
                          <a:spcPts val="0"/>
                        </a:spcBef>
                        <a:spcAft>
                          <a:spcPts val="0"/>
                        </a:spcAft>
                        <a:buClr>
                          <a:srgbClr val="1C2B30"/>
                        </a:buClr>
                        <a:buSzPts val="900"/>
                        <a:buFont typeface="Calibri"/>
                        <a:buNone/>
                      </a:pPr>
                      <a:r>
                        <a:rPr b="1" lang="fr" sz="900" u="none" cap="none" strike="noStrike">
                          <a:solidFill>
                            <a:srgbClr val="1C2B30"/>
                          </a:solidFill>
                          <a:latin typeface="Calibri"/>
                          <a:ea typeface="Calibri"/>
                          <a:cs typeface="Calibri"/>
                          <a:sym typeface="Calibri"/>
                        </a:rPr>
                        <a:t>0.285</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DDF2EF"/>
                    </a:solidFill>
                  </a:tcPr>
                </a:tc>
                <a:tc>
                  <a:txBody>
                    <a:bodyPr/>
                    <a:lstStyle/>
                    <a:p>
                      <a:pPr indent="0" lvl="0" marL="0" marR="0" rtl="0" algn="ctr">
                        <a:spcBef>
                          <a:spcPts val="0"/>
                        </a:spcBef>
                        <a:spcAft>
                          <a:spcPts val="0"/>
                        </a:spcAft>
                        <a:buClr>
                          <a:srgbClr val="1C2B30"/>
                        </a:buClr>
                        <a:buSzPts val="900"/>
                        <a:buFont typeface="Calibri"/>
                        <a:buNone/>
                      </a:pPr>
                      <a:r>
                        <a:rPr b="1" lang="fr" sz="900" u="none" cap="none" strike="noStrike">
                          <a:solidFill>
                            <a:srgbClr val="1C2B30"/>
                          </a:solidFill>
                          <a:latin typeface="Calibri"/>
                          <a:ea typeface="Calibri"/>
                          <a:cs typeface="Calibri"/>
                          <a:sym typeface="Calibri"/>
                        </a:rPr>
                        <a:t>0.396</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DDF2EF"/>
                    </a:solidFill>
                  </a:tcPr>
                </a:tc>
                <a:tc>
                  <a:txBody>
                    <a:bodyPr/>
                    <a:lstStyle/>
                    <a:p>
                      <a:pPr indent="0" lvl="0" marL="0" marR="0" rtl="0" algn="ctr">
                        <a:spcBef>
                          <a:spcPts val="0"/>
                        </a:spcBef>
                        <a:spcAft>
                          <a:spcPts val="0"/>
                        </a:spcAft>
                        <a:buClr>
                          <a:srgbClr val="1C2B30"/>
                        </a:buClr>
                        <a:buSzPts val="900"/>
                        <a:buFont typeface="Calibri"/>
                        <a:buNone/>
                      </a:pPr>
                      <a:r>
                        <a:rPr b="1" lang="fr" sz="900" u="none" cap="none" strike="noStrike">
                          <a:solidFill>
                            <a:srgbClr val="1C2B30"/>
                          </a:solidFill>
                          <a:latin typeface="Calibri"/>
                          <a:ea typeface="Calibri"/>
                          <a:cs typeface="Calibri"/>
                          <a:sym typeface="Calibri"/>
                        </a:rPr>
                        <a:t>0.695</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solidFill>
                      <a:srgbClr val="DDF2EF"/>
                    </a:solidFill>
                  </a:tcPr>
                </a:tc>
              </a:tr>
              <a:tr h="342900">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Gradient Boosting</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0.303</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0.413</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0.667</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342900">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Linear Regression</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0.368</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0.489</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0.535</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r h="342900">
                <a:tc>
                  <a:txBody>
                    <a:bodyPr/>
                    <a:lstStyle/>
                    <a:p>
                      <a:pPr indent="0" lvl="0" marL="0" marR="0" rtl="0" algn="l">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Ridge Regression</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0.368</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0.489</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c>
                  <a:txBody>
                    <a:bodyPr/>
                    <a:lstStyle/>
                    <a:p>
                      <a:pPr indent="0" lvl="0" marL="0" marR="0" rtl="0" algn="ctr">
                        <a:spcBef>
                          <a:spcPts val="0"/>
                        </a:spcBef>
                        <a:spcAft>
                          <a:spcPts val="0"/>
                        </a:spcAft>
                        <a:buClr>
                          <a:srgbClr val="1C2B30"/>
                        </a:buClr>
                        <a:buSzPts val="900"/>
                        <a:buFont typeface="Calibri"/>
                        <a:buNone/>
                      </a:pPr>
                      <a:r>
                        <a:rPr lang="fr" sz="900" u="none" cap="none" strike="noStrike">
                          <a:solidFill>
                            <a:srgbClr val="1C2B30"/>
                          </a:solidFill>
                          <a:latin typeface="Calibri"/>
                          <a:ea typeface="Calibri"/>
                          <a:cs typeface="Calibri"/>
                          <a:sym typeface="Calibri"/>
                        </a:rPr>
                        <a:t>0.535</a:t>
                      </a:r>
                      <a:endParaRPr sz="900" u="none" cap="none" strike="noStrike">
                        <a:latin typeface="Calibri"/>
                        <a:ea typeface="Calibri"/>
                        <a:cs typeface="Calibri"/>
                        <a:sym typeface="Calibri"/>
                      </a:endParaRPr>
                    </a:p>
                  </a:txBody>
                  <a:tcPr marT="34300" marB="34300" marR="68600" marL="68600" anchor="ctr">
                    <a:lnL cap="flat" cmpd="sng" w="9525">
                      <a:solidFill>
                        <a:srgbClr val="D8E6E8"/>
                      </a:solidFill>
                      <a:prstDash val="solid"/>
                      <a:round/>
                      <a:headEnd len="sm" w="sm" type="none"/>
                      <a:tailEnd len="sm" w="sm" type="none"/>
                    </a:lnL>
                    <a:lnR cap="flat" cmpd="sng" w="9525">
                      <a:solidFill>
                        <a:srgbClr val="D8E6E8"/>
                      </a:solidFill>
                      <a:prstDash val="solid"/>
                      <a:round/>
                      <a:headEnd len="sm" w="sm" type="none"/>
                      <a:tailEnd len="sm" w="sm" type="none"/>
                    </a:lnR>
                    <a:lnT cap="flat" cmpd="sng" w="9525">
                      <a:solidFill>
                        <a:srgbClr val="D8E6E8"/>
                      </a:solidFill>
                      <a:prstDash val="solid"/>
                      <a:round/>
                      <a:headEnd len="sm" w="sm" type="none"/>
                      <a:tailEnd len="sm" w="sm" type="none"/>
                    </a:lnT>
                    <a:lnB cap="flat" cmpd="sng" w="9525">
                      <a:solidFill>
                        <a:srgbClr val="D8E6E8"/>
                      </a:solidFill>
                      <a:prstDash val="solid"/>
                      <a:round/>
                      <a:headEnd len="sm" w="sm" type="none"/>
                      <a:tailEnd len="sm" w="sm" type="none"/>
                    </a:lnB>
                  </a:tcPr>
                </a:tc>
              </a:tr>
            </a:tbl>
          </a:graphicData>
        </a:graphic>
      </p:graphicFrame>
      <p:sp>
        <p:nvSpPr>
          <p:cNvPr id="227" name="Google Shape;227;p23"/>
          <p:cNvSpPr/>
          <p:nvPr/>
        </p:nvSpPr>
        <p:spPr>
          <a:xfrm>
            <a:off x="411480" y="3120390"/>
            <a:ext cx="4320540" cy="82296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1000"/>
              <a:buFont typeface="Calibri"/>
              <a:buNone/>
            </a:pPr>
            <a:r>
              <a:rPr b="0" i="1" lang="fr" sz="1000" u="none" cap="none" strike="noStrike">
                <a:solidFill>
                  <a:srgbClr val="5B7178"/>
                </a:solidFill>
                <a:latin typeface="Calibri"/>
                <a:ea typeface="Calibri"/>
                <a:cs typeface="Calibri"/>
                <a:sym typeface="Calibri"/>
              </a:rPr>
              <a:t>The two linear models tie: with scaled features the Ridge penalty barely changes the fit. We kept the Random Forest, which also gives feature importances.</a:t>
            </a:r>
            <a:endParaRPr b="0" i="0" sz="1000" u="none" cap="none" strike="noStrike">
              <a:solidFill>
                <a:schemeClr val="dk1"/>
              </a:solidFill>
              <a:latin typeface="Calibri"/>
              <a:ea typeface="Calibri"/>
              <a:cs typeface="Calibri"/>
              <a:sym typeface="Calibri"/>
            </a:endParaRPr>
          </a:p>
        </p:txBody>
      </p:sp>
      <p:pic>
        <p:nvPicPr>
          <p:cNvPr descr="/home/claude/deck/figures/model_compare.png" id="228" name="Google Shape;228;p23"/>
          <p:cNvPicPr preferRelativeResize="0"/>
          <p:nvPr/>
        </p:nvPicPr>
        <p:blipFill rotWithShape="1">
          <a:blip r:embed="rId3">
            <a:alphaModFix/>
          </a:blip>
          <a:srcRect b="0" l="0" r="0" t="0"/>
          <a:stretch/>
        </p:blipFill>
        <p:spPr>
          <a:xfrm>
            <a:off x="4878055" y="1520410"/>
            <a:ext cx="4046221" cy="1104921"/>
          </a:xfrm>
          <a:prstGeom prst="rect">
            <a:avLst/>
          </a:prstGeom>
          <a:noFill/>
          <a:ln>
            <a:noFill/>
          </a:ln>
        </p:spPr>
      </p:pic>
      <p:sp>
        <p:nvSpPr>
          <p:cNvPr id="229" name="Google Shape;229;p23"/>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230" name="Google Shape;230;p23"/>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pic>
        <p:nvPicPr>
          <p:cNvPr id="231" name="Google Shape;231;p23"/>
          <p:cNvPicPr preferRelativeResize="0"/>
          <p:nvPr/>
        </p:nvPicPr>
        <p:blipFill>
          <a:blip r:embed="rId4">
            <a:alphaModFix/>
          </a:blip>
          <a:stretch>
            <a:fillRect/>
          </a:stretch>
        </p:blipFill>
        <p:spPr>
          <a:xfrm>
            <a:off x="4878050" y="2928777"/>
            <a:ext cx="4046224" cy="14073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24"/>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RESULTS</a:t>
            </a:r>
            <a:endParaRPr b="0" i="0" sz="900" u="none" cap="none" strike="noStrike">
              <a:solidFill>
                <a:schemeClr val="dk1"/>
              </a:solidFill>
              <a:latin typeface="Calibri"/>
              <a:ea typeface="Calibri"/>
              <a:cs typeface="Calibri"/>
              <a:sym typeface="Calibri"/>
            </a:endParaRPr>
          </a:p>
        </p:txBody>
      </p:sp>
      <p:sp>
        <p:nvSpPr>
          <p:cNvPr id="238" name="Google Shape;238;p24"/>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What it uses, and is it healthy</a:t>
            </a:r>
            <a:endParaRPr b="0" i="0" sz="2300" u="none" cap="none" strike="noStrike">
              <a:solidFill>
                <a:schemeClr val="dk1"/>
              </a:solidFill>
              <a:latin typeface="Calibri"/>
              <a:ea typeface="Calibri"/>
              <a:cs typeface="Calibri"/>
              <a:sym typeface="Calibri"/>
            </a:endParaRPr>
          </a:p>
        </p:txBody>
      </p:sp>
      <p:pic>
        <p:nvPicPr>
          <p:cNvPr descr="/home/claude/deck/figures/importance.png" id="239" name="Google Shape;239;p24"/>
          <p:cNvPicPr preferRelativeResize="0"/>
          <p:nvPr/>
        </p:nvPicPr>
        <p:blipFill rotWithShape="1">
          <a:blip r:embed="rId3">
            <a:alphaModFix/>
          </a:blip>
          <a:srcRect b="0" l="0" r="0" t="0"/>
          <a:stretch/>
        </p:blipFill>
        <p:spPr>
          <a:xfrm>
            <a:off x="520454" y="1303020"/>
            <a:ext cx="3965433" cy="3154680"/>
          </a:xfrm>
          <a:prstGeom prst="rect">
            <a:avLst/>
          </a:prstGeom>
          <a:noFill/>
          <a:ln>
            <a:noFill/>
          </a:ln>
        </p:spPr>
      </p:pic>
      <p:sp>
        <p:nvSpPr>
          <p:cNvPr id="240" name="Google Shape;240;p24"/>
          <p:cNvSpPr/>
          <p:nvPr/>
        </p:nvSpPr>
        <p:spPr>
          <a:xfrm>
            <a:off x="4869180" y="1371600"/>
            <a:ext cx="3840480" cy="1405890"/>
          </a:xfrm>
          <a:prstGeom prst="roundRect">
            <a:avLst>
              <a:gd fmla="val 3902"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24"/>
          <p:cNvSpPr/>
          <p:nvPr/>
        </p:nvSpPr>
        <p:spPr>
          <a:xfrm>
            <a:off x="5040630" y="147447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Top drivers</a:t>
            </a:r>
            <a:endParaRPr b="0" i="0" sz="1100" u="none" cap="none" strike="noStrike">
              <a:solidFill>
                <a:schemeClr val="dk1"/>
              </a:solidFill>
              <a:latin typeface="Calibri"/>
              <a:ea typeface="Calibri"/>
              <a:cs typeface="Calibri"/>
              <a:sym typeface="Calibri"/>
            </a:endParaRPr>
          </a:p>
        </p:txBody>
      </p:sp>
      <p:sp>
        <p:nvSpPr>
          <p:cNvPr id="242" name="Google Shape;242;p24"/>
          <p:cNvSpPr/>
          <p:nvPr/>
        </p:nvSpPr>
        <p:spPr>
          <a:xfrm>
            <a:off x="5074920" y="1748790"/>
            <a:ext cx="3497580" cy="96012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0"/>
              </a:spcBef>
              <a:spcAft>
                <a:spcPts val="0"/>
              </a:spcAft>
              <a:buClr>
                <a:srgbClr val="1C2B30"/>
              </a:buClr>
              <a:buSzPts val="1000"/>
              <a:buFont typeface="Calibri"/>
              <a:buChar char="•"/>
            </a:pPr>
            <a:r>
              <a:rPr b="0" i="0" lang="fr" sz="1000" u="none" cap="none" strike="noStrike">
                <a:solidFill>
                  <a:srgbClr val="1C2B30"/>
                </a:solidFill>
                <a:latin typeface="Calibri"/>
                <a:ea typeface="Calibri"/>
                <a:cs typeface="Calibri"/>
                <a:sym typeface="Calibri"/>
              </a:rPr>
              <a:t>Room type — about 37%</a:t>
            </a:r>
            <a:endParaRPr b="0" i="0" sz="1000" u="none" cap="none" strike="noStrike">
              <a:solidFill>
                <a:schemeClr val="dk1"/>
              </a:solidFill>
              <a:latin typeface="Calibri"/>
              <a:ea typeface="Calibri"/>
              <a:cs typeface="Calibri"/>
              <a:sym typeface="Calibri"/>
            </a:endParaRPr>
          </a:p>
          <a:p>
            <a:pPr indent="-254000" lvl="0" marL="254000" marR="0" rtl="0" algn="l">
              <a:spcBef>
                <a:spcPts val="400"/>
              </a:spcBef>
              <a:spcAft>
                <a:spcPts val="0"/>
              </a:spcAft>
              <a:buClr>
                <a:srgbClr val="1C2B30"/>
              </a:buClr>
              <a:buSzPts val="1000"/>
              <a:buFont typeface="Calibri"/>
              <a:buChar char="•"/>
            </a:pPr>
            <a:r>
              <a:rPr b="0" i="0" lang="fr" sz="1000" u="none" cap="none" strike="noStrike">
                <a:solidFill>
                  <a:srgbClr val="1C2B30"/>
                </a:solidFill>
                <a:latin typeface="Calibri"/>
                <a:ea typeface="Calibri"/>
                <a:cs typeface="Calibri"/>
                <a:sym typeface="Calibri"/>
              </a:rPr>
              <a:t>Location (long + lat) — about 28%</a:t>
            </a:r>
            <a:endParaRPr b="0" i="0" sz="1000" u="none" cap="none" strike="noStrike">
              <a:solidFill>
                <a:schemeClr val="dk1"/>
              </a:solidFill>
              <a:latin typeface="Calibri"/>
              <a:ea typeface="Calibri"/>
              <a:cs typeface="Calibri"/>
              <a:sym typeface="Calibri"/>
            </a:endParaRPr>
          </a:p>
          <a:p>
            <a:pPr indent="-254000" lvl="0" marL="254000" marR="0" rtl="0" algn="l">
              <a:spcBef>
                <a:spcPts val="400"/>
              </a:spcBef>
              <a:spcAft>
                <a:spcPts val="0"/>
              </a:spcAft>
              <a:buClr>
                <a:srgbClr val="1C2B30"/>
              </a:buClr>
              <a:buSzPts val="1000"/>
              <a:buFont typeface="Calibri"/>
              <a:buChar char="•"/>
            </a:pPr>
            <a:r>
              <a:rPr b="0" i="0" lang="fr" sz="1000" u="none" cap="none" strike="noStrike">
                <a:solidFill>
                  <a:srgbClr val="1C2B30"/>
                </a:solidFill>
                <a:latin typeface="Calibri"/>
                <a:ea typeface="Calibri"/>
                <a:cs typeface="Calibri"/>
                <a:sym typeface="Calibri"/>
              </a:rPr>
              <a:t>Bathrooms — about 12%</a:t>
            </a:r>
            <a:endParaRPr b="0" i="0" sz="1000" u="none" cap="none" strike="noStrike">
              <a:solidFill>
                <a:schemeClr val="dk1"/>
              </a:solidFill>
              <a:latin typeface="Calibri"/>
              <a:ea typeface="Calibri"/>
              <a:cs typeface="Calibri"/>
              <a:sym typeface="Calibri"/>
            </a:endParaRPr>
          </a:p>
        </p:txBody>
      </p:sp>
      <p:sp>
        <p:nvSpPr>
          <p:cNvPr id="243" name="Google Shape;243;p24"/>
          <p:cNvSpPr/>
          <p:nvPr/>
        </p:nvSpPr>
        <p:spPr>
          <a:xfrm>
            <a:off x="4869180" y="2914650"/>
            <a:ext cx="3840480" cy="1405890"/>
          </a:xfrm>
          <a:prstGeom prst="roundRect">
            <a:avLst>
              <a:gd fmla="val 3902"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4"/>
          <p:cNvSpPr/>
          <p:nvPr/>
        </p:nvSpPr>
        <p:spPr>
          <a:xfrm>
            <a:off x="5040630" y="301752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Is the model healthy?</a:t>
            </a:r>
            <a:endParaRPr b="0" i="0" sz="1100" u="none" cap="none" strike="noStrike">
              <a:solidFill>
                <a:schemeClr val="dk1"/>
              </a:solidFill>
              <a:latin typeface="Calibri"/>
              <a:ea typeface="Calibri"/>
              <a:cs typeface="Calibri"/>
              <a:sym typeface="Calibri"/>
            </a:endParaRPr>
          </a:p>
        </p:txBody>
      </p:sp>
      <p:sp>
        <p:nvSpPr>
          <p:cNvPr id="245" name="Google Shape;245;p24"/>
          <p:cNvSpPr/>
          <p:nvPr/>
        </p:nvSpPr>
        <p:spPr>
          <a:xfrm>
            <a:off x="5074920" y="3291840"/>
            <a:ext cx="3497580" cy="96012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0"/>
              </a:spcBef>
              <a:spcAft>
                <a:spcPts val="0"/>
              </a:spcAft>
              <a:buClr>
                <a:srgbClr val="1C2B30"/>
              </a:buClr>
              <a:buSzPts val="1000"/>
              <a:buFont typeface="Calibri"/>
              <a:buChar char="•"/>
            </a:pPr>
            <a:r>
              <a:rPr b="0" i="0" lang="fr" sz="1000" u="none" cap="none" strike="noStrike">
                <a:solidFill>
                  <a:srgbClr val="1C2B30"/>
                </a:solidFill>
                <a:latin typeface="Calibri"/>
                <a:ea typeface="Calibri"/>
                <a:cs typeface="Calibri"/>
                <a:sym typeface="Calibri"/>
              </a:rPr>
              <a:t>Predictions line up along the diagonal.</a:t>
            </a:r>
            <a:endParaRPr b="0" i="0" sz="1000" u="none" cap="none" strike="noStrike">
              <a:solidFill>
                <a:schemeClr val="dk1"/>
              </a:solidFill>
              <a:latin typeface="Calibri"/>
              <a:ea typeface="Calibri"/>
              <a:cs typeface="Calibri"/>
              <a:sym typeface="Calibri"/>
            </a:endParaRPr>
          </a:p>
          <a:p>
            <a:pPr indent="-254000" lvl="0" marL="254000" marR="0" rtl="0" algn="l">
              <a:spcBef>
                <a:spcPts val="400"/>
              </a:spcBef>
              <a:spcAft>
                <a:spcPts val="0"/>
              </a:spcAft>
              <a:buClr>
                <a:srgbClr val="1C2B30"/>
              </a:buClr>
              <a:buSzPts val="1000"/>
              <a:buFont typeface="Calibri"/>
              <a:buChar char="•"/>
            </a:pPr>
            <a:r>
              <a:rPr b="0" i="0" lang="fr" sz="1000" u="none" cap="none" strike="noStrike">
                <a:solidFill>
                  <a:srgbClr val="1C2B30"/>
                </a:solidFill>
                <a:latin typeface="Calibri"/>
                <a:ea typeface="Calibri"/>
                <a:cs typeface="Calibri"/>
                <a:sym typeface="Calibri"/>
              </a:rPr>
              <a:t>Residuals are centered on zero, no pattern.</a:t>
            </a:r>
            <a:endParaRPr b="0" i="0" sz="1000" u="none" cap="none" strike="noStrike">
              <a:solidFill>
                <a:schemeClr val="dk1"/>
              </a:solidFill>
              <a:latin typeface="Calibri"/>
              <a:ea typeface="Calibri"/>
              <a:cs typeface="Calibri"/>
              <a:sym typeface="Calibri"/>
            </a:endParaRPr>
          </a:p>
          <a:p>
            <a:pPr indent="-254000" lvl="0" marL="254000" marR="0" rtl="0" algn="l">
              <a:spcBef>
                <a:spcPts val="400"/>
              </a:spcBef>
              <a:spcAft>
                <a:spcPts val="0"/>
              </a:spcAft>
              <a:buClr>
                <a:srgbClr val="1C2B30"/>
              </a:buClr>
              <a:buSzPts val="1000"/>
              <a:buFont typeface="Calibri"/>
              <a:buChar char="•"/>
            </a:pPr>
            <a:r>
              <a:rPr b="0" i="0" lang="fr" sz="1000" u="none" cap="none" strike="noStrike">
                <a:solidFill>
                  <a:srgbClr val="1C2B30"/>
                </a:solidFill>
                <a:latin typeface="Calibri"/>
                <a:ea typeface="Calibri"/>
                <a:cs typeface="Calibri"/>
                <a:sym typeface="Calibri"/>
              </a:rPr>
              <a:t>So it isn't systematically over or under predicting.</a:t>
            </a:r>
            <a:endParaRPr b="0" i="0" sz="1000" u="none" cap="none" strike="noStrike">
              <a:solidFill>
                <a:schemeClr val="dk1"/>
              </a:solidFill>
              <a:latin typeface="Calibri"/>
              <a:ea typeface="Calibri"/>
              <a:cs typeface="Calibri"/>
              <a:sym typeface="Calibri"/>
            </a:endParaRPr>
          </a:p>
        </p:txBody>
      </p:sp>
      <p:sp>
        <p:nvSpPr>
          <p:cNvPr id="246" name="Google Shape;246;p24"/>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247" name="Google Shape;247;p24"/>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25"/>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RESULTS</a:t>
            </a:r>
            <a:endParaRPr b="0" i="0" sz="900" u="none" cap="none" strike="noStrike">
              <a:solidFill>
                <a:schemeClr val="dk1"/>
              </a:solidFill>
              <a:latin typeface="Calibri"/>
              <a:ea typeface="Calibri"/>
              <a:cs typeface="Calibri"/>
              <a:sym typeface="Calibri"/>
            </a:endParaRPr>
          </a:p>
        </p:txBody>
      </p:sp>
      <p:sp>
        <p:nvSpPr>
          <p:cNvPr id="254" name="Google Shape;254;p25"/>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Predictions on the test file</a:t>
            </a:r>
            <a:endParaRPr b="0" i="0" sz="2300" u="none" cap="none" strike="noStrike">
              <a:solidFill>
                <a:schemeClr val="dk1"/>
              </a:solidFill>
              <a:latin typeface="Calibri"/>
              <a:ea typeface="Calibri"/>
              <a:cs typeface="Calibri"/>
              <a:sym typeface="Calibri"/>
            </a:endParaRPr>
          </a:p>
        </p:txBody>
      </p:sp>
      <p:pic>
        <p:nvPicPr>
          <p:cNvPr descr="/home/claude/deck/figures/test_pred.png" id="255" name="Google Shape;255;p25"/>
          <p:cNvPicPr preferRelativeResize="0"/>
          <p:nvPr/>
        </p:nvPicPr>
        <p:blipFill rotWithShape="1">
          <a:blip r:embed="rId3">
            <a:alphaModFix/>
          </a:blip>
          <a:srcRect b="0" l="0" r="0" t="0"/>
          <a:stretch/>
        </p:blipFill>
        <p:spPr>
          <a:xfrm>
            <a:off x="1318793" y="1645920"/>
            <a:ext cx="6483554" cy="1988820"/>
          </a:xfrm>
          <a:prstGeom prst="rect">
            <a:avLst/>
          </a:prstGeom>
          <a:noFill/>
          <a:ln>
            <a:noFill/>
          </a:ln>
        </p:spPr>
      </p:pic>
      <p:sp>
        <p:nvSpPr>
          <p:cNvPr id="256" name="Google Shape;256;p25"/>
          <p:cNvSpPr/>
          <p:nvPr/>
        </p:nvSpPr>
        <p:spPr>
          <a:xfrm>
            <a:off x="617220" y="3771900"/>
            <a:ext cx="7886700" cy="6858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1C2B30"/>
              </a:buClr>
              <a:buSzPts val="1000"/>
              <a:buFont typeface="Calibri"/>
              <a:buNone/>
            </a:pPr>
            <a:r>
              <a:rPr b="0" i="0" lang="fr" sz="1000" u="none" cap="none" strike="noStrike">
                <a:solidFill>
                  <a:srgbClr val="1C2B30"/>
                </a:solidFill>
                <a:latin typeface="Calibri"/>
                <a:ea typeface="Calibri"/>
                <a:cs typeface="Calibri"/>
                <a:sym typeface="Calibri"/>
              </a:rPr>
              <a:t>The test file has no real prices, so we can't score it. But the prices the model predicts for it follow almost the same distribution as our validation predictions, so it behaves consistently on unseen data. We saved all 25,458 predictions to airbnb_predictions.csv.</a:t>
            </a:r>
            <a:endParaRPr b="0" i="0" sz="1000" u="none" cap="none" strike="noStrike">
              <a:solidFill>
                <a:schemeClr val="dk1"/>
              </a:solidFill>
              <a:latin typeface="Calibri"/>
              <a:ea typeface="Calibri"/>
              <a:cs typeface="Calibri"/>
              <a:sym typeface="Calibri"/>
            </a:endParaRPr>
          </a:p>
        </p:txBody>
      </p:sp>
      <p:sp>
        <p:nvSpPr>
          <p:cNvPr id="257" name="Google Shape;257;p25"/>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258" name="Google Shape;258;p25"/>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11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26"/>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RESPONSIBLE AI</a:t>
            </a:r>
            <a:endParaRPr b="0" i="0" sz="900" u="none" cap="none" strike="noStrike">
              <a:solidFill>
                <a:schemeClr val="dk1"/>
              </a:solidFill>
              <a:latin typeface="Calibri"/>
              <a:ea typeface="Calibri"/>
              <a:cs typeface="Calibri"/>
              <a:sym typeface="Calibri"/>
            </a:endParaRPr>
          </a:p>
        </p:txBody>
      </p:sp>
      <p:sp>
        <p:nvSpPr>
          <p:cNvPr id="265" name="Google Shape;265;p26"/>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Bias, privacy, and honest reporting</a:t>
            </a:r>
            <a:endParaRPr b="0" i="0" sz="2300" u="none" cap="none" strike="noStrike">
              <a:solidFill>
                <a:schemeClr val="dk1"/>
              </a:solidFill>
              <a:latin typeface="Calibri"/>
              <a:ea typeface="Calibri"/>
              <a:cs typeface="Calibri"/>
              <a:sym typeface="Calibri"/>
            </a:endParaRPr>
          </a:p>
        </p:txBody>
      </p:sp>
      <p:sp>
        <p:nvSpPr>
          <p:cNvPr id="266" name="Google Shape;266;p26"/>
          <p:cNvSpPr/>
          <p:nvPr/>
        </p:nvSpPr>
        <p:spPr>
          <a:xfrm>
            <a:off x="411480" y="1337310"/>
            <a:ext cx="4080510" cy="1165860"/>
          </a:xfrm>
          <a:prstGeom prst="roundRect">
            <a:avLst>
              <a:gd fmla="val 4706"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26"/>
          <p:cNvSpPr/>
          <p:nvPr/>
        </p:nvSpPr>
        <p:spPr>
          <a:xfrm>
            <a:off x="617220" y="1577340"/>
            <a:ext cx="377190" cy="377190"/>
          </a:xfrm>
          <a:prstGeom prst="ellipse">
            <a:avLst/>
          </a:prstGeom>
          <a:solidFill>
            <a:srgbClr val="02C39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6"/>
          <p:cNvSpPr/>
          <p:nvPr/>
        </p:nvSpPr>
        <p:spPr>
          <a:xfrm>
            <a:off x="1131570" y="1529334"/>
            <a:ext cx="32232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Geographic bias</a:t>
            </a:r>
            <a:endParaRPr b="0" i="0" sz="1100" u="none" cap="none" strike="noStrike">
              <a:solidFill>
                <a:schemeClr val="dk1"/>
              </a:solidFill>
              <a:latin typeface="Calibri"/>
              <a:ea typeface="Calibri"/>
              <a:cs typeface="Calibri"/>
              <a:sym typeface="Calibri"/>
            </a:endParaRPr>
          </a:p>
        </p:txBody>
      </p:sp>
      <p:sp>
        <p:nvSpPr>
          <p:cNvPr id="269" name="Google Shape;269;p26"/>
          <p:cNvSpPr/>
          <p:nvPr/>
        </p:nvSpPr>
        <p:spPr>
          <a:xfrm>
            <a:off x="1131570" y="1831086"/>
            <a:ext cx="325755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NYC and LA dominate, so the model is weaker for Boston and Chicago.</a:t>
            </a:r>
            <a:endParaRPr b="0" i="0" sz="900" u="none" cap="none" strike="noStrike">
              <a:solidFill>
                <a:schemeClr val="dk1"/>
              </a:solidFill>
              <a:latin typeface="Calibri"/>
              <a:ea typeface="Calibri"/>
              <a:cs typeface="Calibri"/>
              <a:sym typeface="Calibri"/>
            </a:endParaRPr>
          </a:p>
        </p:txBody>
      </p:sp>
      <p:sp>
        <p:nvSpPr>
          <p:cNvPr id="270" name="Google Shape;270;p26"/>
          <p:cNvSpPr/>
          <p:nvPr/>
        </p:nvSpPr>
        <p:spPr>
          <a:xfrm>
            <a:off x="4629150" y="1337310"/>
            <a:ext cx="4080510" cy="1165860"/>
          </a:xfrm>
          <a:prstGeom prst="roundRect">
            <a:avLst>
              <a:gd fmla="val 4706"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1" name="Google Shape;271;p26"/>
          <p:cNvSpPr/>
          <p:nvPr/>
        </p:nvSpPr>
        <p:spPr>
          <a:xfrm>
            <a:off x="4834890" y="1577340"/>
            <a:ext cx="377190" cy="377190"/>
          </a:xfrm>
          <a:prstGeom prst="ellipse">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26"/>
          <p:cNvSpPr/>
          <p:nvPr/>
        </p:nvSpPr>
        <p:spPr>
          <a:xfrm>
            <a:off x="5349240" y="1529334"/>
            <a:ext cx="32232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No personal data</a:t>
            </a:r>
            <a:endParaRPr b="0" i="0" sz="1100" u="none" cap="none" strike="noStrike">
              <a:solidFill>
                <a:schemeClr val="dk1"/>
              </a:solidFill>
              <a:latin typeface="Calibri"/>
              <a:ea typeface="Calibri"/>
              <a:cs typeface="Calibri"/>
              <a:sym typeface="Calibri"/>
            </a:endParaRPr>
          </a:p>
        </p:txBody>
      </p:sp>
      <p:sp>
        <p:nvSpPr>
          <p:cNvPr id="273" name="Google Shape;273;p26"/>
          <p:cNvSpPr/>
          <p:nvPr/>
        </p:nvSpPr>
        <p:spPr>
          <a:xfrm>
            <a:off x="5349240" y="1831086"/>
            <a:ext cx="325755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Host and free-text columns were removed before training.</a:t>
            </a:r>
            <a:endParaRPr b="0" i="0" sz="900" u="none" cap="none" strike="noStrike">
              <a:solidFill>
                <a:schemeClr val="dk1"/>
              </a:solidFill>
              <a:latin typeface="Calibri"/>
              <a:ea typeface="Calibri"/>
              <a:cs typeface="Calibri"/>
              <a:sym typeface="Calibri"/>
            </a:endParaRPr>
          </a:p>
        </p:txBody>
      </p:sp>
      <p:sp>
        <p:nvSpPr>
          <p:cNvPr id="274" name="Google Shape;274;p26"/>
          <p:cNvSpPr/>
          <p:nvPr/>
        </p:nvSpPr>
        <p:spPr>
          <a:xfrm>
            <a:off x="411480" y="2674620"/>
            <a:ext cx="4080510" cy="1165860"/>
          </a:xfrm>
          <a:prstGeom prst="roundRect">
            <a:avLst>
              <a:gd fmla="val 4706"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26"/>
          <p:cNvSpPr/>
          <p:nvPr/>
        </p:nvSpPr>
        <p:spPr>
          <a:xfrm>
            <a:off x="617220" y="2914650"/>
            <a:ext cx="377190" cy="37719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26"/>
          <p:cNvSpPr/>
          <p:nvPr/>
        </p:nvSpPr>
        <p:spPr>
          <a:xfrm>
            <a:off x="1131570" y="2866644"/>
            <a:ext cx="32232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No leakage</a:t>
            </a:r>
            <a:endParaRPr b="0" i="0" sz="1100" u="none" cap="none" strike="noStrike">
              <a:solidFill>
                <a:schemeClr val="dk1"/>
              </a:solidFill>
              <a:latin typeface="Calibri"/>
              <a:ea typeface="Calibri"/>
              <a:cs typeface="Calibri"/>
              <a:sym typeface="Calibri"/>
            </a:endParaRPr>
          </a:p>
        </p:txBody>
      </p:sp>
      <p:sp>
        <p:nvSpPr>
          <p:cNvPr id="277" name="Google Shape;277;p26"/>
          <p:cNvSpPr/>
          <p:nvPr/>
        </p:nvSpPr>
        <p:spPr>
          <a:xfrm>
            <a:off x="1131570" y="3168396"/>
            <a:ext cx="325755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Cleaning and encoders fitted on training data only.</a:t>
            </a:r>
            <a:endParaRPr b="0" i="0" sz="900" u="none" cap="none" strike="noStrike">
              <a:solidFill>
                <a:schemeClr val="dk1"/>
              </a:solidFill>
              <a:latin typeface="Calibri"/>
              <a:ea typeface="Calibri"/>
              <a:cs typeface="Calibri"/>
              <a:sym typeface="Calibri"/>
            </a:endParaRPr>
          </a:p>
        </p:txBody>
      </p:sp>
      <p:sp>
        <p:nvSpPr>
          <p:cNvPr id="278" name="Google Shape;278;p26"/>
          <p:cNvSpPr/>
          <p:nvPr/>
        </p:nvSpPr>
        <p:spPr>
          <a:xfrm>
            <a:off x="4629150" y="2674620"/>
            <a:ext cx="4080510" cy="1165860"/>
          </a:xfrm>
          <a:prstGeom prst="roundRect">
            <a:avLst>
              <a:gd fmla="val 4706"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26"/>
          <p:cNvSpPr/>
          <p:nvPr/>
        </p:nvSpPr>
        <p:spPr>
          <a:xfrm>
            <a:off x="4834890" y="2914650"/>
            <a:ext cx="377190" cy="377190"/>
          </a:xfrm>
          <a:prstGeom prst="ellipse">
            <a:avLst/>
          </a:prstGeom>
          <a:solidFill>
            <a:srgbClr val="0B3B4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6"/>
          <p:cNvSpPr/>
          <p:nvPr/>
        </p:nvSpPr>
        <p:spPr>
          <a:xfrm>
            <a:off x="5349240" y="2866644"/>
            <a:ext cx="32232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1100"/>
              <a:buFont typeface="Calibri"/>
              <a:buNone/>
            </a:pPr>
            <a:r>
              <a:rPr b="1" i="0" lang="fr" sz="1100" u="none" cap="none" strike="noStrike">
                <a:solidFill>
                  <a:srgbClr val="0B3B44"/>
                </a:solidFill>
                <a:latin typeface="Calibri"/>
                <a:ea typeface="Calibri"/>
                <a:cs typeface="Calibri"/>
                <a:sym typeface="Calibri"/>
              </a:rPr>
              <a:t>Honest reporting</a:t>
            </a:r>
            <a:endParaRPr b="0" i="0" sz="1100" u="none" cap="none" strike="noStrike">
              <a:solidFill>
                <a:schemeClr val="dk1"/>
              </a:solidFill>
              <a:latin typeface="Calibri"/>
              <a:ea typeface="Calibri"/>
              <a:cs typeface="Calibri"/>
              <a:sym typeface="Calibri"/>
            </a:endParaRPr>
          </a:p>
        </p:txBody>
      </p:sp>
      <p:sp>
        <p:nvSpPr>
          <p:cNvPr id="281" name="Google Shape;281;p26"/>
          <p:cNvSpPr/>
          <p:nvPr/>
        </p:nvSpPr>
        <p:spPr>
          <a:xfrm>
            <a:off x="5349240" y="3168396"/>
            <a:ext cx="3257550"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B7178"/>
              </a:buClr>
              <a:buSzPts val="900"/>
              <a:buFont typeface="Calibri"/>
              <a:buNone/>
            </a:pPr>
            <a:r>
              <a:rPr b="0" i="0" lang="fr" sz="900" u="none" cap="none" strike="noStrike">
                <a:solidFill>
                  <a:srgbClr val="5B7178"/>
                </a:solidFill>
                <a:latin typeface="Calibri"/>
                <a:ea typeface="Calibri"/>
                <a:cs typeface="Calibri"/>
                <a:sym typeface="Calibri"/>
              </a:rPr>
              <a:t>Scores on a validation set; no invented metrics for the unlabeled test file.</a:t>
            </a:r>
            <a:endParaRPr b="0" i="0" sz="900" u="none" cap="none" strike="noStrike">
              <a:solidFill>
                <a:schemeClr val="dk1"/>
              </a:solidFill>
              <a:latin typeface="Calibri"/>
              <a:ea typeface="Calibri"/>
              <a:cs typeface="Calibri"/>
              <a:sym typeface="Calibri"/>
            </a:endParaRPr>
          </a:p>
        </p:txBody>
      </p:sp>
      <p:sp>
        <p:nvSpPr>
          <p:cNvPr id="282" name="Google Shape;282;p26"/>
          <p:cNvSpPr/>
          <p:nvPr/>
        </p:nvSpPr>
        <p:spPr>
          <a:xfrm>
            <a:off x="411480" y="4217670"/>
            <a:ext cx="82296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1000"/>
              <a:buFont typeface="Calibri"/>
              <a:buNone/>
            </a:pPr>
            <a:r>
              <a:rPr b="0" i="1" lang="fr" sz="1000" u="none" cap="none" strike="noStrike">
                <a:solidFill>
                  <a:srgbClr val="5B7178"/>
                </a:solidFill>
                <a:latin typeface="Calibri"/>
                <a:ea typeface="Calibri"/>
                <a:cs typeface="Calibri"/>
                <a:sym typeface="Calibri"/>
              </a:rPr>
              <a:t>Prices are from 2017-2018, so the model must not be read as current market values.</a:t>
            </a:r>
            <a:endParaRPr b="0" i="0" sz="1000" u="none" cap="none" strike="noStrike">
              <a:solidFill>
                <a:schemeClr val="dk1"/>
              </a:solidFill>
              <a:latin typeface="Calibri"/>
              <a:ea typeface="Calibri"/>
              <a:cs typeface="Calibri"/>
              <a:sym typeface="Calibri"/>
            </a:endParaRPr>
          </a:p>
        </p:txBody>
      </p:sp>
      <p:sp>
        <p:nvSpPr>
          <p:cNvPr id="283" name="Google Shape;283;p26"/>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284" name="Google Shape;284;p26"/>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12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27"/>
          <p:cNvSpPr/>
          <p:nvPr/>
        </p:nvSpPr>
        <p:spPr>
          <a:xfrm>
            <a:off x="411480" y="308610"/>
            <a:ext cx="61722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900"/>
              <a:buFont typeface="Calibri"/>
              <a:buNone/>
            </a:pPr>
            <a:r>
              <a:rPr b="1" i="0" lang="fr" sz="900" u="none" cap="none" strike="noStrike">
                <a:solidFill>
                  <a:srgbClr val="028090"/>
                </a:solidFill>
                <a:latin typeface="Calibri"/>
                <a:ea typeface="Calibri"/>
                <a:cs typeface="Calibri"/>
                <a:sym typeface="Calibri"/>
              </a:rPr>
              <a:t>WRAP-UP</a:t>
            </a:r>
            <a:endParaRPr b="0" i="0" sz="900" u="none" cap="none" strike="noStrike">
              <a:solidFill>
                <a:schemeClr val="dk1"/>
              </a:solidFill>
              <a:latin typeface="Calibri"/>
              <a:ea typeface="Calibri"/>
              <a:cs typeface="Calibri"/>
              <a:sym typeface="Calibri"/>
            </a:endParaRPr>
          </a:p>
        </p:txBody>
      </p:sp>
      <p:sp>
        <p:nvSpPr>
          <p:cNvPr id="291" name="Google Shape;291;p27"/>
          <p:cNvSpPr/>
          <p:nvPr/>
        </p:nvSpPr>
        <p:spPr>
          <a:xfrm>
            <a:off x="411480" y="534924"/>
            <a:ext cx="82981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3B44"/>
              </a:buClr>
              <a:buSzPts val="2300"/>
              <a:buFont typeface="Cambria"/>
              <a:buNone/>
            </a:pPr>
            <a:r>
              <a:rPr b="1" i="0" lang="fr" sz="2300" u="none" cap="none" strike="noStrike">
                <a:solidFill>
                  <a:srgbClr val="0B3B44"/>
                </a:solidFill>
                <a:latin typeface="Cambria"/>
                <a:ea typeface="Cambria"/>
                <a:cs typeface="Cambria"/>
                <a:sym typeface="Cambria"/>
              </a:rPr>
              <a:t>What we found and what's next</a:t>
            </a:r>
            <a:endParaRPr b="0" i="0" sz="2300" u="none" cap="none" strike="noStrike">
              <a:solidFill>
                <a:schemeClr val="dk1"/>
              </a:solidFill>
              <a:latin typeface="Calibri"/>
              <a:ea typeface="Calibri"/>
              <a:cs typeface="Calibri"/>
              <a:sym typeface="Calibri"/>
            </a:endParaRPr>
          </a:p>
        </p:txBody>
      </p:sp>
      <p:sp>
        <p:nvSpPr>
          <p:cNvPr id="292" name="Google Shape;292;p27"/>
          <p:cNvSpPr/>
          <p:nvPr/>
        </p:nvSpPr>
        <p:spPr>
          <a:xfrm>
            <a:off x="411480" y="1337310"/>
            <a:ext cx="4080510" cy="2743200"/>
          </a:xfrm>
          <a:prstGeom prst="roundRect">
            <a:avLst>
              <a:gd fmla="val 2000" name="adj"/>
            </a:avLst>
          </a:prstGeom>
          <a:solidFill>
            <a:srgbClr val="0B3B44"/>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7"/>
          <p:cNvSpPr/>
          <p:nvPr/>
        </p:nvSpPr>
        <p:spPr>
          <a:xfrm>
            <a:off x="617220" y="1474470"/>
            <a:ext cx="34290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300"/>
              <a:buFont typeface="Cambria"/>
              <a:buNone/>
            </a:pPr>
            <a:r>
              <a:rPr b="1" i="0" lang="fr" sz="1300" u="none" cap="none" strike="noStrike">
                <a:solidFill>
                  <a:srgbClr val="02C39A"/>
                </a:solidFill>
                <a:latin typeface="Cambria"/>
                <a:ea typeface="Cambria"/>
                <a:cs typeface="Cambria"/>
                <a:sym typeface="Cambria"/>
              </a:rPr>
              <a:t>Findings</a:t>
            </a:r>
            <a:endParaRPr b="0" i="0" sz="1300" u="none" cap="none" strike="noStrike">
              <a:solidFill>
                <a:schemeClr val="dk1"/>
              </a:solidFill>
              <a:latin typeface="Calibri"/>
              <a:ea typeface="Calibri"/>
              <a:cs typeface="Calibri"/>
              <a:sym typeface="Calibri"/>
            </a:endParaRPr>
          </a:p>
        </p:txBody>
      </p:sp>
      <p:sp>
        <p:nvSpPr>
          <p:cNvPr id="294" name="Google Shape;294;p27"/>
          <p:cNvSpPr/>
          <p:nvPr/>
        </p:nvSpPr>
        <p:spPr>
          <a:xfrm>
            <a:off x="651510" y="1817370"/>
            <a:ext cx="3703320" cy="2125980"/>
          </a:xfrm>
          <a:prstGeom prst="rect">
            <a:avLst/>
          </a:prstGeom>
          <a:noFill/>
          <a:ln>
            <a:noFill/>
          </a:ln>
        </p:spPr>
        <p:txBody>
          <a:bodyPr anchorCtr="0" anchor="t" bIns="34275" lIns="68575" spcFirstLastPara="1" rIns="68575" wrap="square" tIns="34275">
            <a:noAutofit/>
          </a:bodyPr>
          <a:lstStyle/>
          <a:p>
            <a:pPr indent="-260350" lvl="0" marL="254000" marR="0" rtl="0" algn="l">
              <a:spcBef>
                <a:spcPts val="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Full pipeline from two raw files to test predictions.</a:t>
            </a:r>
            <a:endParaRPr b="0" i="0" sz="1100" u="none" cap="none" strike="noStrike">
              <a:solidFill>
                <a:schemeClr val="dk1"/>
              </a:solidFill>
              <a:latin typeface="Calibri"/>
              <a:ea typeface="Calibri"/>
              <a:cs typeface="Calibri"/>
              <a:sym typeface="Calibri"/>
            </a:endParaRPr>
          </a:p>
          <a:p>
            <a:pPr indent="-260350" lvl="0" marL="254000" marR="0" rtl="0" algn="l">
              <a:spcBef>
                <a:spcPts val="70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Random Forest reached R² ≈ 0.70, boosting close behind.</a:t>
            </a:r>
            <a:endParaRPr b="0" i="0" sz="1100" u="none" cap="none" strike="noStrike">
              <a:solidFill>
                <a:schemeClr val="dk1"/>
              </a:solidFill>
              <a:latin typeface="Calibri"/>
              <a:ea typeface="Calibri"/>
              <a:cs typeface="Calibri"/>
              <a:sym typeface="Calibri"/>
            </a:endParaRPr>
          </a:p>
          <a:p>
            <a:pPr indent="-260350" lvl="0" marL="254000" marR="0" rtl="0" algn="l">
              <a:spcBef>
                <a:spcPts val="70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Room type, location, and bathrooms drive the price.</a:t>
            </a:r>
            <a:endParaRPr b="0" i="0" sz="1100" u="none" cap="none" strike="noStrike">
              <a:solidFill>
                <a:schemeClr val="dk1"/>
              </a:solidFill>
              <a:latin typeface="Calibri"/>
              <a:ea typeface="Calibri"/>
              <a:cs typeface="Calibri"/>
              <a:sym typeface="Calibri"/>
            </a:endParaRPr>
          </a:p>
          <a:p>
            <a:pPr indent="-260350" lvl="0" marL="254000" marR="0" rtl="0" algn="l">
              <a:spcBef>
                <a:spcPts val="70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Most of the work was cleaning, not modeling.</a:t>
            </a:r>
            <a:endParaRPr b="0" i="0" sz="1100" u="none" cap="none" strike="noStrike">
              <a:solidFill>
                <a:schemeClr val="dk1"/>
              </a:solidFill>
              <a:latin typeface="Calibri"/>
              <a:ea typeface="Calibri"/>
              <a:cs typeface="Calibri"/>
              <a:sym typeface="Calibri"/>
            </a:endParaRPr>
          </a:p>
        </p:txBody>
      </p:sp>
      <p:sp>
        <p:nvSpPr>
          <p:cNvPr id="295" name="Google Shape;295;p27"/>
          <p:cNvSpPr/>
          <p:nvPr/>
        </p:nvSpPr>
        <p:spPr>
          <a:xfrm>
            <a:off x="4629150" y="1337310"/>
            <a:ext cx="4080510" cy="2743200"/>
          </a:xfrm>
          <a:prstGeom prst="roundRect">
            <a:avLst>
              <a:gd fmla="val 2000" name="adj"/>
            </a:avLst>
          </a:prstGeom>
          <a:solidFill>
            <a:srgbClr val="F0F7F8"/>
          </a:solidFill>
          <a:ln>
            <a:noFill/>
          </a:ln>
          <a:effectLst>
            <a:outerShdw blurRad="88900" rotWithShape="0" algn="bl" dir="5400000" dist="38100">
              <a:srgbClr val="000000">
                <a:alpha val="1215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27"/>
          <p:cNvSpPr/>
          <p:nvPr/>
        </p:nvSpPr>
        <p:spPr>
          <a:xfrm>
            <a:off x="4834890" y="1474470"/>
            <a:ext cx="34290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300"/>
              <a:buFont typeface="Cambria"/>
              <a:buNone/>
            </a:pPr>
            <a:r>
              <a:rPr b="1" i="0" lang="fr" sz="1300" u="none" cap="none" strike="noStrike">
                <a:solidFill>
                  <a:srgbClr val="028090"/>
                </a:solidFill>
                <a:latin typeface="Cambria"/>
                <a:ea typeface="Cambria"/>
                <a:cs typeface="Cambria"/>
                <a:sym typeface="Cambria"/>
              </a:rPr>
              <a:t>Future work</a:t>
            </a:r>
            <a:endParaRPr b="0" i="0" sz="1300" u="none" cap="none" strike="noStrike">
              <a:solidFill>
                <a:schemeClr val="dk1"/>
              </a:solidFill>
              <a:latin typeface="Calibri"/>
              <a:ea typeface="Calibri"/>
              <a:cs typeface="Calibri"/>
              <a:sym typeface="Calibri"/>
            </a:endParaRPr>
          </a:p>
        </p:txBody>
      </p:sp>
      <p:sp>
        <p:nvSpPr>
          <p:cNvPr id="297" name="Google Shape;297;p27"/>
          <p:cNvSpPr/>
          <p:nvPr/>
        </p:nvSpPr>
        <p:spPr>
          <a:xfrm>
            <a:off x="4869180" y="1817370"/>
            <a:ext cx="3703320" cy="2125980"/>
          </a:xfrm>
          <a:prstGeom prst="rect">
            <a:avLst/>
          </a:prstGeom>
          <a:noFill/>
          <a:ln>
            <a:noFill/>
          </a:ln>
        </p:spPr>
        <p:txBody>
          <a:bodyPr anchorCtr="0" anchor="t" bIns="34275" lIns="68575" spcFirstLastPara="1" rIns="68575" wrap="square" tIns="34275">
            <a:noAutofit/>
          </a:bodyPr>
          <a:lstStyle/>
          <a:p>
            <a:pPr indent="-260350" lvl="0" marL="254000" marR="0" rtl="0" algn="l">
              <a:spcBef>
                <a:spcPts val="0"/>
              </a:spcBef>
              <a:spcAft>
                <a:spcPts val="0"/>
              </a:spcAft>
              <a:buClr>
                <a:srgbClr val="1C2B30"/>
              </a:buClr>
              <a:buSzPts val="1100"/>
              <a:buFont typeface="Calibri"/>
              <a:buChar char="•"/>
            </a:pPr>
            <a:r>
              <a:rPr b="0" i="0" lang="fr" sz="1100" u="none" cap="none" strike="noStrike">
                <a:solidFill>
                  <a:srgbClr val="1C2B30"/>
                </a:solidFill>
                <a:latin typeface="Calibri"/>
                <a:ea typeface="Calibri"/>
                <a:cs typeface="Calibri"/>
                <a:sym typeface="Calibri"/>
              </a:rPr>
              <a:t>Mine amenities and description text with NLP.</a:t>
            </a:r>
            <a:endParaRPr b="0" i="0" sz="1100" u="none" cap="none" strike="noStrike">
              <a:solidFill>
                <a:schemeClr val="dk1"/>
              </a:solidFill>
              <a:latin typeface="Calibri"/>
              <a:ea typeface="Calibri"/>
              <a:cs typeface="Calibri"/>
              <a:sym typeface="Calibri"/>
            </a:endParaRPr>
          </a:p>
          <a:p>
            <a:pPr indent="-260350" lvl="0" marL="254000" marR="0" rtl="0" algn="l">
              <a:spcBef>
                <a:spcPts val="700"/>
              </a:spcBef>
              <a:spcAft>
                <a:spcPts val="0"/>
              </a:spcAft>
              <a:buClr>
                <a:srgbClr val="1C2B30"/>
              </a:buClr>
              <a:buSzPts val="1100"/>
              <a:buFont typeface="Calibri"/>
              <a:buChar char="•"/>
            </a:pPr>
            <a:r>
              <a:rPr b="0" i="0" lang="fr" sz="1100" u="none" cap="none" strike="noStrike">
                <a:solidFill>
                  <a:srgbClr val="1C2B30"/>
                </a:solidFill>
                <a:latin typeface="Calibri"/>
                <a:ea typeface="Calibri"/>
                <a:cs typeface="Calibri"/>
                <a:sym typeface="Calibri"/>
              </a:rPr>
              <a:t>Bring back neighbourhood with target encoding.</a:t>
            </a:r>
            <a:endParaRPr b="0" i="0" sz="1100" u="none" cap="none" strike="noStrike">
              <a:solidFill>
                <a:schemeClr val="dk1"/>
              </a:solidFill>
              <a:latin typeface="Calibri"/>
              <a:ea typeface="Calibri"/>
              <a:cs typeface="Calibri"/>
              <a:sym typeface="Calibri"/>
            </a:endParaRPr>
          </a:p>
          <a:p>
            <a:pPr indent="-260350" lvl="0" marL="254000" marR="0" rtl="0" algn="l">
              <a:spcBef>
                <a:spcPts val="700"/>
              </a:spcBef>
              <a:spcAft>
                <a:spcPts val="0"/>
              </a:spcAft>
              <a:buClr>
                <a:srgbClr val="1C2B30"/>
              </a:buClr>
              <a:buSzPts val="1100"/>
              <a:buFont typeface="Calibri"/>
              <a:buChar char="•"/>
            </a:pPr>
            <a:r>
              <a:rPr b="0" i="0" lang="fr" sz="1100" u="none" cap="none" strike="noStrike">
                <a:solidFill>
                  <a:srgbClr val="1C2B30"/>
                </a:solidFill>
                <a:latin typeface="Calibri"/>
                <a:ea typeface="Calibri"/>
                <a:cs typeface="Calibri"/>
                <a:sym typeface="Calibri"/>
              </a:rPr>
              <a:t>Tune the tree models; boosting may overtake the forest.</a:t>
            </a:r>
            <a:endParaRPr b="0" i="0" sz="1100" u="none" cap="none" strike="noStrike">
              <a:solidFill>
                <a:schemeClr val="dk1"/>
              </a:solidFill>
              <a:latin typeface="Calibri"/>
              <a:ea typeface="Calibri"/>
              <a:cs typeface="Calibri"/>
              <a:sym typeface="Calibri"/>
            </a:endParaRPr>
          </a:p>
          <a:p>
            <a:pPr indent="-260350" lvl="0" marL="254000" marR="0" rtl="0" algn="l">
              <a:spcBef>
                <a:spcPts val="700"/>
              </a:spcBef>
              <a:spcAft>
                <a:spcPts val="0"/>
              </a:spcAft>
              <a:buClr>
                <a:srgbClr val="1C2B30"/>
              </a:buClr>
              <a:buSzPts val="1100"/>
              <a:buFont typeface="Calibri"/>
              <a:buChar char="•"/>
            </a:pPr>
            <a:r>
              <a:rPr b="0" i="0" lang="fr" sz="1100" u="none" cap="none" strike="noStrike">
                <a:solidFill>
                  <a:srgbClr val="1C2B30"/>
                </a:solidFill>
                <a:latin typeface="Calibri"/>
                <a:ea typeface="Calibri"/>
                <a:cs typeface="Calibri"/>
                <a:sym typeface="Calibri"/>
              </a:rPr>
              <a:t>Add demand and seasonality data.</a:t>
            </a:r>
            <a:endParaRPr b="0" i="0" sz="1100" u="none" cap="none" strike="noStrike">
              <a:solidFill>
                <a:schemeClr val="dk1"/>
              </a:solidFill>
              <a:latin typeface="Calibri"/>
              <a:ea typeface="Calibri"/>
              <a:cs typeface="Calibri"/>
              <a:sym typeface="Calibri"/>
            </a:endParaRPr>
          </a:p>
        </p:txBody>
      </p:sp>
      <p:sp>
        <p:nvSpPr>
          <p:cNvPr id="298" name="Google Shape;298;p27"/>
          <p:cNvSpPr/>
          <p:nvPr/>
        </p:nvSpPr>
        <p:spPr>
          <a:xfrm>
            <a:off x="342900" y="483489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CPE393  |  Group 15</a:t>
            </a:r>
            <a:endParaRPr b="0" i="0" sz="700" u="none" cap="none" strike="noStrike">
              <a:solidFill>
                <a:schemeClr val="dk1"/>
              </a:solidFill>
              <a:latin typeface="Calibri"/>
              <a:ea typeface="Calibri"/>
              <a:cs typeface="Calibri"/>
              <a:sym typeface="Calibri"/>
            </a:endParaRPr>
          </a:p>
        </p:txBody>
      </p:sp>
      <p:sp>
        <p:nvSpPr>
          <p:cNvPr id="299" name="Google Shape;299;p27"/>
          <p:cNvSpPr/>
          <p:nvPr/>
        </p:nvSpPr>
        <p:spPr>
          <a:xfrm>
            <a:off x="8503920" y="483489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B7178"/>
              </a:buClr>
              <a:buSzPts val="700"/>
              <a:buFont typeface="Calibri"/>
              <a:buNone/>
            </a:pPr>
            <a:r>
              <a:rPr b="0" i="0" lang="fr" sz="700" u="none" cap="none" strike="noStrike">
                <a:solidFill>
                  <a:srgbClr val="5B7178"/>
                </a:solidFill>
                <a:latin typeface="Calibri"/>
                <a:ea typeface="Calibri"/>
                <a:cs typeface="Calibri"/>
                <a:sym typeface="Calibri"/>
              </a:rPr>
              <a:t>13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B44"/>
        </a:solidFill>
      </p:bgPr>
    </p:bg>
    <p:spTree>
      <p:nvGrpSpPr>
        <p:cNvPr id="304" name="Shape 304"/>
        <p:cNvGrpSpPr/>
        <p:nvPr/>
      </p:nvGrpSpPr>
      <p:grpSpPr>
        <a:xfrm>
          <a:off x="0" y="0"/>
          <a:ext cx="0" cy="0"/>
          <a:chOff x="0" y="0"/>
          <a:chExt cx="0" cy="0"/>
        </a:xfrm>
      </p:grpSpPr>
      <p:sp>
        <p:nvSpPr>
          <p:cNvPr id="305" name="Google Shape;305;p28"/>
          <p:cNvSpPr/>
          <p:nvPr/>
        </p:nvSpPr>
        <p:spPr>
          <a:xfrm>
            <a:off x="-1371600" y="2400300"/>
            <a:ext cx="4114800" cy="4114800"/>
          </a:xfrm>
          <a:prstGeom prst="ellipse">
            <a:avLst/>
          </a:prstGeom>
          <a:solidFill>
            <a:srgbClr val="028090">
              <a:alpha val="400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6" name="Google Shape;306;p28"/>
          <p:cNvSpPr/>
          <p:nvPr/>
        </p:nvSpPr>
        <p:spPr>
          <a:xfrm>
            <a:off x="7200900" y="-1714500"/>
            <a:ext cx="4114800" cy="4114800"/>
          </a:xfrm>
          <a:prstGeom prst="ellipse">
            <a:avLst/>
          </a:prstGeom>
          <a:solidFill>
            <a:srgbClr val="00A896">
              <a:alpha val="3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28"/>
          <p:cNvSpPr/>
          <p:nvPr/>
        </p:nvSpPr>
        <p:spPr>
          <a:xfrm>
            <a:off x="480060" y="1714500"/>
            <a:ext cx="8229600" cy="8229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4100"/>
              <a:buFont typeface="Cambria"/>
              <a:buNone/>
            </a:pPr>
            <a:r>
              <a:rPr b="1" i="0" lang="fr" sz="4100" u="none" cap="none" strike="noStrike">
                <a:solidFill>
                  <a:srgbClr val="FFFFFF"/>
                </a:solidFill>
                <a:latin typeface="Cambria"/>
                <a:ea typeface="Cambria"/>
                <a:cs typeface="Cambria"/>
                <a:sym typeface="Cambria"/>
              </a:rPr>
              <a:t>Thank you</a:t>
            </a:r>
            <a:endParaRPr b="0" i="0" sz="4100" u="none" cap="none" strike="noStrike">
              <a:solidFill>
                <a:schemeClr val="dk1"/>
              </a:solidFill>
              <a:latin typeface="Calibri"/>
              <a:ea typeface="Calibri"/>
              <a:cs typeface="Calibri"/>
              <a:sym typeface="Calibri"/>
            </a:endParaRPr>
          </a:p>
        </p:txBody>
      </p:sp>
      <p:sp>
        <p:nvSpPr>
          <p:cNvPr id="308" name="Google Shape;308;p28"/>
          <p:cNvSpPr/>
          <p:nvPr/>
        </p:nvSpPr>
        <p:spPr>
          <a:xfrm>
            <a:off x="480060" y="2606040"/>
            <a:ext cx="8229600"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2C39A"/>
              </a:buClr>
              <a:buSzPts val="1800"/>
              <a:buFont typeface="Cambria"/>
              <a:buNone/>
            </a:pPr>
            <a:r>
              <a:rPr b="0" i="1" lang="fr" sz="1800" u="none" cap="none" strike="noStrike">
                <a:solidFill>
                  <a:srgbClr val="02C39A"/>
                </a:solidFill>
                <a:latin typeface="Cambria"/>
                <a:ea typeface="Cambria"/>
                <a:cs typeface="Cambria"/>
                <a:sym typeface="Cambria"/>
              </a:rPr>
              <a:t>Questions?</a:t>
            </a:r>
            <a:endParaRPr b="0" i="0" sz="1800" u="none" cap="none" strike="noStrike">
              <a:solidFill>
                <a:schemeClr val="dk1"/>
              </a:solidFill>
              <a:latin typeface="Calibri"/>
              <a:ea typeface="Calibri"/>
              <a:cs typeface="Calibri"/>
              <a:sym typeface="Calibri"/>
            </a:endParaRPr>
          </a:p>
        </p:txBody>
      </p:sp>
      <p:sp>
        <p:nvSpPr>
          <p:cNvPr id="309" name="Google Shape;309;p28"/>
          <p:cNvSpPr/>
          <p:nvPr/>
        </p:nvSpPr>
        <p:spPr>
          <a:xfrm>
            <a:off x="480060" y="3429000"/>
            <a:ext cx="822960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FE9E6"/>
              </a:buClr>
              <a:buSzPts val="1100"/>
              <a:buFont typeface="Calibri"/>
              <a:buNone/>
            </a:pPr>
            <a:r>
              <a:rPr b="0" i="0" lang="fr" sz="1100" u="none" cap="none" strike="noStrike">
                <a:solidFill>
                  <a:srgbClr val="CFE9E6"/>
                </a:solidFill>
                <a:latin typeface="Calibri"/>
                <a:ea typeface="Calibri"/>
                <a:cs typeface="Calibri"/>
                <a:sym typeface="Calibri"/>
              </a:rPr>
              <a:t>Group 15  ·  Mathieu · Serghei · Samy  ·  CPE393 · KMUTT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